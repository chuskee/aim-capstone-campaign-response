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5232"/>
  </p:normalViewPr>
  <p:slideViewPr>
    <p:cSldViewPr snapToGrid="0">
      <p:cViewPr varScale="1">
        <p:scale>
          <a:sx n="62" d="100"/>
          <a:sy n="62" d="100"/>
        </p:scale>
        <p:origin x="30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Mean absolute SHAP</c:v>
          </c:tx>
          <c:spPr>
            <a:solidFill>
              <a:srgbClr val="267D88"/>
            </a:solidFill>
          </c:spPr>
          <c:invertIfNegative val="1"/>
          <c:dLbls>
            <c:spPr>
              <a:noFill/>
              <a:ln>
                <a:noFill/>
              </a:ln>
              <a:effectLst/>
            </c:spPr>
            <c:txPr>
              <a:bodyPr anchorCtr="1"/>
              <a:lstStyle/>
              <a:p>
                <a:pPr>
                  <a:defRPr sz="1725" b="1">
                    <a:solidFill>
                      <a:srgbClr val="152F3C"/>
                    </a:solidFill>
                    <a:latin typeface="Helvetica Neue"/>
                    <a:ea typeface="Helvetica Neue"/>
                    <a:cs typeface="Helvetica Neue"/>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Catalog purchases</c:v>
                </c:pt>
                <c:pt idx="1">
                  <c:v>Partner indicator</c:v>
                </c:pt>
                <c:pt idx="2">
                  <c:v>Wine spend share</c:v>
                </c:pt>
                <c:pt idx="3">
                  <c:v>Customer tenure</c:v>
                </c:pt>
                <c:pt idx="4">
                  <c:v>Recency</c:v>
                </c:pt>
              </c:strCache>
            </c:strRef>
          </c:cat>
          <c:val>
            <c:numRef>
              <c:f>'Chart Data'!$B$2:$B$6</c:f>
              <c:numCache>
                <c:formatCode>0.000</c:formatCode>
                <c:ptCount val="5"/>
                <c:pt idx="0">
                  <c:v>3.5863560000000003E-2</c:v>
                </c:pt>
                <c:pt idx="1">
                  <c:v>3.667633E-2</c:v>
                </c:pt>
                <c:pt idx="2">
                  <c:v>3.795805E-2</c:v>
                </c:pt>
                <c:pt idx="3">
                  <c:v>3.798112E-2</c:v>
                </c:pt>
                <c:pt idx="4">
                  <c:v>7.4089559999999999E-2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04F-5F49-A6CE-4EE08EAC3498}"/>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2DBD9"/>
            </a:solidFill>
          </a:ln>
        </c:spPr>
        <c:txPr>
          <a:bodyPr anchorCtr="1"/>
          <a:lstStyle/>
          <a:p>
            <a:pPr>
              <a:defRPr sz="1725">
                <a:solidFill>
                  <a:srgbClr val="566973"/>
                </a:solidFill>
                <a:latin typeface="Helvetica Neue"/>
                <a:ea typeface="Helvetica Neue"/>
                <a:cs typeface="Helvetica Neue"/>
              </a:defRPr>
            </a:pPr>
            <a:endParaRPr lang="en-US"/>
          </a:p>
        </c:txPr>
        <c:crossAx val="48672768"/>
        <c:crosses val="autoZero"/>
        <c:auto val="1"/>
        <c:lblAlgn val="ctr"/>
        <c:lblOffset val="100"/>
        <c:noMultiLvlLbl val="1"/>
      </c:catAx>
      <c:valAx>
        <c:axId val="48672768"/>
        <c:scaling>
          <c:orientation val="minMax"/>
          <c:max val="0.09"/>
          <c:min val="0"/>
        </c:scaling>
        <c:delete val="0"/>
        <c:axPos val="b"/>
        <c:majorGridlines>
          <c:spPr>
            <a:ln w="9525">
              <a:solidFill>
                <a:srgbClr val="D2DBD9"/>
              </a:solidFill>
            </a:ln>
          </c:spPr>
        </c:majorGridlines>
        <c:numFmt formatCode="0.000" sourceLinked="1"/>
        <c:majorTickMark val="none"/>
        <c:minorTickMark val="none"/>
        <c:tickLblPos val="nextTo"/>
        <c:spPr>
          <a:ln w="0">
            <a:noFill/>
          </a:ln>
        </c:spPr>
        <c:txPr>
          <a:bodyPr anchorCtr="1"/>
          <a:lstStyle/>
          <a:p>
            <a:pPr>
              <a:defRPr sz="1575">
                <a:solidFill>
                  <a:srgbClr val="566973"/>
                </a:solidFill>
                <a:latin typeface="Helvetica Neue"/>
                <a:ea typeface="Helvetica Neue"/>
                <a:cs typeface="Helvetica Neue"/>
              </a:defRPr>
            </a:pPr>
            <a:endParaRPr lang="en-US"/>
          </a:p>
        </c:txPr>
        <c:crossAx val="48650112"/>
        <c:crosses val="autoZero"/>
        <c:crossBetween val="between"/>
      </c:valAx>
      <c:spPr>
        <a:solidFill>
          <a:srgbClr val="F7F5F0"/>
        </a:solidFill>
        <a:ln w="0">
          <a:noFill/>
        </a:ln>
      </c:spPr>
    </c:plotArea>
    <c:plotVisOnly val="1"/>
    <c:dispBlanksAs val="zero"/>
    <c:showDLblsOverMax val="1"/>
  </c:chart>
  <c:spPr>
    <a:solidFill>
      <a:srgbClr val="F7F5F0"/>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Selection ratio</c:v>
          </c:tx>
          <c:spPr>
            <a:solidFill>
              <a:srgbClr val="267D88"/>
            </a:solidFill>
          </c:spPr>
          <c:invertIfNegative val="1"/>
          <c:dLbls>
            <c:spPr>
              <a:noFill/>
              <a:ln>
                <a:noFill/>
              </a:ln>
              <a:effectLst/>
            </c:spPr>
            <c:txPr>
              <a:bodyPr anchorCtr="1"/>
              <a:lstStyle/>
              <a:p>
                <a:pPr>
                  <a:defRPr sz="1725" b="1">
                    <a:solidFill>
                      <a:srgbClr val="152F3C"/>
                    </a:solidFill>
                    <a:latin typeface="Helvetica Neue"/>
                    <a:ea typeface="Helvetica Neue"/>
                    <a:cs typeface="Helvetica Neue"/>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Global threshold</c:v>
                </c:pt>
                <c:pt idx="1">
                  <c:v>Adjusted policy</c:v>
                </c:pt>
              </c:strCache>
            </c:strRef>
          </c:cat>
          <c:val>
            <c:numRef>
              <c:f>'Chart Data'!$B$2:$B$3</c:f>
              <c:numCache>
                <c:formatCode>0.00</c:formatCode>
                <c:ptCount val="2"/>
                <c:pt idx="0">
                  <c:v>0.34200000000000003</c:v>
                </c:pt>
                <c:pt idx="1">
                  <c:v>0.80300000000000005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CF2-464F-92C6-1068A98B8B55}"/>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2DBD9"/>
            </a:solidFill>
          </a:ln>
        </c:spPr>
        <c:txPr>
          <a:bodyPr anchorCtr="1"/>
          <a:lstStyle/>
          <a:p>
            <a:pPr>
              <a:defRPr sz="1800">
                <a:solidFill>
                  <a:srgbClr val="566973"/>
                </a:solidFill>
                <a:latin typeface="Helvetica Neue"/>
                <a:ea typeface="Helvetica Neue"/>
                <a:cs typeface="Helvetica Neue"/>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2DBD9"/>
              </a:solidFill>
            </a:ln>
          </c:spPr>
        </c:majorGridlines>
        <c:numFmt formatCode="0.00" sourceLinked="1"/>
        <c:majorTickMark val="none"/>
        <c:minorTickMark val="none"/>
        <c:tickLblPos val="nextTo"/>
        <c:spPr>
          <a:ln w="0">
            <a:noFill/>
          </a:ln>
        </c:spPr>
        <c:txPr>
          <a:bodyPr anchorCtr="1"/>
          <a:lstStyle/>
          <a:p>
            <a:pPr>
              <a:defRPr sz="1575">
                <a:solidFill>
                  <a:srgbClr val="566973"/>
                </a:solidFill>
                <a:latin typeface="Helvetica Neue"/>
                <a:ea typeface="Helvetica Neue"/>
                <a:cs typeface="Helvetica Neue"/>
              </a:defRPr>
            </a:pPr>
            <a:endParaRPr lang="en-US"/>
          </a:p>
        </c:txPr>
        <c:crossAx val="48650112"/>
        <c:crosses val="autoZero"/>
        <c:crossBetween val="between"/>
      </c:valAx>
      <c:spPr>
        <a:solidFill>
          <a:srgbClr val="F7F5F0"/>
        </a:solidFill>
        <a:ln w="0">
          <a:noFill/>
        </a:ln>
      </c:spPr>
    </c:plotArea>
    <c:plotVisOnly val="1"/>
    <c:dispBlanksAs val="zero"/>
    <c:showDLblsOverMax val="1"/>
  </c:chart>
  <c:spPr>
    <a:solidFill>
      <a:srgbClr val="F7F5F0"/>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capstone uses the Customer Personality Analysis dataset. The primary task is binary classification of response to the last recorded campaign. Supporting clustering describes customer patterns for future offer experiments. The two tasks share data preparation but answer different questions. Results are historical internal evidence. The saved development model is a candidate for prospective validation.</a:t>
            </a:r>
          </a:p>
          <a:p>
            <a:endParaRPr dirty="0"/>
          </a:p>
          <a:p>
            <a:r>
              <a:rPr dirty="0"/>
              <a:t>Sources from the delivered revised notebook package:</a:t>
            </a:r>
          </a:p>
          <a:p>
            <a:r>
              <a:rPr dirty="0"/>
              <a:t>notebooks/</a:t>
            </a:r>
            <a:r>
              <a:rPr dirty="0" err="1"/>
              <a:t>Capstone_Customer_Segmentation_Revised.ipynb</a:t>
            </a:r>
            <a:endParaRPr dirty="0"/>
          </a:p>
          <a:p>
            <a:r>
              <a:rPr dirty="0"/>
              <a:t>reports/</a:t>
            </a:r>
            <a:r>
              <a:rPr dirty="0" err="1"/>
              <a:t>run_summary.json</a:t>
            </a:r>
            <a:endParaRPr dirty="0"/>
          </a:p>
          <a:p>
            <a:r>
              <a:rPr dirty="0"/>
              <a:t>Dataset: https://</a:t>
            </a:r>
            <a:r>
              <a:rPr dirty="0" err="1"/>
              <a:t>www.kaggle.com</a:t>
            </a:r>
            <a:r>
              <a:rPr dirty="0"/>
              <a:t>/datasets/imakash3011/customer-personality-analysis/data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business question is whom to prioritise for campaign outreach under a limited contact budget. Response equals one when a customer accepted the last recorded campaign. ROC-AUC is the main discrimination measure. Average precision helps assess the minority response class. Precision, recall and F1 describe threshold decisions. Business assessment includes contact volume, a transparent value scenario and access across groups. Segmentation is descriptive support, not the response target. Accuracy alone would reward predicting the majority class.</a:t>
            </a:r>
          </a:p>
          <a:p>
            <a:endParaRPr/>
          </a:p>
          <a:p>
            <a:r>
              <a:t>Sources from the delivered revised notebook package:</a:t>
            </a:r>
          </a:p>
          <a:p>
            <a:r>
              <a:t>reports/evaluation_contract.json</a:t>
            </a:r>
          </a:p>
          <a:p>
            <a:r>
              <a:t>reports/run_summary.json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source contains 2,240 rows and 29 columns. Eligibility rules exclude three implausible birth years and the income outlier 666,666, leaving 2,236 customers. Income has 24 missing values and is imputed within fitting folds. Duplicate IDs are checked. Matching predictor profiles remain legitimate separate records but share a group during validation. The group signature excludes ID and the target. The data dictionary covers types, meanings and units where documented. Campaign timestamps, geography and currency remain uncertain.</a:t>
            </a:r>
          </a:p>
          <a:p>
            <a:endParaRPr/>
          </a:p>
          <a:p>
            <a:r>
              <a:t>Sources from the delivered revised notebook package:</a:t>
            </a:r>
          </a:p>
          <a:p>
            <a:r>
              <a:t>data/DATA_DICTIONARY.md</a:t>
            </a:r>
          </a:p>
          <a:p>
            <a:r>
              <a:t>reports/tables/cleaning_log.csv</a:t>
            </a:r>
          </a:p>
          <a:p>
            <a:r>
              <a:t>reports/run_summary.json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Engineered features include spend totals, channel shares, children at home, household-size proxies, prior campaign acceptance and tenure at a fixed 2014-06-30 reference date. The features describe associations and some ratios combine uncertain observation windows. Median imputation, 99th-percentile upper caps for selected variables, variance filtering, ANOVA selection and scaling learn only from fitting rows. The search tests 60%, 80% and 100% ANOVA retention. The final candidate retains all 42 nonconstant features from 43 engineered features. Constant filtering and a tested selector satisfy feature-selection analysis without pretending dimensionality fell substantially.</a:t>
            </a:r>
          </a:p>
          <a:p>
            <a:endParaRPr/>
          </a:p>
          <a:p>
            <a:r>
              <a:t>Sources from the delivered revised notebook package:</a:t>
            </a:r>
          </a:p>
          <a:p>
            <a:r>
              <a:t>src/features.py</a:t>
            </a:r>
          </a:p>
          <a:p>
            <a:r>
              <a:t>src/train.py</a:t>
            </a:r>
          </a:p>
          <a:p>
            <a:r>
              <a:t>reports/tables/final_feature_selection.csv</a:t>
            </a:r>
          </a:p>
          <a:p>
            <a:r>
              <a:t>reports/explainability_summary.json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stratified group outer folds estimate the full procedure. For each outer development set, an 80/20 group split separates fitting and policy validation. Each of four model families gets eight search configurations and three inner folds. Highest inner ROC-AUC selects the model. Policy validation chooses the global F1 threshold and the predefined smallest household adjustment meeting the validation selection-ratio target when feasible. Thresholds freeze before the outer evaluation. A fixed top-20-percent comparator is declared in advance. The historical dataset has already informed the project, so these are internal estimates rather than a pristine external test.</a:t>
            </a:r>
          </a:p>
          <a:p>
            <a:endParaRPr/>
          </a:p>
          <a:p>
            <a:r>
              <a:t>Sources from the delivered revised notebook package:</a:t>
            </a:r>
          </a:p>
          <a:p>
            <a:r>
              <a:t>reports/evaluation_contract.json</a:t>
            </a:r>
          </a:p>
          <a:p>
            <a:r>
              <a:t>reports/nested_searches.json</a:t>
            </a:r>
          </a:p>
          <a:p>
            <a:r>
              <a:t>reports/nested_policies.json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averages outer-fold results for each model family with its own tuned settings and global F1 threshold. XGBoost has the highest mean outer ROC-AUC among the four families. SVM is close and has the strongest mean F1 here. These descriptive outer results do not select the final saved model. Within each outer fold, the procedure selects its model by inner validation alone. Different folds select logistic regression, SVM or XGBoost. Small differences on this dataset do not establish universal superiority.</a:t>
            </a:r>
          </a:p>
          <a:p>
            <a:endParaRPr/>
          </a:p>
          <a:p>
            <a:r>
              <a:t>Sources from the delivered revised notebook package:</a:t>
            </a:r>
          </a:p>
          <a:p>
            <a:r>
              <a:t>reports/tables/model_outer_summary.csv</a:t>
            </a:r>
          </a:p>
          <a:p>
            <a:r>
              <a:t>reports/tables/nested_model_comparison.csv</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separate fit/validation development split creates the saved artifact. Inner cross-validation selects SVM with ROC-AUC 0.9001, narrowly above logistic regression at 0.8989. This differs from the outer comparison because the training samples and role of the comparison differ. The chosen SVM uses C=1 and gamma=0.01 and retains all 42 nonconstant features. The saved global threshold is 0.134. Policy validation chooses alpha 0.95, with thresholds approximately 0.0626 for children at home and 0.4989 for no children at home. The model and thresholds remain frozen together with no post-threshold refit. This development result is not an independent performance estimate for the saved file.</a:t>
            </a:r>
          </a:p>
          <a:p>
            <a:endParaRPr/>
          </a:p>
          <a:p>
            <a:r>
              <a:t>Sources from the delivered revised notebook package:</a:t>
            </a:r>
          </a:p>
          <a:p>
            <a:r>
              <a:t>models/model_comparison.csv</a:t>
            </a:r>
          </a:p>
          <a:p>
            <a:r>
              <a:t>models/model_config.json</a:t>
            </a:r>
          </a:p>
          <a:p>
            <a:r>
              <a:t>reports/final_candidate_validation_audit.json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Across 2,236 outer evaluation predictions, the selected procedure contacts 365 customers. The confusion matrix contains 191 true positives, 174 false positives, 143 false negatives and 1,728 true negatives. Precision is 52.3%, recall 57.2% and F1 0.546. Mean outer ROC-AUC is 0.892. The pooled average precision is 0.608, while pooled ROC-AUC is 0.884. Mean fold ROC-AUC is primary because predictions come from different fitted score scales. These are results for the complete model-selection and policy procedure, not an independent test of the separately saved SVM. The selected group adjustment is part of that procedure.</a:t>
            </a:r>
          </a:p>
          <a:p>
            <a:endParaRPr/>
          </a:p>
          <a:p>
            <a:r>
              <a:t>Sources from the delivered revised notebook package:</a:t>
            </a:r>
          </a:p>
          <a:p>
            <a:r>
              <a:t>reports/run_summary.json</a:t>
            </a:r>
          </a:p>
          <a:p>
            <a:r>
              <a:t>reports/policy_comparison.json</a:t>
            </a:r>
          </a:p>
          <a:p>
            <a:r>
              <a:t>reports/tables/nested_predictions.csv</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Kernel SHAP explains 40 held-out development rows for the saved SVM using the transformed feature representation and a sampled fitting background. Mean absolute SHAP contributions rank Recency first, followed by tenure and several spending or household signals. These are model-score contributions and calibration is unverified. A high absolute contribution does not show direction. The notebook also plots PDP and ICE through the complete raw-feature pipeline for Recency and monthly web visits. Correlated fields and deterministic engineered features can redistribute attribution or create unrealistic perturbations. The plots explain associations in this candidate and do not establish causal campaign effects.</a:t>
            </a:r>
          </a:p>
          <a:p>
            <a:endParaRPr/>
          </a:p>
          <a:p>
            <a:r>
              <a:t>Sources from the delivered revised notebook package:</a:t>
            </a:r>
          </a:p>
          <a:p>
            <a:r>
              <a:t>reports/tables/final_shap_importance.csv</a:t>
            </a:r>
          </a:p>
          <a:p>
            <a:r>
              <a:t>reports/tables/final_pdp.csv</a:t>
            </a:r>
          </a:p>
          <a:p>
            <a:r>
              <a:t>reports/explainability_summary.json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policy adjusts thresholds for whether children currently live at home. The pooled selection ratio is the lower contact rate divided by the higher contact rate. It rises from 0.342 under the global F1 policy to 0.803 under the selected adjustment. The adjusted rates are 15.3% and 19.0%. The equalised-odds gap for this attribute is about 0.045, based on the largest TPR/FPR difference. Income and education retain low selection ratios. The audit reports demographic parity differences, selection ratios and equalised odds across available attributes. Unknown income has only 24 rows and unknown household status has four, so uncertainty matters. Gender and race are absent. The 0.80 target is illustrative and does not certify fairness.</a:t>
            </a:r>
          </a:p>
          <a:p>
            <a:endParaRPr/>
          </a:p>
          <a:p>
            <a:r>
              <a:t>Sources from the delivered revised notebook package:</a:t>
            </a:r>
          </a:p>
          <a:p>
            <a:r>
              <a:t>reports/tables/global_pred_fairness_summary.csv</a:t>
            </a:r>
          </a:p>
          <a:p>
            <a:r>
              <a:t>reports/tables/policy_pred_fairness_summary.csv</a:t>
            </a:r>
          </a:p>
          <a:p>
            <a:r>
              <a:t>reports/fairness_audits.json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Supporting clustering excludes the campaign response and acceptance history from its 13 transformed </a:t>
            </a:r>
            <a:r>
              <a:rPr dirty="0" err="1"/>
              <a:t>behavioural</a:t>
            </a:r>
            <a:r>
              <a:rPr dirty="0"/>
              <a:t> and context features. K-Means with k from two to six and Ward clustering with k from two to four provide eight configurations. The declared selection criterion is sampled silhouette. K-Means k=2 ranks highest at 0.216 versus 0.207 for k=3. K=3 does better on Davies–Bouldin, so k=2 does not win every measure. Two PCA components explain 48.53% of variance and eight reach 90%. Clustering uses all 13 transformed features. The higher-spend group has 1,100 records and the lower-spend group has 1,136. These are overlapping descriptions of a historical snapshot, not permanent personality types.</a:t>
            </a:r>
          </a:p>
          <a:p>
            <a:endParaRPr dirty="0"/>
          </a:p>
          <a:p>
            <a:r>
              <a:rPr dirty="0"/>
              <a:t>Sources from the delivered revised notebook package:</a:t>
            </a:r>
          </a:p>
          <a:p>
            <a:r>
              <a:rPr dirty="0"/>
              <a:t>reports/tables/</a:t>
            </a:r>
            <a:r>
              <a:rPr dirty="0" err="1"/>
              <a:t>segmentation_comparison.csv</a:t>
            </a:r>
            <a:endParaRPr dirty="0"/>
          </a:p>
          <a:p>
            <a:r>
              <a:rPr dirty="0"/>
              <a:t>reports/tables/</a:t>
            </a:r>
            <a:r>
              <a:rPr dirty="0" err="1"/>
              <a:t>segment_profiles.csv</a:t>
            </a:r>
            <a:endParaRPr dirty="0"/>
          </a:p>
          <a:p>
            <a:r>
              <a:rPr dirty="0"/>
              <a:t>reports/</a:t>
            </a:r>
            <a:r>
              <a:rPr dirty="0" err="1"/>
              <a:t>segmentation_summary.json</a:t>
            </a:r>
            <a:endParaRPr dirty="0"/>
          </a:p>
          <a:p>
            <a:r>
              <a:rPr dirty="0"/>
              <a:t>Dataset: https://</a:t>
            </a:r>
            <a:r>
              <a:rPr dirty="0" err="1"/>
              <a:t>www.kaggle.com</a:t>
            </a:r>
            <a:r>
              <a:rPr dirty="0"/>
              <a:t>/datasets/imakash3011/customer-personality-analysis/data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is historical and campaign timing is not fully documented. Before scoring a new campaign, verify that every predictor exists beforehand, test sensitivity to prior campaign history, and rebuild the timeline. Calibration, temporal drift and real business contribution remain open. The project includes a notebook, source modules, saved model and policy configuration, data dictionary, requirements and evaluation tables. Checks cover pipeline behaviour and execution, but no external dataset validates the saved model. A randomised pilot with a no-contact comparison can estimate incremental contribution. Freeze decision rules in advance and monitor subgroup access, errors and complaints. Generative AI assisted code review, explanations and presentation drafting. Computed results come from executed code and saved artifacts. Public repository upload and both audience presentations remain separate submission deliverables.</a:t>
            </a:r>
          </a:p>
          <a:p>
            <a:endParaRPr/>
          </a:p>
          <a:p>
            <a:r>
              <a:t>Sources from the delivered revised notebook package:</a:t>
            </a:r>
          </a:p>
          <a:p>
            <a:r>
              <a:t>README.md</a:t>
            </a:r>
          </a:p>
          <a:p>
            <a:r>
              <a:t>reports/evaluation_contract.json</a:t>
            </a:r>
          </a:p>
          <a:p>
            <a:r>
              <a:t>reports/verification.json</a:t>
            </a:r>
          </a:p>
          <a:p>
            <a:r>
              <a:t>notebooks/Capstone_Customer_Segmentation_Revised.ipynb</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F3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B2CF80-082D-4C29-9592-9072388C83D6}"/>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86C6C9"/>
                </a:solidFill>
                <a:latin typeface="Helvetica Neue"/>
                <a:ea typeface="Helvetica Neue"/>
                <a:cs typeface="Helvetica Neue"/>
              </a:rPr>
              <a:t>AI / ML CAPSTONE</a:t>
            </a:r>
          </a:p>
        </p:txBody>
      </p:sp>
      <p:sp>
        <p:nvSpPr>
          <p:cNvPr id="2" name="Rectangle 1">
            <a:extLst>
              <a:ext uri="{FF2B5EF4-FFF2-40B4-BE49-F238E27FC236}">
                <a16:creationId xmlns:a16="http://schemas.microsoft.com/office/drawing/2014/main" id="{9DF72650-0EA1-4B49-9CD1-E2C028CC27B4}"/>
              </a:ext>
            </a:extLst>
          </p:cNvPr>
          <p:cNvSpPr>
            <a:spLocks noGrp="1"/>
          </p:cNvSpPr>
          <p:nvPr/>
        </p:nvSpPr>
        <p:spPr>
          <a:xfrm>
            <a:off x="609600" y="1828800"/>
            <a:ext cx="10858500" cy="1952625"/>
          </a:xfrm>
          <a:prstGeom prst="rect">
            <a:avLst/>
          </a:prstGeom>
          <a:noFill/>
          <a:ln w="0">
            <a:noFill/>
          </a:ln>
        </p:spPr>
        <p:txBody>
          <a:bodyPr wrap="square" lIns="0" tIns="0" rIns="0" bIns="0" anchor="t">
            <a:noAutofit/>
          </a:bodyPr>
          <a:lstStyle/>
          <a:p>
            <a:pPr>
              <a:defRPr sz="5100" b="1">
                <a:solidFill>
                  <a:srgbClr val="FFFFFF"/>
                </a:solidFill>
                <a:latin typeface="Helvetica Neue"/>
                <a:ea typeface="Helvetica Neue"/>
                <a:cs typeface="Helvetica Neue"/>
              </a:defRPr>
            </a:pPr>
            <a:r>
              <a:rPr sz="5100" b="1" dirty="0">
                <a:solidFill>
                  <a:srgbClr val="FFFFFF"/>
                </a:solidFill>
                <a:latin typeface="Helvetica Neue"/>
                <a:ea typeface="Helvetica Neue"/>
                <a:cs typeface="Helvetica Neue"/>
              </a:rPr>
              <a:t>Customer campaign response</a:t>
            </a:r>
          </a:p>
          <a:p>
            <a:pPr>
              <a:defRPr sz="5100" b="1">
                <a:solidFill>
                  <a:srgbClr val="FFFFFF"/>
                </a:solidFill>
                <a:latin typeface="Helvetica Neue"/>
                <a:ea typeface="Helvetica Neue"/>
                <a:cs typeface="Helvetica Neue"/>
              </a:defRPr>
            </a:pPr>
            <a:r>
              <a:rPr sz="5100" b="1" dirty="0">
                <a:solidFill>
                  <a:srgbClr val="FFFFFF"/>
                </a:solidFill>
                <a:latin typeface="Helvetica Neue"/>
                <a:ea typeface="Helvetica Neue"/>
                <a:cs typeface="Helvetica Neue"/>
              </a:rPr>
              <a:t>and segmentation</a:t>
            </a:r>
          </a:p>
        </p:txBody>
      </p:sp>
      <p:sp>
        <p:nvSpPr>
          <p:cNvPr id="3" name="Rectangle 2">
            <a:extLst>
              <a:ext uri="{FF2B5EF4-FFF2-40B4-BE49-F238E27FC236}">
                <a16:creationId xmlns:a16="http://schemas.microsoft.com/office/drawing/2014/main" id="{0E3C9CAE-DB56-4500-86AC-3E3D18F748DE}"/>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9CB1B8"/>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E4D892C0-ABC2-43E0-A5DE-8448606980B1}"/>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9CB1B8"/>
                </a:solidFill>
                <a:latin typeface="Helvetica Neue"/>
                <a:ea typeface="Helvetica Neue"/>
                <a:cs typeface="Helvetica Neue"/>
              </a:rPr>
              <a:t>01</a:t>
            </a:r>
          </a:p>
        </p:txBody>
      </p:sp>
      <p:sp>
        <p:nvSpPr>
          <p:cNvPr id="5" name="Rectangle 4">
            <a:extLst>
              <a:ext uri="{FF2B5EF4-FFF2-40B4-BE49-F238E27FC236}">
                <a16:creationId xmlns:a16="http://schemas.microsoft.com/office/drawing/2014/main" id="{EBFD3F3B-51FE-4CD8-AA56-78B43C5B9EF0}"/>
              </a:ext>
            </a:extLst>
          </p:cNvPr>
          <p:cNvSpPr>
            <a:spLocks noGrp="1"/>
          </p:cNvSpPr>
          <p:nvPr/>
        </p:nvSpPr>
        <p:spPr>
          <a:xfrm>
            <a:off x="609600" y="4324350"/>
            <a:ext cx="10001250" cy="1000125"/>
          </a:xfrm>
          <a:prstGeom prst="rect">
            <a:avLst/>
          </a:prstGeom>
          <a:noFill/>
          <a:ln w="0">
            <a:noFill/>
          </a:ln>
        </p:spPr>
        <p:txBody>
          <a:bodyPr wrap="square" lIns="0" tIns="0" rIns="0" bIns="0" anchor="t">
            <a:noAutofit/>
          </a:bodyPr>
          <a:lstStyle/>
          <a:p>
            <a:pPr>
              <a:defRPr sz="2325" b="0">
                <a:solidFill>
                  <a:srgbClr val="D2E3E6"/>
                </a:solidFill>
                <a:latin typeface="Helvetica Neue"/>
                <a:ea typeface="Helvetica Neue"/>
                <a:cs typeface="Helvetica Neue"/>
              </a:defRPr>
            </a:pPr>
            <a:r>
              <a:rPr sz="2325" b="0">
                <a:solidFill>
                  <a:srgbClr val="D2E3E6"/>
                </a:solidFill>
                <a:latin typeface="Helvetica Neue"/>
                <a:ea typeface="Helvetica Neue"/>
                <a:cs typeface="Helvetica Neue"/>
              </a:rPr>
              <a:t>Technical presentation</a:t>
            </a:r>
          </a:p>
          <a:p>
            <a:pPr>
              <a:defRPr sz="2325" b="0">
                <a:solidFill>
                  <a:srgbClr val="D2E3E6"/>
                </a:solidFill>
                <a:latin typeface="Helvetica Neue"/>
                <a:ea typeface="Helvetica Neue"/>
                <a:cs typeface="Helvetica Neue"/>
              </a:defRPr>
            </a:pPr>
            <a:r>
              <a:rPr sz="2325" b="0">
                <a:solidFill>
                  <a:srgbClr val="D2E3E6"/>
                </a:solidFill>
                <a:latin typeface="Helvetica Neue"/>
                <a:ea typeface="Helvetica Neue"/>
                <a:cs typeface="Helvetica Neue"/>
              </a:rPr>
              <a:t>Model selection, evaluation and responsible use</a:t>
            </a:r>
          </a:p>
        </p:txBody>
      </p:sp>
    </p:spTree>
    <p:extLst>
      <p:ext uri="{BB962C8B-B14F-4D97-AF65-F5344CB8AC3E}">
        <p14:creationId xmlns:p14="http://schemas.microsoft.com/office/powerpoint/2010/main" val="116233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161AA91-200E-4A0C-AB6B-6E813773F36B}"/>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01 / PROBLEM</a:t>
            </a:r>
          </a:p>
        </p:txBody>
      </p:sp>
      <p:sp>
        <p:nvSpPr>
          <p:cNvPr id="2" name="Rectangle 1">
            <a:extLst>
              <a:ext uri="{FF2B5EF4-FFF2-40B4-BE49-F238E27FC236}">
                <a16:creationId xmlns:a16="http://schemas.microsoft.com/office/drawing/2014/main" id="{22C836B8-6CAD-4979-B655-6BDBDAADB8AD}"/>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Problem framing and success measures</a:t>
            </a:r>
          </a:p>
        </p:txBody>
      </p:sp>
      <p:sp>
        <p:nvSpPr>
          <p:cNvPr id="3" name="Rectangle 2">
            <a:extLst>
              <a:ext uri="{FF2B5EF4-FFF2-40B4-BE49-F238E27FC236}">
                <a16:creationId xmlns:a16="http://schemas.microsoft.com/office/drawing/2014/main" id="{A784570F-EA5A-41E0-A651-C60679F37712}"/>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53F21DE7-60CC-4AE0-8D37-070157984DDC}"/>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02</a:t>
            </a:r>
          </a:p>
        </p:txBody>
      </p:sp>
      <p:graphicFrame>
        <p:nvGraphicFramePr>
          <p:cNvPr id="11" name="Table 10"/>
          <p:cNvGraphicFramePr/>
          <p:nvPr/>
        </p:nvGraphicFramePr>
        <p:xfrm>
          <a:off x="609600" y="1857375"/>
          <a:ext cx="10972800" cy="3161030"/>
        </p:xfrm>
        <a:graphic>
          <a:graphicData uri="http://schemas.openxmlformats.org/drawingml/2006/table">
            <a:tbl>
              <a:tblPr/>
              <a:tblGrid>
                <a:gridCol w="347662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4019550">
                  <a:extLst>
                    <a:ext uri="{9D8B030D-6E8A-4147-A177-3AD203B41FA5}">
                      <a16:colId xmlns:a16="http://schemas.microsoft.com/office/drawing/2014/main" val="20002"/>
                    </a:ext>
                  </a:extLst>
                </a:gridCol>
              </a:tblGrid>
              <a:tr h="984250">
                <a:tc>
                  <a:txBody>
                    <a:bodyPr/>
                    <a:lstStyle/>
                    <a:p>
                      <a:r>
                        <a:rPr sz="2025" b="1">
                          <a:solidFill>
                            <a:srgbClr val="FFFFFF"/>
                          </a:solidFill>
                          <a:latin typeface="Helvetica Neue"/>
                          <a:ea typeface="Helvetica Neue"/>
                          <a:cs typeface="Helvetica Neue"/>
                        </a:rPr>
                        <a:t>Business decision</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Data science task</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Success measures</a:t>
                      </a:r>
                    </a:p>
                  </a:txBody>
                  <a:tcPr marL="152400" marR="152400" marT="133350" marB="133350">
                    <a:solidFill>
                      <a:srgbClr val="152F3C"/>
                    </a:solidFill>
                  </a:tcPr>
                </a:tc>
                <a:extLst>
                  <a:ext uri="{0D108BD9-81ED-4DB2-BD59-A6C34878D82A}">
                    <a16:rowId xmlns:a16="http://schemas.microsoft.com/office/drawing/2014/main" val="10000"/>
                  </a:ext>
                </a:extLst>
              </a:tr>
              <a:tr h="984250">
                <a:tc>
                  <a:txBody>
                    <a:bodyPr/>
                    <a:lstStyle/>
                    <a:p>
                      <a:r>
                        <a:rPr sz="2025">
                          <a:solidFill>
                            <a:srgbClr val="152F3C"/>
                          </a:solidFill>
                          <a:latin typeface="Helvetica Neue"/>
                          <a:ea typeface="Helvetica Neue"/>
                          <a:cs typeface="Helvetica Neue"/>
                        </a:rPr>
                        <a:t>Prioritise customer outreach</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Binary classification</a:t>
                      </a:r>
                    </a:p>
                    <a:p>
                      <a:r>
                        <a:rPr sz="2025">
                          <a:solidFill>
                            <a:srgbClr val="152F3C"/>
                          </a:solidFill>
                          <a:latin typeface="Helvetica Neue"/>
                          <a:ea typeface="Helvetica Neue"/>
                          <a:cs typeface="Helvetica Neue"/>
                        </a:rPr>
                        <a:t>Target: Response</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ROC-AUC and average precision</a:t>
                      </a:r>
                    </a:p>
                    <a:p>
                      <a:r>
                        <a:rPr sz="2025">
                          <a:solidFill>
                            <a:srgbClr val="152F3C"/>
                          </a:solidFill>
                          <a:latin typeface="Helvetica Neue"/>
                          <a:ea typeface="Helvetica Neue"/>
                          <a:cs typeface="Helvetica Neue"/>
                        </a:rPr>
                        <a:t>Precision, recall and F1</a:t>
                      </a:r>
                    </a:p>
                  </a:txBody>
                  <a:tcPr marL="152400" marR="152400" marT="133350" marB="133350">
                    <a:solidFill>
                      <a:srgbClr val="F7F5F0"/>
                    </a:solidFill>
                  </a:tcPr>
                </a:tc>
                <a:extLst>
                  <a:ext uri="{0D108BD9-81ED-4DB2-BD59-A6C34878D82A}">
                    <a16:rowId xmlns:a16="http://schemas.microsoft.com/office/drawing/2014/main" val="10001"/>
                  </a:ext>
                </a:extLst>
              </a:tr>
              <a:tr h="984250">
                <a:tc>
                  <a:txBody>
                    <a:bodyPr/>
                    <a:lstStyle/>
                    <a:p>
                      <a:r>
                        <a:rPr sz="2025">
                          <a:solidFill>
                            <a:srgbClr val="152F3C"/>
                          </a:solidFill>
                          <a:latin typeface="Helvetica Neue"/>
                          <a:ea typeface="Helvetica Neue"/>
                          <a:cs typeface="Helvetica Neue"/>
                        </a:rPr>
                        <a:t>Explore offer hypotheses</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Unsupervised segmentation</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Silhouette and cluster profiles</a:t>
                      </a:r>
                    </a:p>
                    <a:p>
                      <a:r>
                        <a:rPr sz="2025">
                          <a:solidFill>
                            <a:srgbClr val="152F3C"/>
                          </a:solidFill>
                          <a:latin typeface="Helvetica Neue"/>
                          <a:ea typeface="Helvetica Neue"/>
                          <a:cs typeface="Helvetica Neue"/>
                        </a:rPr>
                        <a:t>PCA for visualisation</a:t>
                      </a:r>
                    </a:p>
                  </a:txBody>
                  <a:tcPr marL="152400" marR="152400" marT="133350" marB="133350">
                    <a:solidFill>
                      <a:srgbClr val="EAF0ED"/>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2B7272D2-3E30-41D1-A937-137968F4EEAE}"/>
              </a:ext>
            </a:extLst>
          </p:cNvPr>
          <p:cNvSpPr>
            <a:spLocks noGrp="1"/>
          </p:cNvSpPr>
          <p:nvPr/>
        </p:nvSpPr>
        <p:spPr>
          <a:xfrm>
            <a:off x="609600" y="530542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Business KPIs: contact volume, assumed net value and access across customer groups</a:t>
            </a:r>
          </a:p>
        </p:txBody>
      </p:sp>
    </p:spTree>
    <p:extLst>
      <p:ext uri="{BB962C8B-B14F-4D97-AF65-F5344CB8AC3E}">
        <p14:creationId xmlns:p14="http://schemas.microsoft.com/office/powerpoint/2010/main" val="98084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933327-4A42-48C5-9325-DC5C5B6AA6F6}"/>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02 / DATA</a:t>
            </a:r>
          </a:p>
        </p:txBody>
      </p:sp>
      <p:sp>
        <p:nvSpPr>
          <p:cNvPr id="2" name="Rectangle 1">
            <a:extLst>
              <a:ext uri="{FF2B5EF4-FFF2-40B4-BE49-F238E27FC236}">
                <a16:creationId xmlns:a16="http://schemas.microsoft.com/office/drawing/2014/main" id="{08BACD05-9D4E-4AC5-AE8A-7804AD197036}"/>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Data quality and the eligible population</a:t>
            </a:r>
          </a:p>
        </p:txBody>
      </p:sp>
      <p:sp>
        <p:nvSpPr>
          <p:cNvPr id="3" name="Rectangle 2">
            <a:extLst>
              <a:ext uri="{FF2B5EF4-FFF2-40B4-BE49-F238E27FC236}">
                <a16:creationId xmlns:a16="http://schemas.microsoft.com/office/drawing/2014/main" id="{3522A8EF-4105-4E69-BFB0-2961F169442C}"/>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0C8AEA9C-02EC-45B9-9FBB-37A3F5AEFDA5}"/>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03</a:t>
            </a:r>
          </a:p>
        </p:txBody>
      </p:sp>
      <p:graphicFrame>
        <p:nvGraphicFramePr>
          <p:cNvPr id="11" name="Table 10"/>
          <p:cNvGraphicFramePr/>
          <p:nvPr/>
        </p:nvGraphicFramePr>
        <p:xfrm>
          <a:off x="609600" y="1857375"/>
          <a:ext cx="10972800" cy="3524250"/>
        </p:xfrm>
        <a:graphic>
          <a:graphicData uri="http://schemas.openxmlformats.org/drawingml/2006/table">
            <a:tbl>
              <a:tblPr/>
              <a:tblGrid>
                <a:gridCol w="2857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704850">
                <a:tc>
                  <a:txBody>
                    <a:bodyPr/>
                    <a:lstStyle/>
                    <a:p>
                      <a:r>
                        <a:rPr sz="1875" b="1">
                          <a:solidFill>
                            <a:srgbClr val="FFFFFF"/>
                          </a:solidFill>
                          <a:latin typeface="Helvetica Neue"/>
                          <a:ea typeface="Helvetica Neue"/>
                          <a:cs typeface="Helvetica Neue"/>
                        </a:rPr>
                        <a:t>Check</a:t>
                      </a:r>
                    </a:p>
                  </a:txBody>
                  <a:tcPr marL="152400" marR="152400" marT="133350" marB="133350">
                    <a:solidFill>
                      <a:srgbClr val="152F3C"/>
                    </a:solidFill>
                  </a:tcPr>
                </a:tc>
                <a:tc>
                  <a:txBody>
                    <a:bodyPr/>
                    <a:lstStyle/>
                    <a:p>
                      <a:r>
                        <a:rPr sz="1875" b="1">
                          <a:solidFill>
                            <a:srgbClr val="FFFFFF"/>
                          </a:solidFill>
                          <a:latin typeface="Helvetica Neue"/>
                          <a:ea typeface="Helvetica Neue"/>
                          <a:cs typeface="Helvetica Neue"/>
                        </a:rPr>
                        <a:t>Observed result</a:t>
                      </a:r>
                    </a:p>
                  </a:txBody>
                  <a:tcPr marL="152400" marR="152400" marT="133350" marB="133350">
                    <a:solidFill>
                      <a:srgbClr val="152F3C"/>
                    </a:solidFill>
                  </a:tcPr>
                </a:tc>
                <a:tc>
                  <a:txBody>
                    <a:bodyPr/>
                    <a:lstStyle/>
                    <a:p>
                      <a:r>
                        <a:rPr sz="1875" b="1">
                          <a:solidFill>
                            <a:srgbClr val="FFFFFF"/>
                          </a:solidFill>
                          <a:latin typeface="Helvetica Neue"/>
                          <a:ea typeface="Helvetica Neue"/>
                          <a:cs typeface="Helvetica Neue"/>
                        </a:rPr>
                        <a:t>Treatment</a:t>
                      </a:r>
                    </a:p>
                  </a:txBody>
                  <a:tcPr marL="152400" marR="152400" marT="133350" marB="133350">
                    <a:solidFill>
                      <a:srgbClr val="152F3C"/>
                    </a:solidFill>
                  </a:tcPr>
                </a:tc>
                <a:extLst>
                  <a:ext uri="{0D108BD9-81ED-4DB2-BD59-A6C34878D82A}">
                    <a16:rowId xmlns:a16="http://schemas.microsoft.com/office/drawing/2014/main" val="10000"/>
                  </a:ext>
                </a:extLst>
              </a:tr>
              <a:tr h="704850">
                <a:tc>
                  <a:txBody>
                    <a:bodyPr/>
                    <a:lstStyle/>
                    <a:p>
                      <a:r>
                        <a:rPr sz="1875">
                          <a:solidFill>
                            <a:srgbClr val="152F3C"/>
                          </a:solidFill>
                          <a:latin typeface="Helvetica Neue"/>
                          <a:ea typeface="Helvetica Neue"/>
                          <a:cs typeface="Helvetica Neue"/>
                        </a:rPr>
                        <a:t>Raw data</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2,240 rows and 29 columns</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Keep a source copy and hash</a:t>
                      </a:r>
                    </a:p>
                  </a:txBody>
                  <a:tcPr marL="152400" marR="152400" marT="133350" marB="133350">
                    <a:solidFill>
                      <a:srgbClr val="F7F5F0"/>
                    </a:solidFill>
                  </a:tcPr>
                </a:tc>
                <a:extLst>
                  <a:ext uri="{0D108BD9-81ED-4DB2-BD59-A6C34878D82A}">
                    <a16:rowId xmlns:a16="http://schemas.microsoft.com/office/drawing/2014/main" val="10001"/>
                  </a:ext>
                </a:extLst>
              </a:tr>
              <a:tr h="704850">
                <a:tc>
                  <a:txBody>
                    <a:bodyPr/>
                    <a:lstStyle/>
                    <a:p>
                      <a:r>
                        <a:rPr sz="1875">
                          <a:solidFill>
                            <a:srgbClr val="152F3C"/>
                          </a:solidFill>
                          <a:latin typeface="Helvetica Neue"/>
                          <a:ea typeface="Helvetica Neue"/>
                          <a:cs typeface="Helvetica Neue"/>
                        </a:rPr>
                        <a:t>Eligibility</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4 suspicious records</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Document rules and exclusions</a:t>
                      </a:r>
                    </a:p>
                  </a:txBody>
                  <a:tcPr marL="152400" marR="152400" marT="133350" marB="133350">
                    <a:solidFill>
                      <a:srgbClr val="EAF0ED"/>
                    </a:solidFill>
                  </a:tcPr>
                </a:tc>
                <a:extLst>
                  <a:ext uri="{0D108BD9-81ED-4DB2-BD59-A6C34878D82A}">
                    <a16:rowId xmlns:a16="http://schemas.microsoft.com/office/drawing/2014/main" val="10002"/>
                  </a:ext>
                </a:extLst>
              </a:tr>
              <a:tr h="704850">
                <a:tc>
                  <a:txBody>
                    <a:bodyPr/>
                    <a:lstStyle/>
                    <a:p>
                      <a:r>
                        <a:rPr sz="1875">
                          <a:solidFill>
                            <a:srgbClr val="152F3C"/>
                          </a:solidFill>
                          <a:latin typeface="Helvetica Neue"/>
                          <a:ea typeface="Helvetica Neue"/>
                          <a:cs typeface="Helvetica Neue"/>
                        </a:rPr>
                        <a:t>Missing income</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24 records</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Training-fold median imputation</a:t>
                      </a:r>
                    </a:p>
                  </a:txBody>
                  <a:tcPr marL="152400" marR="152400" marT="133350" marB="133350">
                    <a:solidFill>
                      <a:srgbClr val="F7F5F0"/>
                    </a:solidFill>
                  </a:tcPr>
                </a:tc>
                <a:extLst>
                  <a:ext uri="{0D108BD9-81ED-4DB2-BD59-A6C34878D82A}">
                    <a16:rowId xmlns:a16="http://schemas.microsoft.com/office/drawing/2014/main" val="10003"/>
                  </a:ext>
                </a:extLst>
              </a:tr>
              <a:tr h="704850">
                <a:tc>
                  <a:txBody>
                    <a:bodyPr/>
                    <a:lstStyle/>
                    <a:p>
                      <a:r>
                        <a:rPr sz="1875">
                          <a:solidFill>
                            <a:srgbClr val="152F3C"/>
                          </a:solidFill>
                          <a:latin typeface="Helvetica Neue"/>
                          <a:ea typeface="Helvetica Neue"/>
                          <a:cs typeface="Helvetica Neue"/>
                        </a:rPr>
                        <a:t>Matching profiles</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2,034 profile groups</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Keep each group in one partition</a:t>
                      </a:r>
                    </a:p>
                  </a:txBody>
                  <a:tcPr marL="152400" marR="152400" marT="133350" marB="133350">
                    <a:solidFill>
                      <a:srgbClr val="EAF0ED"/>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E3A3645D-1F8A-40A6-AD4B-8043127F5A75}"/>
              </a:ext>
            </a:extLst>
          </p:cNvPr>
          <p:cNvSpPr>
            <a:spLocks noGrp="1"/>
          </p:cNvSpPr>
          <p:nvPr/>
        </p:nvSpPr>
        <p:spPr>
          <a:xfrm>
            <a:off x="609600" y="566737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Eligible: 2,236 customers, including 334 responders (14.9%)</a:t>
            </a:r>
          </a:p>
        </p:txBody>
      </p:sp>
    </p:spTree>
    <p:extLst>
      <p:ext uri="{BB962C8B-B14F-4D97-AF65-F5344CB8AC3E}">
        <p14:creationId xmlns:p14="http://schemas.microsoft.com/office/powerpoint/2010/main" val="582830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26150D-1FBA-4A05-9B31-A0B0E525ED5F}"/>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03 / PREPARATION</a:t>
            </a:r>
          </a:p>
        </p:txBody>
      </p:sp>
      <p:sp>
        <p:nvSpPr>
          <p:cNvPr id="2" name="Rectangle 1">
            <a:extLst>
              <a:ext uri="{FF2B5EF4-FFF2-40B4-BE49-F238E27FC236}">
                <a16:creationId xmlns:a16="http://schemas.microsoft.com/office/drawing/2014/main" id="{6BE8C49F-CFF1-483A-BEEF-C07AA6F99585}"/>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Features and preprocessing stay inside fitting</a:t>
            </a:r>
          </a:p>
        </p:txBody>
      </p:sp>
      <p:sp>
        <p:nvSpPr>
          <p:cNvPr id="3" name="Rectangle 2">
            <a:extLst>
              <a:ext uri="{FF2B5EF4-FFF2-40B4-BE49-F238E27FC236}">
                <a16:creationId xmlns:a16="http://schemas.microsoft.com/office/drawing/2014/main" id="{5BE480A4-D6E9-4AAA-A71D-E9BEEC3EDF57}"/>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09E46A6F-6833-4FC9-BFDE-DC77F935DA40}"/>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04</a:t>
            </a:r>
          </a:p>
        </p:txBody>
      </p:sp>
      <p:sp>
        <p:nvSpPr>
          <p:cNvPr id="5" name="Rectangle 4">
            <a:extLst>
              <a:ext uri="{FF2B5EF4-FFF2-40B4-BE49-F238E27FC236}">
                <a16:creationId xmlns:a16="http://schemas.microsoft.com/office/drawing/2014/main" id="{F2D76E26-5DF7-4DAF-A269-EE64152CDB49}"/>
              </a:ext>
            </a:extLst>
          </p:cNvPr>
          <p:cNvSpPr>
            <a:spLocks noGrp="1"/>
          </p:cNvSpPr>
          <p:nvPr/>
        </p:nvSpPr>
        <p:spPr>
          <a:xfrm>
            <a:off x="609600" y="19050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01</a:t>
            </a:r>
          </a:p>
        </p:txBody>
      </p:sp>
      <p:sp>
        <p:nvSpPr>
          <p:cNvPr id="6" name="Rectangle 5">
            <a:extLst>
              <a:ext uri="{FF2B5EF4-FFF2-40B4-BE49-F238E27FC236}">
                <a16:creationId xmlns:a16="http://schemas.microsoft.com/office/drawing/2014/main" id="{0FC4B8EB-2026-4B9F-8AC9-F4483D6A3C86}"/>
              </a:ext>
            </a:extLst>
          </p:cNvPr>
          <p:cNvSpPr>
            <a:spLocks noGrp="1"/>
          </p:cNvSpPr>
          <p:nvPr/>
        </p:nvSpPr>
        <p:spPr>
          <a:xfrm>
            <a:off x="1419225" y="1905000"/>
            <a:ext cx="10163175" cy="7620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Domain features: spend, channel shares, household context and tenure</a:t>
            </a:r>
          </a:p>
        </p:txBody>
      </p:sp>
      <p:sp>
        <p:nvSpPr>
          <p:cNvPr id="7" name="Rectangle 6">
            <a:extLst>
              <a:ext uri="{FF2B5EF4-FFF2-40B4-BE49-F238E27FC236}">
                <a16:creationId xmlns:a16="http://schemas.microsoft.com/office/drawing/2014/main" id="{9A4F00B9-D1A6-43F9-A4D8-890C2B20299F}"/>
              </a:ext>
            </a:extLst>
          </p:cNvPr>
          <p:cNvSpPr>
            <a:spLocks noGrp="1"/>
          </p:cNvSpPr>
          <p:nvPr/>
        </p:nvSpPr>
        <p:spPr>
          <a:xfrm>
            <a:off x="609600" y="27813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02</a:t>
            </a:r>
          </a:p>
        </p:txBody>
      </p:sp>
      <p:sp>
        <p:nvSpPr>
          <p:cNvPr id="8" name="Rectangle 7">
            <a:extLst>
              <a:ext uri="{FF2B5EF4-FFF2-40B4-BE49-F238E27FC236}">
                <a16:creationId xmlns:a16="http://schemas.microsoft.com/office/drawing/2014/main" id="{67AFC89F-DBC1-4E30-91EF-78D0B28631B7}"/>
              </a:ext>
            </a:extLst>
          </p:cNvPr>
          <p:cNvSpPr>
            <a:spLocks noGrp="1"/>
          </p:cNvSpPr>
          <p:nvPr/>
        </p:nvSpPr>
        <p:spPr>
          <a:xfrm>
            <a:off x="1419225" y="2781300"/>
            <a:ext cx="10163175" cy="7620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Fold-specific imputation, outlier caps and categorical encoding</a:t>
            </a:r>
          </a:p>
        </p:txBody>
      </p:sp>
      <p:sp>
        <p:nvSpPr>
          <p:cNvPr id="9" name="Rectangle 8">
            <a:extLst>
              <a:ext uri="{FF2B5EF4-FFF2-40B4-BE49-F238E27FC236}">
                <a16:creationId xmlns:a16="http://schemas.microsoft.com/office/drawing/2014/main" id="{6A3F2FC7-B25F-49D1-89AB-48A5089FD3AA}"/>
              </a:ext>
            </a:extLst>
          </p:cNvPr>
          <p:cNvSpPr>
            <a:spLocks noGrp="1"/>
          </p:cNvSpPr>
          <p:nvPr/>
        </p:nvSpPr>
        <p:spPr>
          <a:xfrm>
            <a:off x="609600" y="36576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03</a:t>
            </a:r>
          </a:p>
        </p:txBody>
      </p:sp>
      <p:sp>
        <p:nvSpPr>
          <p:cNvPr id="10" name="Rectangle 9">
            <a:extLst>
              <a:ext uri="{FF2B5EF4-FFF2-40B4-BE49-F238E27FC236}">
                <a16:creationId xmlns:a16="http://schemas.microsoft.com/office/drawing/2014/main" id="{1358082C-D65D-458D-83D8-5B02E90DE7E0}"/>
              </a:ext>
            </a:extLst>
          </p:cNvPr>
          <p:cNvSpPr>
            <a:spLocks noGrp="1"/>
          </p:cNvSpPr>
          <p:nvPr/>
        </p:nvSpPr>
        <p:spPr>
          <a:xfrm>
            <a:off x="1419225" y="3657600"/>
            <a:ext cx="10163175" cy="7620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Variance filter and ANOVA selection at 60%, 80% or 100%</a:t>
            </a:r>
          </a:p>
        </p:txBody>
      </p:sp>
      <p:sp>
        <p:nvSpPr>
          <p:cNvPr id="11" name="Rectangle 10">
            <a:extLst>
              <a:ext uri="{FF2B5EF4-FFF2-40B4-BE49-F238E27FC236}">
                <a16:creationId xmlns:a16="http://schemas.microsoft.com/office/drawing/2014/main" id="{D23D5B1D-C0EC-4104-8EBC-3AA0D8A59A1F}"/>
              </a:ext>
            </a:extLst>
          </p:cNvPr>
          <p:cNvSpPr>
            <a:spLocks noGrp="1"/>
          </p:cNvSpPr>
          <p:nvPr/>
        </p:nvSpPr>
        <p:spPr>
          <a:xfrm>
            <a:off x="609600" y="45339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04</a:t>
            </a:r>
          </a:p>
        </p:txBody>
      </p:sp>
      <p:sp>
        <p:nvSpPr>
          <p:cNvPr id="12" name="Rectangle 11">
            <a:extLst>
              <a:ext uri="{FF2B5EF4-FFF2-40B4-BE49-F238E27FC236}">
                <a16:creationId xmlns:a16="http://schemas.microsoft.com/office/drawing/2014/main" id="{ED390327-C8A5-411B-BA56-C23724DF3ADD}"/>
              </a:ext>
            </a:extLst>
          </p:cNvPr>
          <p:cNvSpPr>
            <a:spLocks noGrp="1"/>
          </p:cNvSpPr>
          <p:nvPr/>
        </p:nvSpPr>
        <p:spPr>
          <a:xfrm>
            <a:off x="1419225" y="4533900"/>
            <a:ext cx="10163175" cy="7620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Scaling before the classifier</a:t>
            </a:r>
          </a:p>
        </p:txBody>
      </p:sp>
      <p:sp>
        <p:nvSpPr>
          <p:cNvPr id="13" name="Rectangle 12">
            <a:extLst>
              <a:ext uri="{FF2B5EF4-FFF2-40B4-BE49-F238E27FC236}">
                <a16:creationId xmlns:a16="http://schemas.microsoft.com/office/drawing/2014/main" id="{B15EBC3B-055D-4E50-B9CC-5A9514020645}"/>
              </a:ext>
            </a:extLst>
          </p:cNvPr>
          <p:cNvSpPr>
            <a:spLocks noGrp="1"/>
          </p:cNvSpPr>
          <p:nvPr/>
        </p:nvSpPr>
        <p:spPr>
          <a:xfrm>
            <a:off x="609600" y="569595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Final candidate: 43 engineered features, 42 nonconstant features retained</a:t>
            </a:r>
          </a:p>
        </p:txBody>
      </p:sp>
    </p:spTree>
    <p:extLst>
      <p:ext uri="{BB962C8B-B14F-4D97-AF65-F5344CB8AC3E}">
        <p14:creationId xmlns:p14="http://schemas.microsoft.com/office/powerpoint/2010/main" val="585744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EED625-401F-4391-A148-223ABC8F6E55}"/>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04 / EVALUATION DESIGN</a:t>
            </a:r>
          </a:p>
        </p:txBody>
      </p:sp>
      <p:sp>
        <p:nvSpPr>
          <p:cNvPr id="2" name="Rectangle 1">
            <a:extLst>
              <a:ext uri="{FF2B5EF4-FFF2-40B4-BE49-F238E27FC236}">
                <a16:creationId xmlns:a16="http://schemas.microsoft.com/office/drawing/2014/main" id="{84E91AFB-F8F5-4351-AE93-53C8C5BB5B21}"/>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Nested validation separates four decisions</a:t>
            </a:r>
          </a:p>
        </p:txBody>
      </p:sp>
      <p:sp>
        <p:nvSpPr>
          <p:cNvPr id="3" name="Rectangle 2">
            <a:extLst>
              <a:ext uri="{FF2B5EF4-FFF2-40B4-BE49-F238E27FC236}">
                <a16:creationId xmlns:a16="http://schemas.microsoft.com/office/drawing/2014/main" id="{0F0C3DEC-51A2-4F67-85DE-E27603B82269}"/>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dirty="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8348F60C-3DFD-45AB-9FC2-72D7242C850F}"/>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05</a:t>
            </a:r>
          </a:p>
        </p:txBody>
      </p:sp>
      <p:graphicFrame>
        <p:nvGraphicFramePr>
          <p:cNvPr id="11" name="Table 10"/>
          <p:cNvGraphicFramePr/>
          <p:nvPr/>
        </p:nvGraphicFramePr>
        <p:xfrm>
          <a:off x="609600" y="1857375"/>
          <a:ext cx="10972800" cy="3634740"/>
        </p:xfrm>
        <a:graphic>
          <a:graphicData uri="http://schemas.openxmlformats.org/drawingml/2006/table">
            <a:tbl>
              <a:tblPr/>
              <a:tblGrid>
                <a:gridCol w="319087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699135">
                <a:tc>
                  <a:txBody>
                    <a:bodyPr/>
                    <a:lstStyle/>
                    <a:p>
                      <a:r>
                        <a:rPr sz="1875" b="1">
                          <a:solidFill>
                            <a:srgbClr val="FFFFFF"/>
                          </a:solidFill>
                          <a:latin typeface="Helvetica Neue"/>
                          <a:ea typeface="Helvetica Neue"/>
                          <a:cs typeface="Helvetica Neue"/>
                        </a:rPr>
                        <a:t>Stage</a:t>
                      </a:r>
                    </a:p>
                  </a:txBody>
                  <a:tcPr marL="152400" marR="152400" marT="133350" marB="133350">
                    <a:solidFill>
                      <a:srgbClr val="152F3C"/>
                    </a:solidFill>
                  </a:tcPr>
                </a:tc>
                <a:tc>
                  <a:txBody>
                    <a:bodyPr/>
                    <a:lstStyle/>
                    <a:p>
                      <a:r>
                        <a:rPr sz="1875" b="1">
                          <a:solidFill>
                            <a:srgbClr val="FFFFFF"/>
                          </a:solidFill>
                          <a:latin typeface="Helvetica Neue"/>
                          <a:ea typeface="Helvetica Neue"/>
                          <a:cs typeface="Helvetica Neue"/>
                        </a:rPr>
                        <a:t>Role</a:t>
                      </a:r>
                    </a:p>
                  </a:txBody>
                  <a:tcPr marL="152400" marR="152400" marT="133350" marB="133350">
                    <a:solidFill>
                      <a:srgbClr val="152F3C"/>
                    </a:solidFill>
                  </a:tcPr>
                </a:tc>
                <a:tc>
                  <a:txBody>
                    <a:bodyPr/>
                    <a:lstStyle/>
                    <a:p>
                      <a:r>
                        <a:rPr sz="1875" b="1">
                          <a:solidFill>
                            <a:srgbClr val="FFFFFF"/>
                          </a:solidFill>
                          <a:latin typeface="Helvetica Neue"/>
                          <a:ea typeface="Helvetica Neue"/>
                          <a:cs typeface="Helvetica Neue"/>
                        </a:rPr>
                        <a:t>Information available</a:t>
                      </a:r>
                    </a:p>
                  </a:txBody>
                  <a:tcPr marL="152400" marR="152400" marT="133350" marB="133350">
                    <a:solidFill>
                      <a:srgbClr val="152F3C"/>
                    </a:solidFill>
                  </a:tcPr>
                </a:tc>
                <a:extLst>
                  <a:ext uri="{0D108BD9-81ED-4DB2-BD59-A6C34878D82A}">
                    <a16:rowId xmlns:a16="http://schemas.microsoft.com/office/drawing/2014/main" val="10000"/>
                  </a:ext>
                </a:extLst>
              </a:tr>
              <a:tr h="699135">
                <a:tc>
                  <a:txBody>
                    <a:bodyPr/>
                    <a:lstStyle/>
                    <a:p>
                      <a:r>
                        <a:rPr sz="1875">
                          <a:solidFill>
                            <a:srgbClr val="152F3C"/>
                          </a:solidFill>
                          <a:latin typeface="Helvetica Neue"/>
                          <a:ea typeface="Helvetica Neue"/>
                          <a:cs typeface="Helvetica Neue"/>
                        </a:rPr>
                        <a:t>Inner cross-validation</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Tune and select a model</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Fitting partition only</a:t>
                      </a:r>
                    </a:p>
                  </a:txBody>
                  <a:tcPr marL="152400" marR="152400" marT="133350" marB="133350">
                    <a:solidFill>
                      <a:srgbClr val="F7F5F0"/>
                    </a:solidFill>
                  </a:tcPr>
                </a:tc>
                <a:extLst>
                  <a:ext uri="{0D108BD9-81ED-4DB2-BD59-A6C34878D82A}">
                    <a16:rowId xmlns:a16="http://schemas.microsoft.com/office/drawing/2014/main" val="10001"/>
                  </a:ext>
                </a:extLst>
              </a:tr>
              <a:tr h="699135">
                <a:tc>
                  <a:txBody>
                    <a:bodyPr/>
                    <a:lstStyle/>
                    <a:p>
                      <a:r>
                        <a:rPr sz="1875">
                          <a:solidFill>
                            <a:srgbClr val="152F3C"/>
                          </a:solidFill>
                          <a:latin typeface="Helvetica Neue"/>
                          <a:ea typeface="Helvetica Neue"/>
                          <a:cs typeface="Helvetica Neue"/>
                        </a:rPr>
                        <a:t>Policy validation</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Choose contact thresholds</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Separate development partition</a:t>
                      </a:r>
                    </a:p>
                  </a:txBody>
                  <a:tcPr marL="152400" marR="152400" marT="133350" marB="133350">
                    <a:solidFill>
                      <a:srgbClr val="EAF0ED"/>
                    </a:solidFill>
                  </a:tcPr>
                </a:tc>
                <a:extLst>
                  <a:ext uri="{0D108BD9-81ED-4DB2-BD59-A6C34878D82A}">
                    <a16:rowId xmlns:a16="http://schemas.microsoft.com/office/drawing/2014/main" val="10002"/>
                  </a:ext>
                </a:extLst>
              </a:tr>
              <a:tr h="699135">
                <a:tc>
                  <a:txBody>
                    <a:bodyPr/>
                    <a:lstStyle/>
                    <a:p>
                      <a:r>
                        <a:rPr sz="1875">
                          <a:solidFill>
                            <a:srgbClr val="152F3C"/>
                          </a:solidFill>
                          <a:latin typeface="Helvetica Neue"/>
                          <a:ea typeface="Helvetica Neue"/>
                          <a:cs typeface="Helvetica Neue"/>
                        </a:rPr>
                        <a:t>Outer evaluation</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Estimate the complete procedure</a:t>
                      </a:r>
                    </a:p>
                  </a:txBody>
                  <a:tcPr marL="152400" marR="152400" marT="133350" marB="133350">
                    <a:solidFill>
                      <a:srgbClr val="F7F5F0"/>
                    </a:solidFill>
                  </a:tcPr>
                </a:tc>
                <a:tc>
                  <a:txBody>
                    <a:bodyPr/>
                    <a:lstStyle/>
                    <a:p>
                      <a:r>
                        <a:rPr sz="1875">
                          <a:solidFill>
                            <a:srgbClr val="152F3C"/>
                          </a:solidFill>
                          <a:latin typeface="Helvetica Neue"/>
                          <a:ea typeface="Helvetica Neue"/>
                          <a:cs typeface="Helvetica Neue"/>
                        </a:rPr>
                        <a:t>Held-out profiles, five folds</a:t>
                      </a:r>
                    </a:p>
                  </a:txBody>
                  <a:tcPr marL="152400" marR="152400" marT="133350" marB="133350">
                    <a:solidFill>
                      <a:srgbClr val="F7F5F0"/>
                    </a:solidFill>
                  </a:tcPr>
                </a:tc>
                <a:extLst>
                  <a:ext uri="{0D108BD9-81ED-4DB2-BD59-A6C34878D82A}">
                    <a16:rowId xmlns:a16="http://schemas.microsoft.com/office/drawing/2014/main" val="10003"/>
                  </a:ext>
                </a:extLst>
              </a:tr>
              <a:tr h="699135">
                <a:tc>
                  <a:txBody>
                    <a:bodyPr/>
                    <a:lstStyle/>
                    <a:p>
                      <a:r>
                        <a:rPr sz="1875">
                          <a:solidFill>
                            <a:srgbClr val="152F3C"/>
                          </a:solidFill>
                          <a:latin typeface="Helvetica Neue"/>
                          <a:ea typeface="Helvetica Neue"/>
                          <a:cs typeface="Helvetica Neue"/>
                        </a:rPr>
                        <a:t>Final development fit</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Save a model and its policy</a:t>
                      </a:r>
                    </a:p>
                  </a:txBody>
                  <a:tcPr marL="152400" marR="152400" marT="133350" marB="133350">
                    <a:solidFill>
                      <a:srgbClr val="EAF0ED"/>
                    </a:solidFill>
                  </a:tcPr>
                </a:tc>
                <a:tc>
                  <a:txBody>
                    <a:bodyPr/>
                    <a:lstStyle/>
                    <a:p>
                      <a:r>
                        <a:rPr sz="1875">
                          <a:solidFill>
                            <a:srgbClr val="152F3C"/>
                          </a:solidFill>
                          <a:latin typeface="Helvetica Neue"/>
                          <a:ea typeface="Helvetica Neue"/>
                          <a:cs typeface="Helvetica Neue"/>
                        </a:rPr>
                        <a:t>Separate development selection</a:t>
                      </a:r>
                    </a:p>
                  </a:txBody>
                  <a:tcPr marL="152400" marR="152400" marT="133350" marB="133350">
                    <a:solidFill>
                      <a:srgbClr val="EAF0ED"/>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94F70BF4-513D-44B2-B7B2-1E5BC6C9E5CE}"/>
              </a:ext>
            </a:extLst>
          </p:cNvPr>
          <p:cNvSpPr>
            <a:spLocks noGrp="1"/>
          </p:cNvSpPr>
          <p:nvPr/>
        </p:nvSpPr>
        <p:spPr>
          <a:xfrm>
            <a:off x="609600" y="565785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Matching profiles stay together throughout. Results describe internal validation.</a:t>
            </a:r>
          </a:p>
        </p:txBody>
      </p:sp>
    </p:spTree>
    <p:extLst>
      <p:ext uri="{BB962C8B-B14F-4D97-AF65-F5344CB8AC3E}">
        <p14:creationId xmlns:p14="http://schemas.microsoft.com/office/powerpoint/2010/main" val="1369175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1181D7-25D4-4171-A356-96778E48CCD5}"/>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05 / MODEL COMPARISON</a:t>
            </a:r>
          </a:p>
        </p:txBody>
      </p:sp>
      <p:sp>
        <p:nvSpPr>
          <p:cNvPr id="2" name="Rectangle 1">
            <a:extLst>
              <a:ext uri="{FF2B5EF4-FFF2-40B4-BE49-F238E27FC236}">
                <a16:creationId xmlns:a16="http://schemas.microsoft.com/office/drawing/2014/main" id="{9C7226DF-FE78-477A-B433-006272531EB3}"/>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Model comparison shows closely matched leaders</a:t>
            </a:r>
          </a:p>
        </p:txBody>
      </p:sp>
      <p:sp>
        <p:nvSpPr>
          <p:cNvPr id="3" name="Rectangle 2">
            <a:extLst>
              <a:ext uri="{FF2B5EF4-FFF2-40B4-BE49-F238E27FC236}">
                <a16:creationId xmlns:a16="http://schemas.microsoft.com/office/drawing/2014/main" id="{42813E4F-56AE-47ED-9E36-36D5FBD15FD0}"/>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A1B64F6D-4E92-46FC-97DE-1AD72FFD7B81}"/>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06</a:t>
            </a:r>
          </a:p>
        </p:txBody>
      </p:sp>
      <p:graphicFrame>
        <p:nvGraphicFramePr>
          <p:cNvPr id="11" name="Table 10"/>
          <p:cNvGraphicFramePr/>
          <p:nvPr/>
        </p:nvGraphicFramePr>
        <p:xfrm>
          <a:off x="609600" y="1857375"/>
          <a:ext cx="10972800" cy="3649980"/>
        </p:xfrm>
        <a:graphic>
          <a:graphicData uri="http://schemas.openxmlformats.org/drawingml/2006/table">
            <a:tbl>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5800">
                <a:tc>
                  <a:txBody>
                    <a:bodyPr/>
                    <a:lstStyle/>
                    <a:p>
                      <a:r>
                        <a:rPr sz="2100" b="1">
                          <a:solidFill>
                            <a:srgbClr val="FFFFFF"/>
                          </a:solidFill>
                          <a:latin typeface="Helvetica Neue"/>
                          <a:ea typeface="Helvetica Neue"/>
                          <a:cs typeface="Helvetica Neue"/>
                        </a:rPr>
                        <a:t>Model</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Mean ROC-AUC</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Mean AP</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Mean F1</a:t>
                      </a:r>
                    </a:p>
                  </a:txBody>
                  <a:tcPr marL="152400" marR="152400" marT="133350" marB="133350">
                    <a:solidFill>
                      <a:srgbClr val="152F3C"/>
                    </a:solidFill>
                  </a:tcPr>
                </a:tc>
                <a:extLst>
                  <a:ext uri="{0D108BD9-81ED-4DB2-BD59-A6C34878D82A}">
                    <a16:rowId xmlns:a16="http://schemas.microsoft.com/office/drawing/2014/main" val="10000"/>
                  </a:ext>
                </a:extLst>
              </a:tr>
              <a:tr h="685800">
                <a:tc>
                  <a:txBody>
                    <a:bodyPr/>
                    <a:lstStyle/>
                    <a:p>
                      <a:r>
                        <a:rPr sz="2100">
                          <a:solidFill>
                            <a:srgbClr val="152F3C"/>
                          </a:solidFill>
                          <a:latin typeface="Helvetica Neue"/>
                          <a:ea typeface="Helvetica Neue"/>
                          <a:cs typeface="Helvetica Neue"/>
                        </a:rPr>
                        <a:t>Logistic regression</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0.892</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0.653</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0.537</a:t>
                      </a:r>
                    </a:p>
                  </a:txBody>
                  <a:tcPr marL="152400" marR="152400" marT="133350" marB="133350">
                    <a:solidFill>
                      <a:srgbClr val="F7F5F0"/>
                    </a:solidFill>
                  </a:tcPr>
                </a:tc>
                <a:extLst>
                  <a:ext uri="{0D108BD9-81ED-4DB2-BD59-A6C34878D82A}">
                    <a16:rowId xmlns:a16="http://schemas.microsoft.com/office/drawing/2014/main" val="10001"/>
                  </a:ext>
                </a:extLst>
              </a:tr>
              <a:tr h="685800">
                <a:tc>
                  <a:txBody>
                    <a:bodyPr/>
                    <a:lstStyle/>
                    <a:p>
                      <a:r>
                        <a:rPr sz="2100">
                          <a:solidFill>
                            <a:srgbClr val="152F3C"/>
                          </a:solidFill>
                          <a:latin typeface="Helvetica Neue"/>
                          <a:ea typeface="Helvetica Neue"/>
                          <a:cs typeface="Helvetica Neue"/>
                        </a:rPr>
                        <a:t>Random forest</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0.882</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0.588</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0.509</a:t>
                      </a:r>
                    </a:p>
                  </a:txBody>
                  <a:tcPr marL="152400" marR="152400" marT="133350" marB="133350">
                    <a:solidFill>
                      <a:srgbClr val="EAF0ED"/>
                    </a:solidFill>
                  </a:tcPr>
                </a:tc>
                <a:extLst>
                  <a:ext uri="{0D108BD9-81ED-4DB2-BD59-A6C34878D82A}">
                    <a16:rowId xmlns:a16="http://schemas.microsoft.com/office/drawing/2014/main" val="10002"/>
                  </a:ext>
                </a:extLst>
              </a:tr>
              <a:tr h="685800">
                <a:tc>
                  <a:txBody>
                    <a:bodyPr/>
                    <a:lstStyle/>
                    <a:p>
                      <a:r>
                        <a:rPr sz="2100">
                          <a:solidFill>
                            <a:srgbClr val="152F3C"/>
                          </a:solidFill>
                          <a:latin typeface="Helvetica Neue"/>
                          <a:ea typeface="Helvetica Neue"/>
                          <a:cs typeface="Helvetica Neue"/>
                        </a:rPr>
                        <a:t>SVM with RBF kernel</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0.898</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0.623</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0.548</a:t>
                      </a:r>
                    </a:p>
                  </a:txBody>
                  <a:tcPr marL="152400" marR="152400" marT="133350" marB="133350">
                    <a:solidFill>
                      <a:srgbClr val="F7F5F0"/>
                    </a:solidFill>
                  </a:tcPr>
                </a:tc>
                <a:extLst>
                  <a:ext uri="{0D108BD9-81ED-4DB2-BD59-A6C34878D82A}">
                    <a16:rowId xmlns:a16="http://schemas.microsoft.com/office/drawing/2014/main" val="10003"/>
                  </a:ext>
                </a:extLst>
              </a:tr>
              <a:tr h="685800">
                <a:tc>
                  <a:txBody>
                    <a:bodyPr/>
                    <a:lstStyle/>
                    <a:p>
                      <a:r>
                        <a:rPr sz="2100">
                          <a:solidFill>
                            <a:srgbClr val="152F3C"/>
                          </a:solidFill>
                          <a:latin typeface="Helvetica Neue"/>
                          <a:ea typeface="Helvetica Neue"/>
                          <a:cs typeface="Helvetica Neue"/>
                        </a:rPr>
                        <a:t>XGBoost</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0.901</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0.656</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0.515</a:t>
                      </a:r>
                    </a:p>
                  </a:txBody>
                  <a:tcPr marL="152400" marR="152400" marT="133350" marB="133350">
                    <a:solidFill>
                      <a:srgbClr val="EAF0ED"/>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B103F9B0-9EC1-47A1-ABEC-3878591F8CED}"/>
              </a:ext>
            </a:extLst>
          </p:cNvPr>
          <p:cNvSpPr>
            <a:spLocks noGrp="1"/>
          </p:cNvSpPr>
          <p:nvPr/>
        </p:nvSpPr>
        <p:spPr>
          <a:xfrm>
            <a:off x="609600" y="566737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Same search budget: 8 configurations per family, using 3 inner folds</a:t>
            </a:r>
          </a:p>
        </p:txBody>
      </p:sp>
    </p:spTree>
    <p:extLst>
      <p:ext uri="{BB962C8B-B14F-4D97-AF65-F5344CB8AC3E}">
        <p14:creationId xmlns:p14="http://schemas.microsoft.com/office/powerpoint/2010/main" val="553081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314CD2-B6A8-404F-8A6E-4E435D28BC7A}"/>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06 / SAVED CANDIDATE</a:t>
            </a:r>
          </a:p>
        </p:txBody>
      </p:sp>
      <p:sp>
        <p:nvSpPr>
          <p:cNvPr id="2" name="Rectangle 1">
            <a:extLst>
              <a:ext uri="{FF2B5EF4-FFF2-40B4-BE49-F238E27FC236}">
                <a16:creationId xmlns:a16="http://schemas.microsoft.com/office/drawing/2014/main" id="{A69DC6F3-F887-4EFB-811F-2BB9BCA56D59}"/>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The final development split selects SVM</a:t>
            </a:r>
          </a:p>
        </p:txBody>
      </p:sp>
      <p:sp>
        <p:nvSpPr>
          <p:cNvPr id="3" name="Rectangle 2">
            <a:extLst>
              <a:ext uri="{FF2B5EF4-FFF2-40B4-BE49-F238E27FC236}">
                <a16:creationId xmlns:a16="http://schemas.microsoft.com/office/drawing/2014/main" id="{702F0FD5-489A-4FEE-9DC5-75DCD0939669}"/>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E34618E7-0B54-43BB-9E3B-B24114B82E32}"/>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07</a:t>
            </a:r>
          </a:p>
        </p:txBody>
      </p:sp>
      <p:graphicFrame>
        <p:nvGraphicFramePr>
          <p:cNvPr id="13" name="Table 12"/>
          <p:cNvGraphicFramePr/>
          <p:nvPr/>
        </p:nvGraphicFramePr>
        <p:xfrm>
          <a:off x="609600" y="1857375"/>
          <a:ext cx="6000750" cy="3604260"/>
        </p:xfrm>
        <a:graphic>
          <a:graphicData uri="http://schemas.openxmlformats.org/drawingml/2006/table">
            <a:tbl>
              <a:tblPr/>
              <a:tblGrid>
                <a:gridCol w="38100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tblGrid>
              <a:tr h="685800">
                <a:tc>
                  <a:txBody>
                    <a:bodyPr/>
                    <a:lstStyle/>
                    <a:p>
                      <a:r>
                        <a:rPr sz="1950" b="1">
                          <a:solidFill>
                            <a:srgbClr val="FFFFFF"/>
                          </a:solidFill>
                          <a:latin typeface="Helvetica Neue"/>
                          <a:ea typeface="Helvetica Neue"/>
                          <a:cs typeface="Helvetica Neue"/>
                        </a:rPr>
                        <a:t>Candidate</a:t>
                      </a:r>
                    </a:p>
                  </a:txBody>
                  <a:tcPr marL="152400" marR="152400" marT="133350" marB="133350">
                    <a:solidFill>
                      <a:srgbClr val="152F3C"/>
                    </a:solidFill>
                  </a:tcPr>
                </a:tc>
                <a:tc>
                  <a:txBody>
                    <a:bodyPr/>
                    <a:lstStyle/>
                    <a:p>
                      <a:r>
                        <a:rPr sz="1950" b="1">
                          <a:solidFill>
                            <a:srgbClr val="FFFFFF"/>
                          </a:solidFill>
                          <a:latin typeface="Helvetica Neue"/>
                          <a:ea typeface="Helvetica Neue"/>
                          <a:cs typeface="Helvetica Neue"/>
                        </a:rPr>
                        <a:t>Development CV ROC-AUC</a:t>
                      </a:r>
                    </a:p>
                  </a:txBody>
                  <a:tcPr marL="152400" marR="152400" marT="133350" marB="133350">
                    <a:solidFill>
                      <a:srgbClr val="152F3C"/>
                    </a:solidFill>
                  </a:tcPr>
                </a:tc>
                <a:extLst>
                  <a:ext uri="{0D108BD9-81ED-4DB2-BD59-A6C34878D82A}">
                    <a16:rowId xmlns:a16="http://schemas.microsoft.com/office/drawing/2014/main" val="10000"/>
                  </a:ext>
                </a:extLst>
              </a:tr>
              <a:tr h="685800">
                <a:tc>
                  <a:txBody>
                    <a:bodyPr/>
                    <a:lstStyle/>
                    <a:p>
                      <a:r>
                        <a:rPr sz="1950">
                          <a:solidFill>
                            <a:srgbClr val="152F3C"/>
                          </a:solidFill>
                          <a:latin typeface="Helvetica Neue"/>
                          <a:ea typeface="Helvetica Neue"/>
                          <a:cs typeface="Helvetica Neue"/>
                        </a:rPr>
                        <a:t>SVM with RBF kernel</a:t>
                      </a:r>
                    </a:p>
                  </a:txBody>
                  <a:tcPr marL="152400" marR="152400" marT="133350" marB="133350">
                    <a:solidFill>
                      <a:srgbClr val="F7F5F0"/>
                    </a:solidFill>
                  </a:tcPr>
                </a:tc>
                <a:tc>
                  <a:txBody>
                    <a:bodyPr/>
                    <a:lstStyle/>
                    <a:p>
                      <a:r>
                        <a:rPr sz="1950">
                          <a:solidFill>
                            <a:srgbClr val="152F3C"/>
                          </a:solidFill>
                          <a:latin typeface="Helvetica Neue"/>
                          <a:ea typeface="Helvetica Neue"/>
                          <a:cs typeface="Helvetica Neue"/>
                        </a:rPr>
                        <a:t>0.9001</a:t>
                      </a:r>
                    </a:p>
                  </a:txBody>
                  <a:tcPr marL="152400" marR="152400" marT="133350" marB="133350">
                    <a:solidFill>
                      <a:srgbClr val="F7F5F0"/>
                    </a:solidFill>
                  </a:tcPr>
                </a:tc>
                <a:extLst>
                  <a:ext uri="{0D108BD9-81ED-4DB2-BD59-A6C34878D82A}">
                    <a16:rowId xmlns:a16="http://schemas.microsoft.com/office/drawing/2014/main" val="10001"/>
                  </a:ext>
                </a:extLst>
              </a:tr>
              <a:tr h="685800">
                <a:tc>
                  <a:txBody>
                    <a:bodyPr/>
                    <a:lstStyle/>
                    <a:p>
                      <a:r>
                        <a:rPr sz="1950">
                          <a:solidFill>
                            <a:srgbClr val="152F3C"/>
                          </a:solidFill>
                          <a:latin typeface="Helvetica Neue"/>
                          <a:ea typeface="Helvetica Neue"/>
                          <a:cs typeface="Helvetica Neue"/>
                        </a:rPr>
                        <a:t>Logistic regression</a:t>
                      </a:r>
                    </a:p>
                  </a:txBody>
                  <a:tcPr marL="152400" marR="152400" marT="133350" marB="133350">
                    <a:solidFill>
                      <a:srgbClr val="EAF0ED"/>
                    </a:solidFill>
                  </a:tcPr>
                </a:tc>
                <a:tc>
                  <a:txBody>
                    <a:bodyPr/>
                    <a:lstStyle/>
                    <a:p>
                      <a:r>
                        <a:rPr sz="1950">
                          <a:solidFill>
                            <a:srgbClr val="152F3C"/>
                          </a:solidFill>
                          <a:latin typeface="Helvetica Neue"/>
                          <a:ea typeface="Helvetica Neue"/>
                          <a:cs typeface="Helvetica Neue"/>
                        </a:rPr>
                        <a:t>0.8989</a:t>
                      </a:r>
                    </a:p>
                  </a:txBody>
                  <a:tcPr marL="152400" marR="152400" marT="133350" marB="133350">
                    <a:solidFill>
                      <a:srgbClr val="EAF0ED"/>
                    </a:solidFill>
                  </a:tcPr>
                </a:tc>
                <a:extLst>
                  <a:ext uri="{0D108BD9-81ED-4DB2-BD59-A6C34878D82A}">
                    <a16:rowId xmlns:a16="http://schemas.microsoft.com/office/drawing/2014/main" val="10002"/>
                  </a:ext>
                </a:extLst>
              </a:tr>
              <a:tr h="685800">
                <a:tc>
                  <a:txBody>
                    <a:bodyPr/>
                    <a:lstStyle/>
                    <a:p>
                      <a:r>
                        <a:rPr sz="1950">
                          <a:solidFill>
                            <a:srgbClr val="152F3C"/>
                          </a:solidFill>
                          <a:latin typeface="Helvetica Neue"/>
                          <a:ea typeface="Helvetica Neue"/>
                          <a:cs typeface="Helvetica Neue"/>
                        </a:rPr>
                        <a:t>XGBoost</a:t>
                      </a:r>
                    </a:p>
                  </a:txBody>
                  <a:tcPr marL="152400" marR="152400" marT="133350" marB="133350">
                    <a:solidFill>
                      <a:srgbClr val="F7F5F0"/>
                    </a:solidFill>
                  </a:tcPr>
                </a:tc>
                <a:tc>
                  <a:txBody>
                    <a:bodyPr/>
                    <a:lstStyle/>
                    <a:p>
                      <a:r>
                        <a:rPr sz="1950">
                          <a:solidFill>
                            <a:srgbClr val="152F3C"/>
                          </a:solidFill>
                          <a:latin typeface="Helvetica Neue"/>
                          <a:ea typeface="Helvetica Neue"/>
                          <a:cs typeface="Helvetica Neue"/>
                        </a:rPr>
                        <a:t>0.8946</a:t>
                      </a:r>
                    </a:p>
                  </a:txBody>
                  <a:tcPr marL="152400" marR="152400" marT="133350" marB="133350">
                    <a:solidFill>
                      <a:srgbClr val="F7F5F0"/>
                    </a:solidFill>
                  </a:tcPr>
                </a:tc>
                <a:extLst>
                  <a:ext uri="{0D108BD9-81ED-4DB2-BD59-A6C34878D82A}">
                    <a16:rowId xmlns:a16="http://schemas.microsoft.com/office/drawing/2014/main" val="10003"/>
                  </a:ext>
                </a:extLst>
              </a:tr>
              <a:tr h="685800">
                <a:tc>
                  <a:txBody>
                    <a:bodyPr/>
                    <a:lstStyle/>
                    <a:p>
                      <a:r>
                        <a:rPr sz="1950">
                          <a:solidFill>
                            <a:srgbClr val="152F3C"/>
                          </a:solidFill>
                          <a:latin typeface="Helvetica Neue"/>
                          <a:ea typeface="Helvetica Neue"/>
                          <a:cs typeface="Helvetica Neue"/>
                        </a:rPr>
                        <a:t>Random forest</a:t>
                      </a:r>
                    </a:p>
                  </a:txBody>
                  <a:tcPr marL="152400" marR="152400" marT="133350" marB="133350">
                    <a:solidFill>
                      <a:srgbClr val="EAF0ED"/>
                    </a:solidFill>
                  </a:tcPr>
                </a:tc>
                <a:tc>
                  <a:txBody>
                    <a:bodyPr/>
                    <a:lstStyle/>
                    <a:p>
                      <a:r>
                        <a:rPr sz="1950">
                          <a:solidFill>
                            <a:srgbClr val="152F3C"/>
                          </a:solidFill>
                          <a:latin typeface="Helvetica Neue"/>
                          <a:ea typeface="Helvetica Neue"/>
                          <a:cs typeface="Helvetica Neue"/>
                        </a:rPr>
                        <a:t>0.8760</a:t>
                      </a:r>
                    </a:p>
                  </a:txBody>
                  <a:tcPr marL="152400" marR="152400" marT="133350" marB="133350">
                    <a:solidFill>
                      <a:srgbClr val="EAF0ED"/>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857C3195-DC60-4CA4-893E-82CA1F53286C}"/>
              </a:ext>
            </a:extLst>
          </p:cNvPr>
          <p:cNvSpPr>
            <a:spLocks noGrp="1"/>
          </p:cNvSpPr>
          <p:nvPr/>
        </p:nvSpPr>
        <p:spPr>
          <a:xfrm>
            <a:off x="7286625" y="2162175"/>
            <a:ext cx="4191000" cy="1647825"/>
          </a:xfrm>
          <a:prstGeom prst="rect">
            <a:avLst/>
          </a:prstGeom>
          <a:noFill/>
          <a:ln w="0">
            <a:noFill/>
          </a:ln>
        </p:spPr>
        <p:txBody>
          <a:bodyPr wrap="square" lIns="0" tIns="0" rIns="0" bIns="0" anchor="t">
            <a:noAutofit/>
          </a:bodyPr>
          <a:lstStyle/>
          <a:p>
            <a:pPr>
              <a:defRPr sz="2550" b="1">
                <a:solidFill>
                  <a:srgbClr val="267D88"/>
                </a:solidFill>
                <a:latin typeface="Helvetica Neue"/>
                <a:ea typeface="Helvetica Neue"/>
                <a:cs typeface="Helvetica Neue"/>
              </a:defRPr>
            </a:pPr>
            <a:r>
              <a:rPr sz="2550" b="1">
                <a:solidFill>
                  <a:srgbClr val="267D88"/>
                </a:solidFill>
                <a:latin typeface="Helvetica Neue"/>
                <a:ea typeface="Helvetica Neue"/>
                <a:cs typeface="Helvetica Neue"/>
              </a:rPr>
              <a:t>C = 1</a:t>
            </a:r>
          </a:p>
          <a:p>
            <a:pPr>
              <a:defRPr sz="2550" b="1">
                <a:solidFill>
                  <a:srgbClr val="267D88"/>
                </a:solidFill>
                <a:latin typeface="Helvetica Neue"/>
                <a:ea typeface="Helvetica Neue"/>
                <a:cs typeface="Helvetica Neue"/>
              </a:defRPr>
            </a:pPr>
            <a:r>
              <a:rPr sz="2550" b="1">
                <a:solidFill>
                  <a:srgbClr val="267D88"/>
                </a:solidFill>
                <a:latin typeface="Helvetica Neue"/>
                <a:ea typeface="Helvetica Neue"/>
                <a:cs typeface="Helvetica Neue"/>
              </a:rPr>
              <a:t>γ = 0.01</a:t>
            </a:r>
          </a:p>
          <a:p>
            <a:pPr>
              <a:defRPr sz="2550" b="1">
                <a:solidFill>
                  <a:srgbClr val="267D88"/>
                </a:solidFill>
                <a:latin typeface="Helvetica Neue"/>
                <a:ea typeface="Helvetica Neue"/>
                <a:cs typeface="Helvetica Neue"/>
              </a:defRPr>
            </a:pPr>
            <a:r>
              <a:rPr sz="2550" b="1">
                <a:solidFill>
                  <a:srgbClr val="267D88"/>
                </a:solidFill>
                <a:latin typeface="Helvetica Neue"/>
                <a:ea typeface="Helvetica Neue"/>
                <a:cs typeface="Helvetica Neue"/>
              </a:rPr>
              <a:t>42 selected features</a:t>
            </a:r>
          </a:p>
        </p:txBody>
      </p:sp>
      <p:sp>
        <p:nvSpPr>
          <p:cNvPr id="7" name="Rectangle 6">
            <a:extLst>
              <a:ext uri="{FF2B5EF4-FFF2-40B4-BE49-F238E27FC236}">
                <a16:creationId xmlns:a16="http://schemas.microsoft.com/office/drawing/2014/main" id="{655B8858-4BF0-4221-AD27-01447A1B6252}"/>
              </a:ext>
            </a:extLst>
          </p:cNvPr>
          <p:cNvSpPr>
            <a:spLocks noGrp="1"/>
          </p:cNvSpPr>
          <p:nvPr/>
        </p:nvSpPr>
        <p:spPr>
          <a:xfrm>
            <a:off x="7286625" y="4238625"/>
            <a:ext cx="4048125" cy="127635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Save the fitted pipeline with its validated contact thresholds.</a:t>
            </a:r>
          </a:p>
        </p:txBody>
      </p:sp>
      <p:sp>
        <p:nvSpPr>
          <p:cNvPr id="8" name="Rectangle 7">
            <a:extLst>
              <a:ext uri="{FF2B5EF4-FFF2-40B4-BE49-F238E27FC236}">
                <a16:creationId xmlns:a16="http://schemas.microsoft.com/office/drawing/2014/main" id="{B3B7F865-EEF1-4823-A09D-9D2CA89190F6}"/>
              </a:ext>
            </a:extLst>
          </p:cNvPr>
          <p:cNvSpPr>
            <a:spLocks noGrp="1"/>
          </p:cNvSpPr>
          <p:nvPr/>
        </p:nvSpPr>
        <p:spPr>
          <a:xfrm>
            <a:off x="609600" y="573405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The 0.0012 AUC lead is small. The saved candidate still needs prospective validation.</a:t>
            </a:r>
          </a:p>
        </p:txBody>
      </p:sp>
    </p:spTree>
    <p:extLst>
      <p:ext uri="{BB962C8B-B14F-4D97-AF65-F5344CB8AC3E}">
        <p14:creationId xmlns:p14="http://schemas.microsoft.com/office/powerpoint/2010/main" val="65051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61B2A4-2BE0-434E-B4CB-9F014F014331}"/>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07 / FULL PROCEDURE RESULTS</a:t>
            </a:r>
          </a:p>
        </p:txBody>
      </p:sp>
      <p:sp>
        <p:nvSpPr>
          <p:cNvPr id="2" name="Rectangle 1">
            <a:extLst>
              <a:ext uri="{FF2B5EF4-FFF2-40B4-BE49-F238E27FC236}">
                <a16:creationId xmlns:a16="http://schemas.microsoft.com/office/drawing/2014/main" id="{AD3E4615-4A27-4A5E-9355-7B0E6B1EF16A}"/>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The evaluated policy captures 191 responders</a:t>
            </a:r>
          </a:p>
        </p:txBody>
      </p:sp>
      <p:sp>
        <p:nvSpPr>
          <p:cNvPr id="3" name="Rectangle 2">
            <a:extLst>
              <a:ext uri="{FF2B5EF4-FFF2-40B4-BE49-F238E27FC236}">
                <a16:creationId xmlns:a16="http://schemas.microsoft.com/office/drawing/2014/main" id="{BFEFC5D1-EC3A-4D72-903C-5099EE61E5D8}"/>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025E6223-B34E-4ED1-8C65-3A7E032AD84D}"/>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08</a:t>
            </a:r>
          </a:p>
        </p:txBody>
      </p:sp>
      <p:graphicFrame>
        <p:nvGraphicFramePr>
          <p:cNvPr id="14" name="Table 13"/>
          <p:cNvGraphicFramePr/>
          <p:nvPr/>
        </p:nvGraphicFramePr>
        <p:xfrm>
          <a:off x="609600" y="2000250"/>
          <a:ext cx="6381750" cy="2476500"/>
        </p:xfrm>
        <a:graphic>
          <a:graphicData uri="http://schemas.openxmlformats.org/drawingml/2006/table">
            <a:tbl>
              <a:tblPr/>
              <a:tblGrid>
                <a:gridCol w="2762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825500">
                <a:tc>
                  <a:txBody>
                    <a:bodyPr/>
                    <a:lstStyle/>
                    <a:p>
                      <a:r>
                        <a:rPr sz="2175" b="1">
                          <a:solidFill>
                            <a:srgbClr val="FFFFFF"/>
                          </a:solidFill>
                          <a:latin typeface="Helvetica Neue"/>
                          <a:ea typeface="Helvetica Neue"/>
                          <a:cs typeface="Helvetica Neue"/>
                        </a:rPr>
                        <a:t>Actual outcome</a:t>
                      </a:r>
                    </a:p>
                  </a:txBody>
                  <a:tcPr marL="152400" marR="152400" marT="133350" marB="133350">
                    <a:solidFill>
                      <a:srgbClr val="152F3C"/>
                    </a:solidFill>
                  </a:tcPr>
                </a:tc>
                <a:tc>
                  <a:txBody>
                    <a:bodyPr/>
                    <a:lstStyle/>
                    <a:p>
                      <a:r>
                        <a:rPr sz="2175" b="1">
                          <a:solidFill>
                            <a:srgbClr val="FFFFFF"/>
                          </a:solidFill>
                          <a:latin typeface="Helvetica Neue"/>
                          <a:ea typeface="Helvetica Neue"/>
                          <a:cs typeface="Helvetica Neue"/>
                        </a:rPr>
                        <a:t>Contact</a:t>
                      </a:r>
                    </a:p>
                  </a:txBody>
                  <a:tcPr marL="152400" marR="152400" marT="133350" marB="133350">
                    <a:solidFill>
                      <a:srgbClr val="152F3C"/>
                    </a:solidFill>
                  </a:tcPr>
                </a:tc>
                <a:tc>
                  <a:txBody>
                    <a:bodyPr/>
                    <a:lstStyle/>
                    <a:p>
                      <a:r>
                        <a:rPr sz="2175" b="1">
                          <a:solidFill>
                            <a:srgbClr val="FFFFFF"/>
                          </a:solidFill>
                          <a:latin typeface="Helvetica Neue"/>
                          <a:ea typeface="Helvetica Neue"/>
                          <a:cs typeface="Helvetica Neue"/>
                        </a:rPr>
                        <a:t>No contact</a:t>
                      </a:r>
                    </a:p>
                  </a:txBody>
                  <a:tcPr marL="152400" marR="152400" marT="133350" marB="133350">
                    <a:solidFill>
                      <a:srgbClr val="152F3C"/>
                    </a:solidFill>
                  </a:tcPr>
                </a:tc>
                <a:extLst>
                  <a:ext uri="{0D108BD9-81ED-4DB2-BD59-A6C34878D82A}">
                    <a16:rowId xmlns:a16="http://schemas.microsoft.com/office/drawing/2014/main" val="10000"/>
                  </a:ext>
                </a:extLst>
              </a:tr>
              <a:tr h="825500">
                <a:tc>
                  <a:txBody>
                    <a:bodyPr/>
                    <a:lstStyle/>
                    <a:p>
                      <a:r>
                        <a:rPr sz="2175">
                          <a:solidFill>
                            <a:srgbClr val="152F3C"/>
                          </a:solidFill>
                          <a:latin typeface="Helvetica Neue"/>
                          <a:ea typeface="Helvetica Neue"/>
                          <a:cs typeface="Helvetica Neue"/>
                        </a:rPr>
                        <a:t>Responded</a:t>
                      </a:r>
                    </a:p>
                  </a:txBody>
                  <a:tcPr marL="152400" marR="152400" marT="133350" marB="133350">
                    <a:solidFill>
                      <a:srgbClr val="F7F5F0"/>
                    </a:solidFill>
                  </a:tcPr>
                </a:tc>
                <a:tc>
                  <a:txBody>
                    <a:bodyPr/>
                    <a:lstStyle/>
                    <a:p>
                      <a:r>
                        <a:rPr sz="2175">
                          <a:solidFill>
                            <a:srgbClr val="152F3C"/>
                          </a:solidFill>
                          <a:latin typeface="Helvetica Neue"/>
                          <a:ea typeface="Helvetica Neue"/>
                          <a:cs typeface="Helvetica Neue"/>
                        </a:rPr>
                        <a:t>191</a:t>
                      </a:r>
                    </a:p>
                  </a:txBody>
                  <a:tcPr marL="152400" marR="152400" marT="133350" marB="133350">
                    <a:solidFill>
                      <a:srgbClr val="F7F5F0"/>
                    </a:solidFill>
                  </a:tcPr>
                </a:tc>
                <a:tc>
                  <a:txBody>
                    <a:bodyPr/>
                    <a:lstStyle/>
                    <a:p>
                      <a:r>
                        <a:rPr sz="2175">
                          <a:solidFill>
                            <a:srgbClr val="152F3C"/>
                          </a:solidFill>
                          <a:latin typeface="Helvetica Neue"/>
                          <a:ea typeface="Helvetica Neue"/>
                          <a:cs typeface="Helvetica Neue"/>
                        </a:rPr>
                        <a:t>143</a:t>
                      </a:r>
                    </a:p>
                  </a:txBody>
                  <a:tcPr marL="152400" marR="152400" marT="133350" marB="133350">
                    <a:solidFill>
                      <a:srgbClr val="F7F5F0"/>
                    </a:solidFill>
                  </a:tcPr>
                </a:tc>
                <a:extLst>
                  <a:ext uri="{0D108BD9-81ED-4DB2-BD59-A6C34878D82A}">
                    <a16:rowId xmlns:a16="http://schemas.microsoft.com/office/drawing/2014/main" val="10001"/>
                  </a:ext>
                </a:extLst>
              </a:tr>
              <a:tr h="825500">
                <a:tc>
                  <a:txBody>
                    <a:bodyPr/>
                    <a:lstStyle/>
                    <a:p>
                      <a:r>
                        <a:rPr sz="2175">
                          <a:solidFill>
                            <a:srgbClr val="152F3C"/>
                          </a:solidFill>
                          <a:latin typeface="Helvetica Neue"/>
                          <a:ea typeface="Helvetica Neue"/>
                          <a:cs typeface="Helvetica Neue"/>
                        </a:rPr>
                        <a:t>Did not respond</a:t>
                      </a:r>
                    </a:p>
                  </a:txBody>
                  <a:tcPr marL="152400" marR="152400" marT="133350" marB="133350">
                    <a:solidFill>
                      <a:srgbClr val="EAF0ED"/>
                    </a:solidFill>
                  </a:tcPr>
                </a:tc>
                <a:tc>
                  <a:txBody>
                    <a:bodyPr/>
                    <a:lstStyle/>
                    <a:p>
                      <a:r>
                        <a:rPr sz="2175">
                          <a:solidFill>
                            <a:srgbClr val="152F3C"/>
                          </a:solidFill>
                          <a:latin typeface="Helvetica Neue"/>
                          <a:ea typeface="Helvetica Neue"/>
                          <a:cs typeface="Helvetica Neue"/>
                        </a:rPr>
                        <a:t>174</a:t>
                      </a:r>
                    </a:p>
                  </a:txBody>
                  <a:tcPr marL="152400" marR="152400" marT="133350" marB="133350">
                    <a:solidFill>
                      <a:srgbClr val="EAF0ED"/>
                    </a:solidFill>
                  </a:tcPr>
                </a:tc>
                <a:tc>
                  <a:txBody>
                    <a:bodyPr/>
                    <a:lstStyle/>
                    <a:p>
                      <a:r>
                        <a:rPr sz="2175">
                          <a:solidFill>
                            <a:srgbClr val="152F3C"/>
                          </a:solidFill>
                          <a:latin typeface="Helvetica Neue"/>
                          <a:ea typeface="Helvetica Neue"/>
                          <a:cs typeface="Helvetica Neue"/>
                        </a:rPr>
                        <a:t>1,728</a:t>
                      </a:r>
                    </a:p>
                  </a:txBody>
                  <a:tcPr marL="152400" marR="152400" marT="133350" marB="133350">
                    <a:solidFill>
                      <a:srgbClr val="EAF0ED"/>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0C0083BF-0BE7-493F-BA23-13E46ED24774}"/>
              </a:ext>
            </a:extLst>
          </p:cNvPr>
          <p:cNvSpPr>
            <a:spLocks noGrp="1"/>
          </p:cNvSpPr>
          <p:nvPr/>
        </p:nvSpPr>
        <p:spPr>
          <a:xfrm>
            <a:off x="7953375" y="2009775"/>
            <a:ext cx="3333750" cy="857250"/>
          </a:xfrm>
          <a:prstGeom prst="rect">
            <a:avLst/>
          </a:prstGeom>
          <a:noFill/>
          <a:ln w="0">
            <a:noFill/>
          </a:ln>
        </p:spPr>
        <p:txBody>
          <a:bodyPr wrap="square" lIns="0" tIns="0" rIns="0" bIns="0" anchor="t">
            <a:noAutofit/>
          </a:bodyPr>
          <a:lstStyle/>
          <a:p>
            <a:pPr>
              <a:defRPr sz="5550" b="1">
                <a:solidFill>
                  <a:srgbClr val="267D88"/>
                </a:solidFill>
                <a:latin typeface="Helvetica Neue"/>
                <a:ea typeface="Helvetica Neue"/>
                <a:cs typeface="Helvetica Neue"/>
              </a:defRPr>
            </a:pPr>
            <a:r>
              <a:rPr sz="5550" b="1">
                <a:solidFill>
                  <a:srgbClr val="267D88"/>
                </a:solidFill>
                <a:latin typeface="Helvetica Neue"/>
                <a:ea typeface="Helvetica Neue"/>
                <a:cs typeface="Helvetica Neue"/>
              </a:rPr>
              <a:t>0.892</a:t>
            </a:r>
          </a:p>
        </p:txBody>
      </p:sp>
      <p:sp>
        <p:nvSpPr>
          <p:cNvPr id="7" name="Rectangle 6">
            <a:extLst>
              <a:ext uri="{FF2B5EF4-FFF2-40B4-BE49-F238E27FC236}">
                <a16:creationId xmlns:a16="http://schemas.microsoft.com/office/drawing/2014/main" id="{A3D4B7DE-AA43-44FC-BFA0-D2EB84E37877}"/>
              </a:ext>
            </a:extLst>
          </p:cNvPr>
          <p:cNvSpPr>
            <a:spLocks noGrp="1"/>
          </p:cNvSpPr>
          <p:nvPr/>
        </p:nvSpPr>
        <p:spPr>
          <a:xfrm>
            <a:off x="7953375" y="2924175"/>
            <a:ext cx="3429000" cy="647700"/>
          </a:xfrm>
          <a:prstGeom prst="rect">
            <a:avLst/>
          </a:prstGeom>
          <a:noFill/>
          <a:ln w="0">
            <a:noFill/>
          </a:ln>
        </p:spPr>
        <p:txBody>
          <a:bodyPr wrap="square" lIns="0" tIns="0" rIns="0" bIns="0" anchor="t">
            <a:noAutofit/>
          </a:bodyPr>
          <a:lstStyle/>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Mean outer ROC-AUC</a:t>
            </a:r>
          </a:p>
        </p:txBody>
      </p:sp>
      <p:sp>
        <p:nvSpPr>
          <p:cNvPr id="8" name="Rectangle 7">
            <a:extLst>
              <a:ext uri="{FF2B5EF4-FFF2-40B4-BE49-F238E27FC236}">
                <a16:creationId xmlns:a16="http://schemas.microsoft.com/office/drawing/2014/main" id="{95E79966-1C9E-492A-B98F-517D68AC5EE1}"/>
              </a:ext>
            </a:extLst>
          </p:cNvPr>
          <p:cNvSpPr>
            <a:spLocks noGrp="1"/>
          </p:cNvSpPr>
          <p:nvPr/>
        </p:nvSpPr>
        <p:spPr>
          <a:xfrm>
            <a:off x="7953375" y="4019550"/>
            <a:ext cx="3333750" cy="1524000"/>
          </a:xfrm>
          <a:prstGeom prst="rect">
            <a:avLst/>
          </a:prstGeom>
          <a:noFill/>
          <a:ln w="0">
            <a:noFill/>
          </a:ln>
        </p:spPr>
        <p:txBody>
          <a:bodyPr wrap="square" lIns="0" tIns="0" rIns="0" bIns="0" anchor="t">
            <a:noAutofit/>
          </a:bodyPr>
          <a:lstStyle/>
          <a:p>
            <a:pPr>
              <a:defRPr sz="2325" b="1">
                <a:solidFill>
                  <a:srgbClr val="152F3C"/>
                </a:solidFill>
                <a:latin typeface="Helvetica Neue"/>
                <a:ea typeface="Helvetica Neue"/>
                <a:cs typeface="Helvetica Neue"/>
              </a:defRPr>
            </a:pPr>
            <a:r>
              <a:rPr sz="2325" b="1">
                <a:solidFill>
                  <a:srgbClr val="152F3C"/>
                </a:solidFill>
                <a:latin typeface="Helvetica Neue"/>
                <a:ea typeface="Helvetica Neue"/>
                <a:cs typeface="Helvetica Neue"/>
              </a:rPr>
              <a:t>52.3% precision</a:t>
            </a:r>
          </a:p>
          <a:p>
            <a:pPr>
              <a:defRPr sz="2325" b="1">
                <a:solidFill>
                  <a:srgbClr val="152F3C"/>
                </a:solidFill>
                <a:latin typeface="Helvetica Neue"/>
                <a:ea typeface="Helvetica Neue"/>
                <a:cs typeface="Helvetica Neue"/>
              </a:defRPr>
            </a:pPr>
            <a:r>
              <a:rPr sz="2325" b="1">
                <a:solidFill>
                  <a:srgbClr val="152F3C"/>
                </a:solidFill>
                <a:latin typeface="Helvetica Neue"/>
                <a:ea typeface="Helvetica Neue"/>
                <a:cs typeface="Helvetica Neue"/>
              </a:rPr>
              <a:t>57.2% recall</a:t>
            </a:r>
          </a:p>
          <a:p>
            <a:pPr>
              <a:defRPr sz="2325" b="1">
                <a:solidFill>
                  <a:srgbClr val="152F3C"/>
                </a:solidFill>
                <a:latin typeface="Helvetica Neue"/>
                <a:ea typeface="Helvetica Neue"/>
                <a:cs typeface="Helvetica Neue"/>
              </a:defRPr>
            </a:pPr>
            <a:r>
              <a:rPr sz="2325" b="1">
                <a:solidFill>
                  <a:srgbClr val="152F3C"/>
                </a:solidFill>
                <a:latin typeface="Helvetica Neue"/>
                <a:ea typeface="Helvetica Neue"/>
                <a:cs typeface="Helvetica Neue"/>
              </a:rPr>
              <a:t>0.546 F1</a:t>
            </a:r>
          </a:p>
        </p:txBody>
      </p:sp>
      <p:sp>
        <p:nvSpPr>
          <p:cNvPr id="9" name="Rectangle 8">
            <a:extLst>
              <a:ext uri="{FF2B5EF4-FFF2-40B4-BE49-F238E27FC236}">
                <a16:creationId xmlns:a16="http://schemas.microsoft.com/office/drawing/2014/main" id="{CA02444A-D6E0-46AF-BFA0-7E47E2E71707}"/>
              </a:ext>
            </a:extLst>
          </p:cNvPr>
          <p:cNvSpPr>
            <a:spLocks noGrp="1"/>
          </p:cNvSpPr>
          <p:nvPr/>
        </p:nvSpPr>
        <p:spPr>
          <a:xfrm>
            <a:off x="609600" y="566737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365 contacts out of 2,236 customers (16.3%) across five evaluation folds</a:t>
            </a:r>
          </a:p>
        </p:txBody>
      </p:sp>
    </p:spTree>
    <p:extLst>
      <p:ext uri="{BB962C8B-B14F-4D97-AF65-F5344CB8AC3E}">
        <p14:creationId xmlns:p14="http://schemas.microsoft.com/office/powerpoint/2010/main" val="948742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9F3ACC2-16A7-48F0-B155-9693261E99FF}"/>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08 / EXPLAINABILITY</a:t>
            </a:r>
          </a:p>
        </p:txBody>
      </p:sp>
      <p:sp>
        <p:nvSpPr>
          <p:cNvPr id="2" name="Rectangle 1">
            <a:extLst>
              <a:ext uri="{FF2B5EF4-FFF2-40B4-BE49-F238E27FC236}">
                <a16:creationId xmlns:a16="http://schemas.microsoft.com/office/drawing/2014/main" id="{C585A79C-0031-4C1B-A37F-C1C237DECD3E}"/>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Recency leads the sampled SHAP ranking</a:t>
            </a:r>
          </a:p>
        </p:txBody>
      </p:sp>
      <p:sp>
        <p:nvSpPr>
          <p:cNvPr id="3" name="Rectangle 2">
            <a:extLst>
              <a:ext uri="{FF2B5EF4-FFF2-40B4-BE49-F238E27FC236}">
                <a16:creationId xmlns:a16="http://schemas.microsoft.com/office/drawing/2014/main" id="{7A6E5FD6-2662-4CEE-801B-B50881B9B1C0}"/>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5600EE10-689D-48A3-B1F2-A14E600160B1}"/>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09</a:t>
            </a:r>
          </a:p>
        </p:txBody>
      </p:sp>
      <p:graphicFrame>
        <p:nvGraphicFramePr>
          <p:cNvPr id="13" name="Chart"/>
          <p:cNvGraphicFramePr/>
          <p:nvPr/>
        </p:nvGraphicFramePr>
        <p:xfrm>
          <a:off x="609600" y="1905000"/>
          <a:ext cx="74295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6CF38E54-110F-46EF-BE73-44EF127BC856}"/>
              </a:ext>
            </a:extLst>
          </p:cNvPr>
          <p:cNvSpPr>
            <a:spLocks noGrp="1"/>
          </p:cNvSpPr>
          <p:nvPr/>
        </p:nvSpPr>
        <p:spPr>
          <a:xfrm>
            <a:off x="8639175" y="2028825"/>
            <a:ext cx="2762250" cy="1066800"/>
          </a:xfrm>
          <a:prstGeom prst="rect">
            <a:avLst/>
          </a:prstGeom>
          <a:noFill/>
          <a:ln w="0">
            <a:noFill/>
          </a:ln>
        </p:spPr>
        <p:txBody>
          <a:bodyPr wrap="square" lIns="0" tIns="0" rIns="0" bIns="0" anchor="t">
            <a:noAutofit/>
          </a:bodyPr>
          <a:lstStyle/>
          <a:p>
            <a:pPr>
              <a:defRPr sz="2250" b="1">
                <a:solidFill>
                  <a:srgbClr val="267D88"/>
                </a:solidFill>
                <a:latin typeface="Helvetica Neue"/>
                <a:ea typeface="Helvetica Neue"/>
                <a:cs typeface="Helvetica Neue"/>
              </a:defRPr>
            </a:pPr>
            <a:r>
              <a:rPr sz="2250" b="1">
                <a:solidFill>
                  <a:srgbClr val="267D88"/>
                </a:solidFill>
                <a:latin typeface="Helvetica Neue"/>
                <a:ea typeface="Helvetica Neue"/>
                <a:cs typeface="Helvetica Neue"/>
              </a:rPr>
              <a:t>40 explained</a:t>
            </a:r>
          </a:p>
          <a:p>
            <a:pPr>
              <a:defRPr sz="2250" b="1">
                <a:solidFill>
                  <a:srgbClr val="267D88"/>
                </a:solidFill>
                <a:latin typeface="Helvetica Neue"/>
                <a:ea typeface="Helvetica Neue"/>
                <a:cs typeface="Helvetica Neue"/>
              </a:defRPr>
            </a:pPr>
            <a:r>
              <a:rPr sz="2250" b="1">
                <a:solidFill>
                  <a:srgbClr val="267D88"/>
                </a:solidFill>
                <a:latin typeface="Helvetica Neue"/>
                <a:ea typeface="Helvetica Neue"/>
                <a:cs typeface="Helvetica Neue"/>
              </a:rPr>
              <a:t>validation records</a:t>
            </a:r>
          </a:p>
        </p:txBody>
      </p:sp>
      <p:sp>
        <p:nvSpPr>
          <p:cNvPr id="7" name="Rectangle 6">
            <a:extLst>
              <a:ext uri="{FF2B5EF4-FFF2-40B4-BE49-F238E27FC236}">
                <a16:creationId xmlns:a16="http://schemas.microsoft.com/office/drawing/2014/main" id="{694BC266-85EF-4F4C-8B75-7F2EFCE40E7C}"/>
              </a:ext>
            </a:extLst>
          </p:cNvPr>
          <p:cNvSpPr>
            <a:spLocks noGrp="1"/>
          </p:cNvSpPr>
          <p:nvPr/>
        </p:nvSpPr>
        <p:spPr>
          <a:xfrm>
            <a:off x="8639175" y="3600450"/>
            <a:ext cx="2762250" cy="1771650"/>
          </a:xfrm>
          <a:prstGeom prst="rect">
            <a:avLst/>
          </a:prstGeom>
          <a:noFill/>
          <a:ln w="0">
            <a:noFill/>
          </a:ln>
        </p:spPr>
        <p:txBody>
          <a:bodyPr wrap="square" lIns="0" tIns="0" rIns="0" bIns="0" anchor="t">
            <a:noAutofit/>
          </a:bodyPr>
          <a:lstStyle/>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Model score scale</a:t>
            </a:r>
          </a:p>
          <a:p>
            <a:endParaRPr sz="2025" b="0">
              <a:solidFill>
                <a:srgbClr val="152F3C"/>
              </a:solidFill>
              <a:latin typeface="Helvetica Neue"/>
              <a:ea typeface="Helvetica Neue"/>
              <a:cs typeface="Helvetica Neue"/>
            </a:endParaRPr>
          </a:p>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Correlated features share attribution.</a:t>
            </a:r>
          </a:p>
        </p:txBody>
      </p:sp>
      <p:sp>
        <p:nvSpPr>
          <p:cNvPr id="8" name="Rectangle 7">
            <a:extLst>
              <a:ext uri="{FF2B5EF4-FFF2-40B4-BE49-F238E27FC236}">
                <a16:creationId xmlns:a16="http://schemas.microsoft.com/office/drawing/2014/main" id="{39590BAB-0A86-4CCA-926B-D89B15DA96E7}"/>
              </a:ext>
            </a:extLst>
          </p:cNvPr>
          <p:cNvSpPr>
            <a:spLocks noGrp="1"/>
          </p:cNvSpPr>
          <p:nvPr/>
        </p:nvSpPr>
        <p:spPr>
          <a:xfrm>
            <a:off x="609600" y="575310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PDP and ICE add direction checks. Explanations show associations, not causal effects.</a:t>
            </a:r>
          </a:p>
        </p:txBody>
      </p:sp>
    </p:spTree>
    <p:extLst>
      <p:ext uri="{BB962C8B-B14F-4D97-AF65-F5344CB8AC3E}">
        <p14:creationId xmlns:p14="http://schemas.microsoft.com/office/powerpoint/2010/main" val="1051448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9E7BCB-7A75-47DD-9705-D49396AF72FD}"/>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09 / BIAS AND FAIRNESS</a:t>
            </a:r>
          </a:p>
        </p:txBody>
      </p:sp>
      <p:sp>
        <p:nvSpPr>
          <p:cNvPr id="2" name="Rectangle 1">
            <a:extLst>
              <a:ext uri="{FF2B5EF4-FFF2-40B4-BE49-F238E27FC236}">
                <a16:creationId xmlns:a16="http://schemas.microsoft.com/office/drawing/2014/main" id="{03CB046B-DD8A-42BF-A5AE-E5ADA32BA8E9}"/>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The access adjustment improves one group ratio</a:t>
            </a:r>
          </a:p>
        </p:txBody>
      </p:sp>
      <p:sp>
        <p:nvSpPr>
          <p:cNvPr id="3" name="Rectangle 2">
            <a:extLst>
              <a:ext uri="{FF2B5EF4-FFF2-40B4-BE49-F238E27FC236}">
                <a16:creationId xmlns:a16="http://schemas.microsoft.com/office/drawing/2014/main" id="{0D37590C-2044-43B7-9040-F381AAF8245B}"/>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2B153EF1-789D-4427-B8C1-444E8D7001EA}"/>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10</a:t>
            </a:r>
          </a:p>
        </p:txBody>
      </p:sp>
      <p:graphicFrame>
        <p:nvGraphicFramePr>
          <p:cNvPr id="13" name="Chart"/>
          <p:cNvGraphicFramePr/>
          <p:nvPr/>
        </p:nvGraphicFramePr>
        <p:xfrm>
          <a:off x="609600" y="2095500"/>
          <a:ext cx="6191250" cy="32385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12424AAC-036E-4522-B608-74D315F7A97A}"/>
              </a:ext>
            </a:extLst>
          </p:cNvPr>
          <p:cNvSpPr>
            <a:spLocks noGrp="1"/>
          </p:cNvSpPr>
          <p:nvPr/>
        </p:nvSpPr>
        <p:spPr>
          <a:xfrm>
            <a:off x="609600" y="1809750"/>
            <a:ext cx="6858000" cy="304800"/>
          </a:xfrm>
          <a:prstGeom prst="rect">
            <a:avLst/>
          </a:prstGeom>
          <a:noFill/>
          <a:ln w="0">
            <a:noFill/>
          </a:ln>
        </p:spPr>
        <p:txBody>
          <a:bodyPr wrap="square" lIns="0" tIns="0" rIns="0" bIns="0" anchor="t">
            <a:noAutofit/>
          </a:bodyPr>
          <a:lstStyle/>
          <a:p>
            <a:pPr>
              <a:defRPr sz="1875" b="1">
                <a:solidFill>
                  <a:srgbClr val="152F3C"/>
                </a:solidFill>
                <a:latin typeface="Helvetica Neue"/>
                <a:ea typeface="Helvetica Neue"/>
                <a:cs typeface="Helvetica Neue"/>
              </a:defRPr>
            </a:pPr>
            <a:r>
              <a:rPr sz="1875" b="1">
                <a:solidFill>
                  <a:srgbClr val="152F3C"/>
                </a:solidFill>
                <a:latin typeface="Helvetica Neue"/>
                <a:ea typeface="Helvetica Neue"/>
                <a:cs typeface="Helvetica Neue"/>
              </a:rPr>
              <a:t>Children-at-home groups</a:t>
            </a:r>
          </a:p>
        </p:txBody>
      </p:sp>
      <p:sp>
        <p:nvSpPr>
          <p:cNvPr id="7" name="Rectangle 6">
            <a:extLst>
              <a:ext uri="{FF2B5EF4-FFF2-40B4-BE49-F238E27FC236}">
                <a16:creationId xmlns:a16="http://schemas.microsoft.com/office/drawing/2014/main" id="{E9C1EEF9-CE6E-4569-B252-1F81120F5C63}"/>
              </a:ext>
            </a:extLst>
          </p:cNvPr>
          <p:cNvSpPr>
            <a:spLocks noGrp="1"/>
          </p:cNvSpPr>
          <p:nvPr/>
        </p:nvSpPr>
        <p:spPr>
          <a:xfrm>
            <a:off x="7658100" y="1971675"/>
            <a:ext cx="3924300" cy="257175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Residual selection ratios</a:t>
            </a:r>
          </a:p>
          <a:p>
            <a:endParaRPr sz="2175" b="0">
              <a:solidFill>
                <a:srgbClr val="152F3C"/>
              </a:solidFill>
              <a:latin typeface="Helvetica Neue"/>
              <a:ea typeface="Helvetica Neue"/>
              <a:cs typeface="Helvetica Neue"/>
            </a:endParaRPr>
          </a:p>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Income: 0.351</a:t>
            </a:r>
          </a:p>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Education: 0.420</a:t>
            </a:r>
          </a:p>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Age: 0.656</a:t>
            </a:r>
          </a:p>
        </p:txBody>
      </p:sp>
      <p:sp>
        <p:nvSpPr>
          <p:cNvPr id="8" name="Rectangle 7">
            <a:extLst>
              <a:ext uri="{FF2B5EF4-FFF2-40B4-BE49-F238E27FC236}">
                <a16:creationId xmlns:a16="http://schemas.microsoft.com/office/drawing/2014/main" id="{2A18842A-2F0D-493E-87B7-57611E5C4349}"/>
              </a:ext>
            </a:extLst>
          </p:cNvPr>
          <p:cNvSpPr>
            <a:spLocks noGrp="1"/>
          </p:cNvSpPr>
          <p:nvPr/>
        </p:nvSpPr>
        <p:spPr>
          <a:xfrm>
            <a:off x="609600" y="5753100"/>
            <a:ext cx="10972800" cy="590550"/>
          </a:xfrm>
          <a:prstGeom prst="rect">
            <a:avLst/>
          </a:prstGeom>
          <a:noFill/>
          <a:ln w="0">
            <a:noFill/>
          </a:ln>
        </p:spPr>
        <p:txBody>
          <a:bodyPr wrap="square" lIns="0" tIns="0" rIns="0" bIns="0" anchor="t">
            <a:noAutofit/>
          </a:bodyPr>
          <a:lstStyle/>
          <a:p>
            <a:pPr>
              <a:defRPr sz="1800" b="0">
                <a:solidFill>
                  <a:srgbClr val="B85831"/>
                </a:solidFill>
                <a:latin typeface="Helvetica Neue"/>
                <a:ea typeface="Helvetica Neue"/>
                <a:cs typeface="Helvetica Neue"/>
              </a:defRPr>
            </a:pPr>
            <a:r>
              <a:rPr sz="1800" b="0">
                <a:solidFill>
                  <a:srgbClr val="B85831"/>
                </a:solidFill>
                <a:latin typeface="Helvetica Neue"/>
                <a:ea typeface="Helvetica Neue"/>
                <a:cs typeface="Helvetica Neue"/>
              </a:rPr>
              <a:t>One ratio cannot establish fairness. Some groups are small and key attributes are absent.</a:t>
            </a:r>
          </a:p>
        </p:txBody>
      </p:sp>
    </p:spTree>
    <p:extLst>
      <p:ext uri="{BB962C8B-B14F-4D97-AF65-F5344CB8AC3E}">
        <p14:creationId xmlns:p14="http://schemas.microsoft.com/office/powerpoint/2010/main" val="747973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DD70E42-2AA7-44FB-9474-F9D517D35EAD}"/>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10 / SUPPORTING SEGMENTATION</a:t>
            </a:r>
          </a:p>
        </p:txBody>
      </p:sp>
      <p:sp>
        <p:nvSpPr>
          <p:cNvPr id="2" name="Rectangle 1">
            <a:extLst>
              <a:ext uri="{FF2B5EF4-FFF2-40B4-BE49-F238E27FC236}">
                <a16:creationId xmlns:a16="http://schemas.microsoft.com/office/drawing/2014/main" id="{A6F668F4-783B-4E34-9590-A1B675E0395B}"/>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K-Means finds two overlapping customer groups</a:t>
            </a:r>
          </a:p>
        </p:txBody>
      </p:sp>
      <p:sp>
        <p:nvSpPr>
          <p:cNvPr id="3" name="Rectangle 2">
            <a:extLst>
              <a:ext uri="{FF2B5EF4-FFF2-40B4-BE49-F238E27FC236}">
                <a16:creationId xmlns:a16="http://schemas.microsoft.com/office/drawing/2014/main" id="{256E2756-8B30-4704-BBEB-4860D64F79B9}"/>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3B85DDD5-B22B-4052-98FB-37F99FC5318A}"/>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11</a:t>
            </a:r>
          </a:p>
        </p:txBody>
      </p:sp>
      <p:graphicFrame>
        <p:nvGraphicFramePr>
          <p:cNvPr id="14" name="Table 13"/>
          <p:cNvGraphicFramePr/>
          <p:nvPr/>
        </p:nvGraphicFramePr>
        <p:xfrm>
          <a:off x="609600" y="1933575"/>
          <a:ext cx="7239000" cy="2428875"/>
        </p:xfrm>
        <a:graphic>
          <a:graphicData uri="http://schemas.openxmlformats.org/drawingml/2006/table">
            <a:tbl>
              <a:tblPr/>
              <a:tblGrid>
                <a:gridCol w="4191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809625">
                <a:tc>
                  <a:txBody>
                    <a:bodyPr/>
                    <a:lstStyle/>
                    <a:p>
                      <a:r>
                        <a:rPr sz="1950" b="1">
                          <a:solidFill>
                            <a:srgbClr val="FFFFFF"/>
                          </a:solidFill>
                          <a:latin typeface="Helvetica Neue"/>
                          <a:ea typeface="Helvetica Neue"/>
                          <a:cs typeface="Helvetica Neue"/>
                        </a:rPr>
                        <a:t>K-Means</a:t>
                      </a:r>
                    </a:p>
                  </a:txBody>
                  <a:tcPr marL="152400" marR="152400" marT="133350" marB="133350">
                    <a:solidFill>
                      <a:srgbClr val="152F3C"/>
                    </a:solidFill>
                  </a:tcPr>
                </a:tc>
                <a:tc>
                  <a:txBody>
                    <a:bodyPr/>
                    <a:lstStyle/>
                    <a:p>
                      <a:r>
                        <a:rPr sz="1950" b="1">
                          <a:solidFill>
                            <a:srgbClr val="FFFFFF"/>
                          </a:solidFill>
                          <a:latin typeface="Helvetica Neue"/>
                          <a:ea typeface="Helvetica Neue"/>
                          <a:cs typeface="Helvetica Neue"/>
                        </a:rPr>
                        <a:t>k = 2</a:t>
                      </a:r>
                    </a:p>
                  </a:txBody>
                  <a:tcPr marL="152400" marR="152400" marT="133350" marB="133350">
                    <a:solidFill>
                      <a:srgbClr val="152F3C"/>
                    </a:solidFill>
                  </a:tcPr>
                </a:tc>
                <a:tc>
                  <a:txBody>
                    <a:bodyPr/>
                    <a:lstStyle/>
                    <a:p>
                      <a:r>
                        <a:rPr sz="1950" b="1">
                          <a:solidFill>
                            <a:srgbClr val="FFFFFF"/>
                          </a:solidFill>
                          <a:latin typeface="Helvetica Neue"/>
                          <a:ea typeface="Helvetica Neue"/>
                          <a:cs typeface="Helvetica Neue"/>
                        </a:rPr>
                        <a:t>k = 3</a:t>
                      </a:r>
                    </a:p>
                  </a:txBody>
                  <a:tcPr marL="152400" marR="152400" marT="133350" marB="133350">
                    <a:solidFill>
                      <a:srgbClr val="152F3C"/>
                    </a:solidFill>
                  </a:tcPr>
                </a:tc>
                <a:extLst>
                  <a:ext uri="{0D108BD9-81ED-4DB2-BD59-A6C34878D82A}">
                    <a16:rowId xmlns:a16="http://schemas.microsoft.com/office/drawing/2014/main" val="10000"/>
                  </a:ext>
                </a:extLst>
              </a:tr>
              <a:tr h="809625">
                <a:tc>
                  <a:txBody>
                    <a:bodyPr/>
                    <a:lstStyle/>
                    <a:p>
                      <a:r>
                        <a:rPr sz="1950">
                          <a:solidFill>
                            <a:srgbClr val="152F3C"/>
                          </a:solidFill>
                          <a:latin typeface="Helvetica Neue"/>
                          <a:ea typeface="Helvetica Neue"/>
                          <a:cs typeface="Helvetica Neue"/>
                        </a:rPr>
                        <a:t>Silhouette (higher is better)</a:t>
                      </a:r>
                    </a:p>
                  </a:txBody>
                  <a:tcPr marL="152400" marR="152400" marT="133350" marB="133350">
                    <a:solidFill>
                      <a:srgbClr val="F7F5F0"/>
                    </a:solidFill>
                  </a:tcPr>
                </a:tc>
                <a:tc>
                  <a:txBody>
                    <a:bodyPr/>
                    <a:lstStyle/>
                    <a:p>
                      <a:r>
                        <a:rPr sz="1950">
                          <a:solidFill>
                            <a:srgbClr val="152F3C"/>
                          </a:solidFill>
                          <a:latin typeface="Helvetica Neue"/>
                          <a:ea typeface="Helvetica Neue"/>
                          <a:cs typeface="Helvetica Neue"/>
                        </a:rPr>
                        <a:t>0.216</a:t>
                      </a:r>
                    </a:p>
                  </a:txBody>
                  <a:tcPr marL="152400" marR="152400" marT="133350" marB="133350">
                    <a:solidFill>
                      <a:srgbClr val="F7F5F0"/>
                    </a:solidFill>
                  </a:tcPr>
                </a:tc>
                <a:tc>
                  <a:txBody>
                    <a:bodyPr/>
                    <a:lstStyle/>
                    <a:p>
                      <a:r>
                        <a:rPr sz="1950">
                          <a:solidFill>
                            <a:srgbClr val="152F3C"/>
                          </a:solidFill>
                          <a:latin typeface="Helvetica Neue"/>
                          <a:ea typeface="Helvetica Neue"/>
                          <a:cs typeface="Helvetica Neue"/>
                        </a:rPr>
                        <a:t>0.207</a:t>
                      </a:r>
                    </a:p>
                  </a:txBody>
                  <a:tcPr marL="152400" marR="152400" marT="133350" marB="133350">
                    <a:solidFill>
                      <a:srgbClr val="F7F5F0"/>
                    </a:solidFill>
                  </a:tcPr>
                </a:tc>
                <a:extLst>
                  <a:ext uri="{0D108BD9-81ED-4DB2-BD59-A6C34878D82A}">
                    <a16:rowId xmlns:a16="http://schemas.microsoft.com/office/drawing/2014/main" val="10001"/>
                  </a:ext>
                </a:extLst>
              </a:tr>
              <a:tr h="809625">
                <a:tc>
                  <a:txBody>
                    <a:bodyPr/>
                    <a:lstStyle/>
                    <a:p>
                      <a:r>
                        <a:rPr sz="1950">
                          <a:solidFill>
                            <a:srgbClr val="152F3C"/>
                          </a:solidFill>
                          <a:latin typeface="Helvetica Neue"/>
                          <a:ea typeface="Helvetica Neue"/>
                          <a:cs typeface="Helvetica Neue"/>
                        </a:rPr>
                        <a:t>Davies–Bouldin (lower is better)</a:t>
                      </a:r>
                    </a:p>
                  </a:txBody>
                  <a:tcPr marL="152400" marR="152400" marT="133350" marB="133350">
                    <a:solidFill>
                      <a:srgbClr val="EAF0ED"/>
                    </a:solidFill>
                  </a:tcPr>
                </a:tc>
                <a:tc>
                  <a:txBody>
                    <a:bodyPr/>
                    <a:lstStyle/>
                    <a:p>
                      <a:r>
                        <a:rPr sz="1950">
                          <a:solidFill>
                            <a:srgbClr val="152F3C"/>
                          </a:solidFill>
                          <a:latin typeface="Helvetica Neue"/>
                          <a:ea typeface="Helvetica Neue"/>
                          <a:cs typeface="Helvetica Neue"/>
                        </a:rPr>
                        <a:t>1.771</a:t>
                      </a:r>
                    </a:p>
                  </a:txBody>
                  <a:tcPr marL="152400" marR="152400" marT="133350" marB="133350">
                    <a:solidFill>
                      <a:srgbClr val="EAF0ED"/>
                    </a:solidFill>
                  </a:tcPr>
                </a:tc>
                <a:tc>
                  <a:txBody>
                    <a:bodyPr/>
                    <a:lstStyle/>
                    <a:p>
                      <a:r>
                        <a:rPr sz="1950">
                          <a:solidFill>
                            <a:srgbClr val="152F3C"/>
                          </a:solidFill>
                          <a:latin typeface="Helvetica Neue"/>
                          <a:ea typeface="Helvetica Neue"/>
                          <a:cs typeface="Helvetica Neue"/>
                        </a:rPr>
                        <a:t>1.650</a:t>
                      </a:r>
                    </a:p>
                  </a:txBody>
                  <a:tcPr marL="152400" marR="152400" marT="133350" marB="133350">
                    <a:solidFill>
                      <a:srgbClr val="EAF0ED"/>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6AE8A26B-A29B-4382-B276-2941A4087104}"/>
              </a:ext>
            </a:extLst>
          </p:cNvPr>
          <p:cNvSpPr>
            <a:spLocks noGrp="1"/>
          </p:cNvSpPr>
          <p:nvPr/>
        </p:nvSpPr>
        <p:spPr>
          <a:xfrm>
            <a:off x="8572500" y="1971675"/>
            <a:ext cx="2809875" cy="857250"/>
          </a:xfrm>
          <a:prstGeom prst="rect">
            <a:avLst/>
          </a:prstGeom>
          <a:noFill/>
          <a:ln w="0">
            <a:noFill/>
          </a:ln>
        </p:spPr>
        <p:txBody>
          <a:bodyPr wrap="square" lIns="0" tIns="0" rIns="0" bIns="0" anchor="t">
            <a:noAutofit/>
          </a:bodyPr>
          <a:lstStyle/>
          <a:p>
            <a:pPr>
              <a:defRPr sz="5175" b="1">
                <a:solidFill>
                  <a:srgbClr val="267D88"/>
                </a:solidFill>
                <a:latin typeface="Helvetica Neue"/>
                <a:ea typeface="Helvetica Neue"/>
                <a:cs typeface="Helvetica Neue"/>
              </a:defRPr>
            </a:pPr>
            <a:r>
              <a:rPr sz="5175" b="1">
                <a:solidFill>
                  <a:srgbClr val="267D88"/>
                </a:solidFill>
                <a:latin typeface="Helvetica Neue"/>
                <a:ea typeface="Helvetica Neue"/>
                <a:cs typeface="Helvetica Neue"/>
              </a:rPr>
              <a:t>48.5%</a:t>
            </a:r>
          </a:p>
        </p:txBody>
      </p:sp>
      <p:sp>
        <p:nvSpPr>
          <p:cNvPr id="7" name="Rectangle 6">
            <a:extLst>
              <a:ext uri="{FF2B5EF4-FFF2-40B4-BE49-F238E27FC236}">
                <a16:creationId xmlns:a16="http://schemas.microsoft.com/office/drawing/2014/main" id="{BFAA1DE6-BFAC-4FA3-848C-918CCCC6B7E0}"/>
              </a:ext>
            </a:extLst>
          </p:cNvPr>
          <p:cNvSpPr>
            <a:spLocks noGrp="1"/>
          </p:cNvSpPr>
          <p:nvPr/>
        </p:nvSpPr>
        <p:spPr>
          <a:xfrm>
            <a:off x="8572500" y="2876550"/>
            <a:ext cx="2952750" cy="952500"/>
          </a:xfrm>
          <a:prstGeom prst="rect">
            <a:avLst/>
          </a:prstGeom>
          <a:noFill/>
          <a:ln w="0">
            <a:noFill/>
          </a:ln>
        </p:spPr>
        <p:txBody>
          <a:bodyPr wrap="square" lIns="0" tIns="0" rIns="0" bIns="0" anchor="t">
            <a:noAutofit/>
          </a:bodyPr>
          <a:lstStyle/>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Variance shown by</a:t>
            </a:r>
          </a:p>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two PCA components</a:t>
            </a:r>
          </a:p>
        </p:txBody>
      </p:sp>
      <p:sp>
        <p:nvSpPr>
          <p:cNvPr id="8" name="Rectangle 7">
            <a:extLst>
              <a:ext uri="{FF2B5EF4-FFF2-40B4-BE49-F238E27FC236}">
                <a16:creationId xmlns:a16="http://schemas.microsoft.com/office/drawing/2014/main" id="{D1ACBE30-E9E6-4F6F-A0FF-D84A5BCF2CF6}"/>
              </a:ext>
            </a:extLst>
          </p:cNvPr>
          <p:cNvSpPr>
            <a:spLocks noGrp="1"/>
          </p:cNvSpPr>
          <p:nvPr/>
        </p:nvSpPr>
        <p:spPr>
          <a:xfrm>
            <a:off x="609600" y="506730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Two segments: 1,100 and 1,136 customers. Use profiles to propose offer experiments.</a:t>
            </a:r>
          </a:p>
        </p:txBody>
      </p:sp>
      <p:sp>
        <p:nvSpPr>
          <p:cNvPr id="9" name="Rectangle 8">
            <a:extLst>
              <a:ext uri="{FF2B5EF4-FFF2-40B4-BE49-F238E27FC236}">
                <a16:creationId xmlns:a16="http://schemas.microsoft.com/office/drawing/2014/main" id="{49ED7F44-0CB0-425F-96E0-168BE950E05B}"/>
              </a:ext>
            </a:extLst>
          </p:cNvPr>
          <p:cNvSpPr>
            <a:spLocks noGrp="1"/>
          </p:cNvSpPr>
          <p:nvPr/>
        </p:nvSpPr>
        <p:spPr>
          <a:xfrm>
            <a:off x="609600" y="573405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PCA supports visualisation. Clustering uses all 13 transformed features.</a:t>
            </a:r>
          </a:p>
        </p:txBody>
      </p:sp>
    </p:spTree>
    <p:extLst>
      <p:ext uri="{BB962C8B-B14F-4D97-AF65-F5344CB8AC3E}">
        <p14:creationId xmlns:p14="http://schemas.microsoft.com/office/powerpoint/2010/main" val="78712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28B88BD-42C1-462C-9651-8B39F2D90D34}"/>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11 / LIMITATIONS AND NEXT STEPS</a:t>
            </a:r>
          </a:p>
        </p:txBody>
      </p:sp>
      <p:sp>
        <p:nvSpPr>
          <p:cNvPr id="2" name="Rectangle 1">
            <a:extLst>
              <a:ext uri="{FF2B5EF4-FFF2-40B4-BE49-F238E27FC236}">
                <a16:creationId xmlns:a16="http://schemas.microsoft.com/office/drawing/2014/main" id="{0FB52250-297B-4E5A-9D01-3A055CB44DEC}"/>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Prospective evidence is the next requirement</a:t>
            </a:r>
          </a:p>
        </p:txBody>
      </p:sp>
      <p:sp>
        <p:nvSpPr>
          <p:cNvPr id="3" name="Rectangle 2">
            <a:extLst>
              <a:ext uri="{FF2B5EF4-FFF2-40B4-BE49-F238E27FC236}">
                <a16:creationId xmlns:a16="http://schemas.microsoft.com/office/drawing/2014/main" id="{7DA54806-6EC2-425D-8891-9966991A8C0F}"/>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5318E68B-2601-4A67-B1F5-C115CCAC37B6}"/>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12</a:t>
            </a:r>
          </a:p>
        </p:txBody>
      </p:sp>
      <p:sp>
        <p:nvSpPr>
          <p:cNvPr id="5" name="Rectangle 4">
            <a:extLst>
              <a:ext uri="{FF2B5EF4-FFF2-40B4-BE49-F238E27FC236}">
                <a16:creationId xmlns:a16="http://schemas.microsoft.com/office/drawing/2014/main" id="{12C7D27C-09FD-4EF8-88AC-2AADB157A2ED}"/>
              </a:ext>
            </a:extLst>
          </p:cNvPr>
          <p:cNvSpPr>
            <a:spLocks noGrp="1"/>
          </p:cNvSpPr>
          <p:nvPr/>
        </p:nvSpPr>
        <p:spPr>
          <a:xfrm>
            <a:off x="609600" y="19050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01</a:t>
            </a:r>
          </a:p>
        </p:txBody>
      </p:sp>
      <p:sp>
        <p:nvSpPr>
          <p:cNvPr id="6" name="Rectangle 5">
            <a:extLst>
              <a:ext uri="{FF2B5EF4-FFF2-40B4-BE49-F238E27FC236}">
                <a16:creationId xmlns:a16="http://schemas.microsoft.com/office/drawing/2014/main" id="{02D5A2E5-B2EA-42A0-A898-48288C7707C3}"/>
              </a:ext>
            </a:extLst>
          </p:cNvPr>
          <p:cNvSpPr>
            <a:spLocks noGrp="1"/>
          </p:cNvSpPr>
          <p:nvPr/>
        </p:nvSpPr>
        <p:spPr>
          <a:xfrm>
            <a:off x="1419225" y="1905000"/>
            <a:ext cx="10163175" cy="78105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Verify feature availability before the campaign and assess current data</a:t>
            </a:r>
          </a:p>
        </p:txBody>
      </p:sp>
      <p:sp>
        <p:nvSpPr>
          <p:cNvPr id="7" name="Rectangle 6">
            <a:extLst>
              <a:ext uri="{FF2B5EF4-FFF2-40B4-BE49-F238E27FC236}">
                <a16:creationId xmlns:a16="http://schemas.microsoft.com/office/drawing/2014/main" id="{F8DFEFA5-2E28-4BF3-83A9-1B00C9DAC89F}"/>
              </a:ext>
            </a:extLst>
          </p:cNvPr>
          <p:cNvSpPr>
            <a:spLocks noGrp="1"/>
          </p:cNvSpPr>
          <p:nvPr/>
        </p:nvSpPr>
        <p:spPr>
          <a:xfrm>
            <a:off x="609600" y="280035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02</a:t>
            </a:r>
          </a:p>
        </p:txBody>
      </p:sp>
      <p:sp>
        <p:nvSpPr>
          <p:cNvPr id="8" name="Rectangle 7">
            <a:extLst>
              <a:ext uri="{FF2B5EF4-FFF2-40B4-BE49-F238E27FC236}">
                <a16:creationId xmlns:a16="http://schemas.microsoft.com/office/drawing/2014/main" id="{CC82860B-1243-45E6-804C-0D88579372B7}"/>
              </a:ext>
            </a:extLst>
          </p:cNvPr>
          <p:cNvSpPr>
            <a:spLocks noGrp="1"/>
          </p:cNvSpPr>
          <p:nvPr/>
        </p:nvSpPr>
        <p:spPr>
          <a:xfrm>
            <a:off x="1419225" y="2800350"/>
            <a:ext cx="10163175" cy="78105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Validate score calibration and the saved model on future customers</a:t>
            </a:r>
          </a:p>
        </p:txBody>
      </p:sp>
      <p:sp>
        <p:nvSpPr>
          <p:cNvPr id="9" name="Rectangle 8">
            <a:extLst>
              <a:ext uri="{FF2B5EF4-FFF2-40B4-BE49-F238E27FC236}">
                <a16:creationId xmlns:a16="http://schemas.microsoft.com/office/drawing/2014/main" id="{A056F01C-4A2F-4447-BBA3-4B85EAE88612}"/>
              </a:ext>
            </a:extLst>
          </p:cNvPr>
          <p:cNvSpPr>
            <a:spLocks noGrp="1"/>
          </p:cNvSpPr>
          <p:nvPr/>
        </p:nvSpPr>
        <p:spPr>
          <a:xfrm>
            <a:off x="609600" y="36957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03</a:t>
            </a:r>
          </a:p>
        </p:txBody>
      </p:sp>
      <p:sp>
        <p:nvSpPr>
          <p:cNvPr id="10" name="Rectangle 9">
            <a:extLst>
              <a:ext uri="{FF2B5EF4-FFF2-40B4-BE49-F238E27FC236}">
                <a16:creationId xmlns:a16="http://schemas.microsoft.com/office/drawing/2014/main" id="{3E55FE22-D4E8-465E-B35E-0D2F35FAA167}"/>
              </a:ext>
            </a:extLst>
          </p:cNvPr>
          <p:cNvSpPr>
            <a:spLocks noGrp="1"/>
          </p:cNvSpPr>
          <p:nvPr/>
        </p:nvSpPr>
        <p:spPr>
          <a:xfrm>
            <a:off x="1419225" y="3695700"/>
            <a:ext cx="10163175" cy="78105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Run a randomised pilot with an explicit no-contact comparison</a:t>
            </a:r>
          </a:p>
        </p:txBody>
      </p:sp>
      <p:sp>
        <p:nvSpPr>
          <p:cNvPr id="11" name="Rectangle 10">
            <a:extLst>
              <a:ext uri="{FF2B5EF4-FFF2-40B4-BE49-F238E27FC236}">
                <a16:creationId xmlns:a16="http://schemas.microsoft.com/office/drawing/2014/main" id="{734B323A-A2D0-4C9D-ACCC-2ADB1442D089}"/>
              </a:ext>
            </a:extLst>
          </p:cNvPr>
          <p:cNvSpPr>
            <a:spLocks noGrp="1"/>
          </p:cNvSpPr>
          <p:nvPr/>
        </p:nvSpPr>
        <p:spPr>
          <a:xfrm>
            <a:off x="609600" y="459105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04</a:t>
            </a:r>
          </a:p>
        </p:txBody>
      </p:sp>
      <p:sp>
        <p:nvSpPr>
          <p:cNvPr id="12" name="Rectangle 11">
            <a:extLst>
              <a:ext uri="{FF2B5EF4-FFF2-40B4-BE49-F238E27FC236}">
                <a16:creationId xmlns:a16="http://schemas.microsoft.com/office/drawing/2014/main" id="{0EF9D344-E9A4-41B1-82BC-D79247E438F8}"/>
              </a:ext>
            </a:extLst>
          </p:cNvPr>
          <p:cNvSpPr>
            <a:spLocks noGrp="1"/>
          </p:cNvSpPr>
          <p:nvPr/>
        </p:nvSpPr>
        <p:spPr>
          <a:xfrm>
            <a:off x="1419225" y="4591050"/>
            <a:ext cx="10163175" cy="78105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Monitor incremental contribution and subgroup outcomes</a:t>
            </a:r>
          </a:p>
        </p:txBody>
      </p:sp>
      <p:sp>
        <p:nvSpPr>
          <p:cNvPr id="13" name="Rectangle 12">
            <a:extLst>
              <a:ext uri="{FF2B5EF4-FFF2-40B4-BE49-F238E27FC236}">
                <a16:creationId xmlns:a16="http://schemas.microsoft.com/office/drawing/2014/main" id="{62CFBEF6-4D70-4C8B-94AD-B68DADEB8A96}"/>
              </a:ext>
            </a:extLst>
          </p:cNvPr>
          <p:cNvSpPr>
            <a:spLocks noGrp="1"/>
          </p:cNvSpPr>
          <p:nvPr/>
        </p:nvSpPr>
        <p:spPr>
          <a:xfrm>
            <a:off x="609600" y="575310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Reproducible package: notebook, source code, saved pipeline, policy, configuration and results</a:t>
            </a:r>
          </a:p>
        </p:txBody>
      </p:sp>
    </p:spTree>
    <p:extLst>
      <p:ext uri="{BB962C8B-B14F-4D97-AF65-F5344CB8AC3E}">
        <p14:creationId xmlns:p14="http://schemas.microsoft.com/office/powerpoint/2010/main" val="13109316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2542</Words>
  <Application>Microsoft Macintosh PowerPoint</Application>
  <DocSecurity>0</DocSecurity>
  <PresentationFormat>Widescreen</PresentationFormat>
  <Paragraphs>275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Charles Leo Ng</cp:lastModifiedBy>
  <cp:revision>1</cp:revision>
  <dcterms:created xsi:type="dcterms:W3CDTF">2026-09-20T10:09:33Z</dcterms:created>
  <dcterms:modified xsi:type="dcterms:W3CDTF">2026-09-22T13:00:31Z</dcterms:modified>
</cp:coreProperties>
</file>