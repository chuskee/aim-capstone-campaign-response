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64"/>
  </p:normalViewPr>
  <p:slideViewPr>
    <p:cSldViewPr snapToGrid="0">
      <p:cViewPr varScale="1">
        <p:scale>
          <a:sx n="94" d="100"/>
          <a:sy n="94" d="100"/>
        </p:scale>
        <p:origin x="1816"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stacked"/>
        <c:varyColors val="0"/>
        <c:ser>
          <c:idx val="0"/>
          <c:order val="0"/>
          <c:tx>
            <c:v>Recorded responders</c:v>
          </c:tx>
          <c:spPr>
            <a:solidFill>
              <a:srgbClr val="267D88"/>
            </a:solidFill>
          </c:spPr>
          <c:invertIfNegative val="1"/>
          <c:dLbls>
            <c:spPr>
              <a:noFill/>
              <a:ln>
                <a:noFill/>
              </a:ln>
              <a:effectLst/>
            </c:spPr>
            <c:txPr>
              <a:bodyPr anchorCtr="1"/>
              <a:lstStyle/>
              <a:p>
                <a:pPr>
                  <a:defRPr sz="1725" b="1">
                    <a:solidFill>
                      <a:srgbClr val="152F3C"/>
                    </a:solidFill>
                    <a:latin typeface="Helvetica Neue"/>
                    <a:ea typeface="Helvetica Neue"/>
                    <a:cs typeface="Helvetica Neue"/>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Data'!$A$2:$A$2</c:f>
              <c:strCache>
                <c:ptCount val="1"/>
                <c:pt idx="0">
                  <c:v>Selected contact list</c:v>
                </c:pt>
              </c:strCache>
            </c:strRef>
          </c:cat>
          <c:val>
            <c:numRef>
              <c:f>'Chart Data'!$B$2:$B$2</c:f>
              <c:numCache>
                <c:formatCode>0</c:formatCode>
                <c:ptCount val="1"/>
                <c:pt idx="0">
                  <c:v>191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4388-8F4C-8A21-C57368ADA701}"/>
            </c:ext>
          </c:extLst>
        </c:ser>
        <c:ser>
          <c:idx val="1"/>
          <c:order val="1"/>
          <c:tx>
            <c:v>Recorded nonresponders</c:v>
          </c:tx>
          <c:spPr>
            <a:solidFill>
              <a:srgbClr val="ABC3C4"/>
            </a:solidFill>
          </c:spPr>
          <c:invertIfNegative val="1"/>
          <c:dLbls>
            <c:spPr>
              <a:noFill/>
              <a:ln>
                <a:noFill/>
              </a:ln>
              <a:effectLst/>
            </c:spPr>
            <c:txPr>
              <a:bodyPr anchorCtr="1"/>
              <a:lstStyle/>
              <a:p>
                <a:pPr>
                  <a:defRPr sz="1725" b="1">
                    <a:solidFill>
                      <a:srgbClr val="152F3C"/>
                    </a:solidFill>
                    <a:latin typeface="Helvetica Neue"/>
                    <a:ea typeface="Helvetica Neue"/>
                    <a:cs typeface="Helvetica Neue"/>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Data'!$C$2:$C$2</c:f>
              <c:strCache>
                <c:ptCount val="1"/>
                <c:pt idx="0">
                  <c:v>Selected contact list</c:v>
                </c:pt>
              </c:strCache>
            </c:strRef>
          </c:cat>
          <c:val>
            <c:numRef>
              <c:f>'Chart Data'!$D$2:$D$2</c:f>
              <c:numCache>
                <c:formatCode>0</c:formatCode>
                <c:ptCount val="1"/>
                <c:pt idx="0">
                  <c:v>174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4388-8F4C-8A21-C57368ADA701}"/>
            </c:ext>
          </c:extLst>
        </c:ser>
        <c:dLbls>
          <c:dLblPos val="ctr"/>
          <c:showLegendKey val="0"/>
          <c:showVal val="1"/>
          <c:showCatName val="0"/>
          <c:showSerName val="0"/>
          <c:showPercent val="0"/>
          <c:showBubbleSize val="0"/>
        </c:dLbls>
        <c:gapWidth val="55"/>
        <c:overlap val="100"/>
        <c:axId val="48650112"/>
        <c:axId val="48672768"/>
      </c:barChart>
      <c:catAx>
        <c:axId val="48650112"/>
        <c:scaling>
          <c:orientation val="minMax"/>
        </c:scaling>
        <c:delete val="0"/>
        <c:axPos val="l"/>
        <c:numFmt formatCode="General" sourceLinked="1"/>
        <c:majorTickMark val="none"/>
        <c:minorTickMark val="none"/>
        <c:tickLblPos val="nextTo"/>
        <c:spPr>
          <a:ln w="9525">
            <a:solidFill>
              <a:srgbClr val="D2DBD9"/>
            </a:solidFill>
          </a:ln>
        </c:spPr>
        <c:txPr>
          <a:bodyPr anchorCtr="1"/>
          <a:lstStyle/>
          <a:p>
            <a:pPr>
              <a:defRPr sz="1800">
                <a:solidFill>
                  <a:srgbClr val="566973"/>
                </a:solidFill>
                <a:latin typeface="Helvetica Neue"/>
                <a:ea typeface="Helvetica Neue"/>
                <a:cs typeface="Helvetica Neue"/>
              </a:defRPr>
            </a:pPr>
            <a:endParaRPr lang="en-US"/>
          </a:p>
        </c:txPr>
        <c:crossAx val="48672768"/>
        <c:crosses val="autoZero"/>
        <c:auto val="1"/>
        <c:lblAlgn val="ctr"/>
        <c:lblOffset val="100"/>
        <c:noMultiLvlLbl val="1"/>
      </c:catAx>
      <c:valAx>
        <c:axId val="48672768"/>
        <c:scaling>
          <c:orientation val="minMax"/>
          <c:max val="400"/>
          <c:min val="0"/>
        </c:scaling>
        <c:delete val="0"/>
        <c:axPos val="b"/>
        <c:majorGridlines>
          <c:spPr>
            <a:ln w="9525">
              <a:solidFill>
                <a:srgbClr val="D2DBD9"/>
              </a:solidFill>
            </a:ln>
          </c:spPr>
        </c:majorGridlines>
        <c:numFmt formatCode="0" sourceLinked="1"/>
        <c:majorTickMark val="none"/>
        <c:minorTickMark val="none"/>
        <c:tickLblPos val="nextTo"/>
        <c:spPr>
          <a:ln w="0">
            <a:noFill/>
          </a:ln>
        </c:spPr>
        <c:txPr>
          <a:bodyPr anchorCtr="1"/>
          <a:lstStyle/>
          <a:p>
            <a:pPr>
              <a:defRPr sz="1575">
                <a:solidFill>
                  <a:srgbClr val="566973"/>
                </a:solidFill>
                <a:latin typeface="Helvetica Neue"/>
                <a:ea typeface="Helvetica Neue"/>
                <a:cs typeface="Helvetica Neue"/>
              </a:defRPr>
            </a:pPr>
            <a:endParaRPr lang="en-US"/>
          </a:p>
        </c:txPr>
        <c:crossAx val="48650112"/>
        <c:crosses val="autoZero"/>
        <c:crossBetween val="between"/>
      </c:valAx>
      <c:spPr>
        <a:solidFill>
          <a:srgbClr val="F7F5F0"/>
        </a:solidFill>
        <a:ln w="0">
          <a:noFill/>
        </a:ln>
      </c:spPr>
    </c:plotArea>
    <c:legend>
      <c:legendPos val="b"/>
      <c:overlay val="0"/>
      <c:txPr>
        <a:bodyPr anchorCtr="1"/>
        <a:lstStyle/>
        <a:p>
          <a:pPr>
            <a:defRPr sz="1725">
              <a:solidFill>
                <a:srgbClr val="152F3C"/>
              </a:solidFill>
              <a:latin typeface="Helvetica Neue"/>
              <a:ea typeface="Helvetica Neue"/>
              <a:cs typeface="Helvetica Neue"/>
            </a:defRPr>
          </a:pPr>
          <a:endParaRPr lang="en-US"/>
        </a:p>
      </c:txPr>
    </c:legend>
    <c:plotVisOnly val="1"/>
    <c:dispBlanksAs val="zero"/>
    <c:showDLblsOverMax val="1"/>
  </c:chart>
  <c:spPr>
    <a:solidFill>
      <a:srgbClr val="F7F5F0"/>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project asks whether historical customer information can help a marketing team choose whom to contact. The revised analysis shows enough promise to justify preparing a controlled pilot. It also exposes tradeoffs in access to offers. The recommendation is to verify the data and economics, then measure a real campaign under an agreed evaluation plan. All results in this presentation come from historical internal evaluation. The project has not measured realised revenue or incremental campaign impact.</a:t>
            </a:r>
          </a:p>
          <a:p>
            <a:endParaRPr/>
          </a:p>
          <a:p>
            <a:r>
              <a:t>Sources from the delivered revised notebook package:</a:t>
            </a:r>
          </a:p>
          <a:p>
            <a:r>
              <a:t>notebooks/Capstone_Customer_Segmentation_Revised.ipynb</a:t>
            </a:r>
          </a:p>
          <a:p>
            <a:r>
              <a:t>reports/run_summary.json</a:t>
            </a:r>
          </a:p>
          <a:p>
            <a:r>
              <a:t>Dataset: https://www.kaggle.com/datasets/imakash3011/customer-personality-analysis/data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public dataset begins with 2,240 customers. Documented eligibility rules remove four suspicious records, leaving 2,236 customers and 334 responses to the last recorded campaign. That is a 14.9% historical response rate. The 29 original fields include identifiers and outcomes as well as potential predictors. Missing income remains in the analysis, with replacement values learned only from training data. The source does not establish the currency or precise campaign timeline, so business interpretations must retain those limits.</a:t>
            </a:r>
          </a:p>
          <a:p>
            <a:endParaRPr/>
          </a:p>
          <a:p>
            <a:r>
              <a:t>Sources from the delivered revised notebook package:</a:t>
            </a:r>
          </a:p>
          <a:p>
            <a:r>
              <a:t>reports/run_summary.json</a:t>
            </a:r>
          </a:p>
          <a:p>
            <a:r>
              <a:t>data/DATA_DICTIONARY.md</a:t>
            </a:r>
          </a:p>
          <a:p>
            <a:r>
              <a:t>Dataset: https://www.kaggle.com/datasets/imakash3011/customer-personality-analysis/data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compared four kinds of predictive model and gave each the same tuning budget. Each evaluation round set aside customers before fitting the model and choosing contact thresholds. Matching profiles stayed together to reduce leakage between partitions. This produced an internal estimate of the complete decision process across five rounds. A separate development split selected SVM as the saved candidate. The following evaluation results describe the process across different trained models, rather than an independent test of that one saved SVM.</a:t>
            </a:r>
          </a:p>
          <a:p>
            <a:endParaRPr/>
          </a:p>
          <a:p>
            <a:r>
              <a:t>Sources from the delivered revised notebook package:</a:t>
            </a:r>
          </a:p>
          <a:p>
            <a:r>
              <a:t>reports/evaluation_contract.json</a:t>
            </a:r>
          </a:p>
          <a:p>
            <a:r>
              <a:t>models/model_comparison.csv</a:t>
            </a:r>
          </a:p>
          <a:p>
            <a:r>
              <a:t>Dataset: https://www.kaggle.com/datasets/imakash3011/customer-personality-analysis/data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selected policy includes the predefined household-access adjustment. Across all evaluation rounds it chose 365 of 2,236 customers. Those selections contained 191 historical responders and 174 nonresponders. The 52.3% figure describes response concentration within the selected historical records. It does not mean a future campaign is certain to convert at that rate. The policy captured 57.2% of recorded responders, leaving 143 outside the list. Marketing must weigh that missed opportunity against its contact capacity and customers’ access to offers.</a:t>
            </a:r>
          </a:p>
          <a:p>
            <a:endParaRPr/>
          </a:p>
          <a:p>
            <a:r>
              <a:t>Sources from the delivered revised notebook package:</a:t>
            </a:r>
          </a:p>
          <a:p>
            <a:r>
              <a:t>reports/policy_comparison.json</a:t>
            </a:r>
          </a:p>
          <a:p>
            <a:r>
              <a:t>reports/tables/nested_predictions.csv</a:t>
            </a:r>
          </a:p>
          <a:p>
            <a:r>
              <a:t>Dataset: https://www.kaggle.com/datasets/imakash3011/customer-personality-analysis/data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calculation applies the same assumptions to both policies. For the selected policy, 191 recorded responders times 11 gives 2,101 units of assumed value. Subtracting 365 contacts times 3 leaves 1,006. Contacting everyone produces minus 3,034 under the same assumptions. These figures use historical labels and unverified economics. They do not measure how many additional purchases contact would cause. Before a pilot, finance should verify contribution per response and the full cost of contacting a customer.</a:t>
            </a:r>
          </a:p>
          <a:p>
            <a:endParaRPr/>
          </a:p>
          <a:p>
            <a:r>
              <a:t>Sources from the delivered revised notebook package:</a:t>
            </a:r>
          </a:p>
          <a:p>
            <a:r>
              <a:t>reports/policy_comparison.json</a:t>
            </a:r>
          </a:p>
          <a:p>
            <a:r>
              <a:t>reports/tables/value_sensitivity.csv</a:t>
            </a:r>
          </a:p>
          <a:p>
            <a:r>
              <a:t>Dataset: https://www.kaggle.com/datasets/imakash3011/customer-personality-analysis/data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adjustment addresses children living at home, rather than parental status. Without it, contact rates were 9.5% for customers with children at home and 27.8% for those without. The adjusted rates were 15.3% and 19.0%. Their ratio improved from 0.342 to 0.803, while selected historical responders fell by seven and assumed net value fell by 185. Validation data selected the adjustment before evaluation. Income and education disparities remain. The illustrative 0.80 benchmark does not establish legal or ethical fairness.</a:t>
            </a:r>
          </a:p>
          <a:p>
            <a:endParaRPr/>
          </a:p>
          <a:p>
            <a:r>
              <a:t>Sources from the delivered revised notebook package:</a:t>
            </a:r>
          </a:p>
          <a:p>
            <a:r>
              <a:t>reports/fairness_audits.json</a:t>
            </a:r>
          </a:p>
          <a:p>
            <a:r>
              <a:t>reports/policy_comparison.json</a:t>
            </a:r>
          </a:p>
          <a:p>
            <a:r>
              <a:t>Dataset: https://www.kaggle.com/datasets/imakash3011/customer-personality-analysis/data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separate exploratory analysis groups customers by similarity without using campaign response to form the groups. Two clusters gave the highest separation score among the tested candidates, although the score of 0.216 indicates substantial overlap. The higher-activity group has much greater median recorded spending. The lower-activity group visits the website more often on average, suggesting a hypothesis to test around product information. Broader assortment offers are another experiment for the higher-activity group. Neither proposal has demonstrated a sales benefit.</a:t>
            </a:r>
          </a:p>
          <a:p>
            <a:endParaRPr/>
          </a:p>
          <a:p>
            <a:r>
              <a:t>Sources from the delivered revised notebook package:</a:t>
            </a:r>
          </a:p>
          <a:p>
            <a:r>
              <a:t>reports/tables/segment_profiles.csv</a:t>
            </a:r>
          </a:p>
          <a:p>
            <a:r>
              <a:t>reports/tables/segmentation_comparison.csv</a:t>
            </a:r>
          </a:p>
          <a:p>
            <a:r>
              <a:t>Dataset: https://www.kaggle.com/datasets/imakash3011/customer-personality-analysis/data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Strong historical discrimination cannot resolve missing timestamps or a changed market. We need to verify that every input would exist before a new campaign and assess the current customer population. The audit also shows remaining selection differences across income and education. Some groups are too small for firm conclusions, including four records with unknown household status. Gender and race cannot be audited because the dataset lacks them. Operational preparation must address consent, opt-outs, offer eligibility and actual economics before contact decisions reach customers.</a:t>
            </a:r>
          </a:p>
          <a:p>
            <a:endParaRPr/>
          </a:p>
          <a:p>
            <a:r>
              <a:t>Sources from the delivered revised notebook package:</a:t>
            </a:r>
          </a:p>
          <a:p>
            <a:r>
              <a:t>data/DATA_DICTIONARY.md</a:t>
            </a:r>
          </a:p>
          <a:p>
            <a:r>
              <a:t>reports/fairness_audits.json</a:t>
            </a:r>
          </a:p>
          <a:p>
            <a:r>
              <a:t>reports/run_summary.json</a:t>
            </a:r>
          </a:p>
          <a:p>
            <a:r>
              <a:t>Dataset: https://www.kaggle.com/datasets/imakash3011/customer-personality-analysis/data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Once data-readiness checks pass, rebuild features as they would exist before the new campaign and freeze the model and policy. Randomly assign eligible customers to the proposed targeting approach and existing practice, using equal contact budgets. Preserve a random no-contact group to estimate what would happen without outreach. Marketing and finance should agree the offer, contribution calculation and sample size in advance. Measure group access and complaints alongside incremental response. Predefined stopping rules should address unexpected harm and poor data quality.</a:t>
            </a:r>
          </a:p>
          <a:p>
            <a:endParaRPr/>
          </a:p>
          <a:p>
            <a:r>
              <a:t>Sources from the delivered revised notebook package:</a:t>
            </a:r>
          </a:p>
          <a:p>
            <a:r>
              <a:t>reports/evaluation_contract.json</a:t>
            </a:r>
          </a:p>
          <a:p>
            <a:r>
              <a:t>notebooks/Capstone_Customer_Segmentation_Revised.ipynb</a:t>
            </a:r>
          </a:p>
          <a:p>
            <a:r>
              <a:t>Dataset: https://www.kaggle.com/datasets/imakash3011/customer-personality-analysis/data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decision requested is support for pilot preparation with named marketing, data and finance owners. The historical analysis suggests that selective contact can concentrate responses, but the access adjustment introduces a visible tradeoff. The saved SVM candidate emerged from development comparisons and still requires prospective validation. Preparation should resolve feature timing and business assumptions, then document acceptable group outcomes. An expansion decision should follow measured incremental value and customer impact from the pilot. The project package provides reproducible evidence for that review.</a:t>
            </a:r>
          </a:p>
          <a:p>
            <a:endParaRPr/>
          </a:p>
          <a:p>
            <a:r>
              <a:t>Sources from the delivered revised notebook package:</a:t>
            </a:r>
          </a:p>
          <a:p>
            <a:r>
              <a:t>reports/run_findings.md</a:t>
            </a:r>
          </a:p>
          <a:p>
            <a:r>
              <a:t>models/model_config.json</a:t>
            </a:r>
          </a:p>
          <a:p>
            <a:r>
              <a:t>reports/evaluation_contract.json</a:t>
            </a:r>
          </a:p>
          <a:p>
            <a:r>
              <a:t>Dataset: https://www.kaggle.com/datasets/imakash3011/customer-personality-analysis/data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52F3C"/>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5F07144-50E2-49BA-B025-17989CADDCB3}"/>
              </a:ext>
            </a:extLst>
          </p:cNvPr>
          <p:cNvSpPr>
            <a:spLocks noGrp="1"/>
          </p:cNvSpPr>
          <p:nvPr/>
        </p:nvSpPr>
        <p:spPr>
          <a:xfrm>
            <a:off x="609600" y="304800"/>
            <a:ext cx="10477500" cy="266700"/>
          </a:xfrm>
          <a:prstGeom prst="rect">
            <a:avLst/>
          </a:prstGeom>
          <a:noFill/>
          <a:ln w="0">
            <a:noFill/>
          </a:ln>
        </p:spPr>
        <p:txBody>
          <a:bodyPr wrap="square" lIns="0" tIns="0" rIns="0" bIns="0" anchor="t">
            <a:noAutofit/>
          </a:bodyPr>
          <a:lstStyle/>
          <a:p>
            <a:pPr>
              <a:defRPr sz="1350" b="1">
                <a:solidFill>
                  <a:srgbClr val="267D88"/>
                </a:solidFill>
                <a:latin typeface="Helvetica Neue"/>
                <a:ea typeface="Helvetica Neue"/>
                <a:cs typeface="Helvetica Neue"/>
              </a:defRPr>
            </a:pPr>
            <a:r>
              <a:rPr sz="1350" b="1">
                <a:solidFill>
                  <a:srgbClr val="86C6C9"/>
                </a:solidFill>
                <a:latin typeface="Helvetica Neue"/>
                <a:ea typeface="Helvetica Neue"/>
                <a:cs typeface="Helvetica Neue"/>
              </a:rPr>
              <a:t>AI / ML CAPSTONE</a:t>
            </a:r>
          </a:p>
        </p:txBody>
      </p:sp>
      <p:sp>
        <p:nvSpPr>
          <p:cNvPr id="2" name="Rectangle 1">
            <a:extLst>
              <a:ext uri="{FF2B5EF4-FFF2-40B4-BE49-F238E27FC236}">
                <a16:creationId xmlns:a16="http://schemas.microsoft.com/office/drawing/2014/main" id="{7D1C1D7F-FC32-4408-9C7C-43EAD17CFE2B}"/>
              </a:ext>
            </a:extLst>
          </p:cNvPr>
          <p:cNvSpPr>
            <a:spLocks noGrp="1"/>
          </p:cNvSpPr>
          <p:nvPr/>
        </p:nvSpPr>
        <p:spPr>
          <a:xfrm>
            <a:off x="609600" y="1828800"/>
            <a:ext cx="10858500" cy="1952625"/>
          </a:xfrm>
          <a:prstGeom prst="rect">
            <a:avLst/>
          </a:prstGeom>
          <a:noFill/>
          <a:ln w="0">
            <a:noFill/>
          </a:ln>
        </p:spPr>
        <p:txBody>
          <a:bodyPr wrap="square" lIns="0" tIns="0" rIns="0" bIns="0" anchor="t">
            <a:noAutofit/>
          </a:bodyPr>
          <a:lstStyle/>
          <a:p>
            <a:pPr>
              <a:defRPr sz="5100" b="1">
                <a:solidFill>
                  <a:srgbClr val="FFFFFF"/>
                </a:solidFill>
                <a:latin typeface="Helvetica Neue"/>
                <a:ea typeface="Helvetica Neue"/>
                <a:cs typeface="Helvetica Neue"/>
              </a:defRPr>
            </a:pPr>
            <a:r>
              <a:rPr sz="5100" b="1">
                <a:solidFill>
                  <a:srgbClr val="FFFFFF"/>
                </a:solidFill>
                <a:latin typeface="Helvetica Neue"/>
                <a:ea typeface="Helvetica Neue"/>
                <a:cs typeface="Helvetica Neue"/>
              </a:rPr>
              <a:t>Customer campaign targeting</a:t>
            </a:r>
          </a:p>
        </p:txBody>
      </p:sp>
      <p:sp>
        <p:nvSpPr>
          <p:cNvPr id="3" name="Rectangle 2">
            <a:extLst>
              <a:ext uri="{FF2B5EF4-FFF2-40B4-BE49-F238E27FC236}">
                <a16:creationId xmlns:a16="http://schemas.microsoft.com/office/drawing/2014/main" id="{C1CD732C-6C49-4591-9C12-814B0E809268}"/>
              </a:ext>
            </a:extLst>
          </p:cNvPr>
          <p:cNvSpPr>
            <a:spLocks noGrp="1"/>
          </p:cNvSpPr>
          <p:nvPr/>
        </p:nvSpPr>
        <p:spPr>
          <a:xfrm>
            <a:off x="609600" y="6419850"/>
            <a:ext cx="7048500" cy="228600"/>
          </a:xfrm>
          <a:prstGeom prst="rect">
            <a:avLst/>
          </a:prstGeom>
          <a:noFill/>
          <a:ln w="0">
            <a:noFill/>
          </a:ln>
        </p:spPr>
        <p:txBody>
          <a:bodyPr wrap="square" lIns="0" tIns="0" rIns="0" bIns="0" anchor="t">
            <a:noAutofit/>
          </a:bodyPr>
          <a:lstStyle/>
          <a:p>
            <a:pPr>
              <a:defRPr sz="1125" b="0">
                <a:solidFill>
                  <a:srgbClr val="566973"/>
                </a:solidFill>
                <a:latin typeface="Helvetica Neue"/>
                <a:ea typeface="Helvetica Neue"/>
                <a:cs typeface="Helvetica Neue"/>
              </a:defRPr>
            </a:pPr>
            <a:r>
              <a:rPr sz="1125" b="0">
                <a:solidFill>
                  <a:srgbClr val="9CB1B8"/>
                </a:solidFill>
                <a:latin typeface="Helvetica Neue"/>
                <a:ea typeface="Helvetica Neue"/>
                <a:cs typeface="Helvetica Neue"/>
              </a:rPr>
              <a:t>CUSTOMER CAMPAIGN ANALYSIS</a:t>
            </a:r>
          </a:p>
        </p:txBody>
      </p:sp>
      <p:sp>
        <p:nvSpPr>
          <p:cNvPr id="4" name="Rectangle 3">
            <a:extLst>
              <a:ext uri="{FF2B5EF4-FFF2-40B4-BE49-F238E27FC236}">
                <a16:creationId xmlns:a16="http://schemas.microsoft.com/office/drawing/2014/main" id="{534A65A9-EC12-4CA1-82E3-3CE3E0A6B0BE}"/>
              </a:ext>
            </a:extLst>
          </p:cNvPr>
          <p:cNvSpPr>
            <a:spLocks noGrp="1"/>
          </p:cNvSpPr>
          <p:nvPr/>
        </p:nvSpPr>
        <p:spPr>
          <a:xfrm>
            <a:off x="11049000" y="6419850"/>
            <a:ext cx="533400" cy="228600"/>
          </a:xfrm>
          <a:prstGeom prst="rect">
            <a:avLst/>
          </a:prstGeom>
          <a:noFill/>
          <a:ln w="0">
            <a:noFill/>
          </a:ln>
        </p:spPr>
        <p:txBody>
          <a:bodyPr wrap="square" lIns="0" tIns="0" rIns="0" bIns="0" anchor="t">
            <a:noAutofit/>
          </a:bodyPr>
          <a:lstStyle/>
          <a:p>
            <a:pPr>
              <a:defRPr sz="1200" b="0">
                <a:solidFill>
                  <a:srgbClr val="566973"/>
                </a:solidFill>
                <a:latin typeface="Helvetica Neue"/>
                <a:ea typeface="Helvetica Neue"/>
                <a:cs typeface="Helvetica Neue"/>
              </a:defRPr>
            </a:pPr>
            <a:r>
              <a:rPr sz="1200" b="0">
                <a:solidFill>
                  <a:srgbClr val="9CB1B8"/>
                </a:solidFill>
                <a:latin typeface="Helvetica Neue"/>
                <a:ea typeface="Helvetica Neue"/>
                <a:cs typeface="Helvetica Neue"/>
              </a:rPr>
              <a:t>01</a:t>
            </a:r>
          </a:p>
        </p:txBody>
      </p:sp>
      <p:sp>
        <p:nvSpPr>
          <p:cNvPr id="5" name="Rectangle 4">
            <a:extLst>
              <a:ext uri="{FF2B5EF4-FFF2-40B4-BE49-F238E27FC236}">
                <a16:creationId xmlns:a16="http://schemas.microsoft.com/office/drawing/2014/main" id="{EE91BD25-3A53-414E-82F7-D3FDC3B961FF}"/>
              </a:ext>
            </a:extLst>
          </p:cNvPr>
          <p:cNvSpPr>
            <a:spLocks noGrp="1"/>
          </p:cNvSpPr>
          <p:nvPr/>
        </p:nvSpPr>
        <p:spPr>
          <a:xfrm>
            <a:off x="609600" y="4324350"/>
            <a:ext cx="10001250" cy="1000125"/>
          </a:xfrm>
          <a:prstGeom prst="rect">
            <a:avLst/>
          </a:prstGeom>
          <a:noFill/>
          <a:ln w="0">
            <a:noFill/>
          </a:ln>
        </p:spPr>
        <p:txBody>
          <a:bodyPr wrap="square" lIns="0" tIns="0" rIns="0" bIns="0" anchor="t">
            <a:noAutofit/>
          </a:bodyPr>
          <a:lstStyle/>
          <a:p>
            <a:pPr>
              <a:defRPr sz="2325" b="0">
                <a:solidFill>
                  <a:srgbClr val="D2E3E6"/>
                </a:solidFill>
                <a:latin typeface="Helvetica Neue"/>
                <a:ea typeface="Helvetica Neue"/>
                <a:cs typeface="Helvetica Neue"/>
              </a:defRPr>
            </a:pPr>
            <a:r>
              <a:rPr sz="2325" b="0">
                <a:solidFill>
                  <a:srgbClr val="D2E3E6"/>
                </a:solidFill>
                <a:latin typeface="Helvetica Neue"/>
                <a:ea typeface="Helvetica Neue"/>
                <a:cs typeface="Helvetica Neue"/>
              </a:rPr>
              <a:t>Historical evidence and a proposal</a:t>
            </a:r>
          </a:p>
          <a:p>
            <a:pPr>
              <a:defRPr sz="2325" b="0">
                <a:solidFill>
                  <a:srgbClr val="D2E3E6"/>
                </a:solidFill>
                <a:latin typeface="Helvetica Neue"/>
                <a:ea typeface="Helvetica Neue"/>
                <a:cs typeface="Helvetica Neue"/>
              </a:defRPr>
            </a:pPr>
            <a:r>
              <a:rPr sz="2325" b="0">
                <a:solidFill>
                  <a:srgbClr val="D2E3E6"/>
                </a:solidFill>
                <a:latin typeface="Helvetica Neue"/>
                <a:ea typeface="Helvetica Neue"/>
                <a:cs typeface="Helvetica Neue"/>
              </a:rPr>
              <a:t>for a controlled pilot</a:t>
            </a:r>
          </a:p>
        </p:txBody>
      </p:sp>
    </p:spTree>
    <p:extLst>
      <p:ext uri="{BB962C8B-B14F-4D97-AF65-F5344CB8AC3E}">
        <p14:creationId xmlns:p14="http://schemas.microsoft.com/office/powerpoint/2010/main" val="2783078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A4744BC-6EC6-4D45-8EC5-5D415874D9A8}"/>
              </a:ext>
            </a:extLst>
          </p:cNvPr>
          <p:cNvSpPr>
            <a:spLocks noGrp="1"/>
          </p:cNvSpPr>
          <p:nvPr/>
        </p:nvSpPr>
        <p:spPr>
          <a:xfrm>
            <a:off x="609600" y="304800"/>
            <a:ext cx="10477500" cy="266700"/>
          </a:xfrm>
          <a:prstGeom prst="rect">
            <a:avLst/>
          </a:prstGeom>
          <a:noFill/>
          <a:ln w="0">
            <a:noFill/>
          </a:ln>
        </p:spPr>
        <p:txBody>
          <a:bodyPr wrap="square" lIns="0" tIns="0" rIns="0" bIns="0" anchor="t">
            <a:noAutofit/>
          </a:bodyPr>
          <a:lstStyle/>
          <a:p>
            <a:pPr>
              <a:defRPr sz="1350" b="1">
                <a:solidFill>
                  <a:srgbClr val="267D88"/>
                </a:solidFill>
                <a:latin typeface="Helvetica Neue"/>
                <a:ea typeface="Helvetica Neue"/>
                <a:cs typeface="Helvetica Neue"/>
              </a:defRPr>
            </a:pPr>
            <a:r>
              <a:rPr sz="1350" b="1">
                <a:solidFill>
                  <a:srgbClr val="267D88"/>
                </a:solidFill>
                <a:latin typeface="Helvetica Neue"/>
                <a:ea typeface="Helvetica Neue"/>
                <a:cs typeface="Helvetica Neue"/>
              </a:rPr>
              <a:t>02 / BUSINESS PERSPECTIVE</a:t>
            </a:r>
          </a:p>
        </p:txBody>
      </p:sp>
      <p:sp>
        <p:nvSpPr>
          <p:cNvPr id="2" name="Rectangle 1">
            <a:extLst>
              <a:ext uri="{FF2B5EF4-FFF2-40B4-BE49-F238E27FC236}">
                <a16:creationId xmlns:a16="http://schemas.microsoft.com/office/drawing/2014/main" id="{4BC497A0-4A2C-4D45-BC87-C9766BF79124}"/>
              </a:ext>
            </a:extLst>
          </p:cNvPr>
          <p:cNvSpPr>
            <a:spLocks noGrp="1"/>
          </p:cNvSpPr>
          <p:nvPr/>
        </p:nvSpPr>
        <p:spPr>
          <a:xfrm>
            <a:off x="609600" y="742950"/>
            <a:ext cx="10972800" cy="1028700"/>
          </a:xfrm>
          <a:prstGeom prst="rect">
            <a:avLst/>
          </a:prstGeom>
          <a:noFill/>
          <a:ln w="0">
            <a:noFill/>
          </a:ln>
        </p:spPr>
        <p:txBody>
          <a:bodyPr wrap="square" lIns="0" tIns="0" rIns="0" bIns="0" anchor="t">
            <a:noAutofit/>
          </a:bodyPr>
          <a:lstStyle/>
          <a:p>
            <a:pPr>
              <a:defRPr sz="3300" b="1">
                <a:solidFill>
                  <a:srgbClr val="152F3C"/>
                </a:solidFill>
                <a:latin typeface="Helvetica Neue"/>
                <a:ea typeface="Helvetica Neue"/>
                <a:cs typeface="Helvetica Neue"/>
              </a:defRPr>
            </a:pPr>
            <a:r>
              <a:rPr sz="3300" b="1">
                <a:solidFill>
                  <a:srgbClr val="152F3C"/>
                </a:solidFill>
                <a:latin typeface="Helvetica Neue"/>
                <a:ea typeface="Helvetica Neue"/>
                <a:cs typeface="Helvetica Neue"/>
              </a:rPr>
              <a:t>The historical response rate is 14.9%</a:t>
            </a:r>
          </a:p>
        </p:txBody>
      </p:sp>
      <p:sp>
        <p:nvSpPr>
          <p:cNvPr id="3" name="Rectangle 2">
            <a:extLst>
              <a:ext uri="{FF2B5EF4-FFF2-40B4-BE49-F238E27FC236}">
                <a16:creationId xmlns:a16="http://schemas.microsoft.com/office/drawing/2014/main" id="{DC4D2ECF-27C0-4BDD-BE26-428393CA81A1}"/>
              </a:ext>
            </a:extLst>
          </p:cNvPr>
          <p:cNvSpPr>
            <a:spLocks noGrp="1"/>
          </p:cNvSpPr>
          <p:nvPr/>
        </p:nvSpPr>
        <p:spPr>
          <a:xfrm>
            <a:off x="609600" y="6419850"/>
            <a:ext cx="7048500" cy="228600"/>
          </a:xfrm>
          <a:prstGeom prst="rect">
            <a:avLst/>
          </a:prstGeom>
          <a:noFill/>
          <a:ln w="0">
            <a:noFill/>
          </a:ln>
        </p:spPr>
        <p:txBody>
          <a:bodyPr wrap="square" lIns="0" tIns="0" rIns="0" bIns="0" anchor="t">
            <a:noAutofit/>
          </a:bodyPr>
          <a:lstStyle/>
          <a:p>
            <a:pPr>
              <a:defRPr sz="1125" b="0">
                <a:solidFill>
                  <a:srgbClr val="566973"/>
                </a:solidFill>
                <a:latin typeface="Helvetica Neue"/>
                <a:ea typeface="Helvetica Neue"/>
                <a:cs typeface="Helvetica Neue"/>
              </a:defRPr>
            </a:pPr>
            <a:r>
              <a:rPr sz="1125" b="0">
                <a:solidFill>
                  <a:srgbClr val="566973"/>
                </a:solidFill>
                <a:latin typeface="Helvetica Neue"/>
                <a:ea typeface="Helvetica Neue"/>
                <a:cs typeface="Helvetica Neue"/>
              </a:rPr>
              <a:t>CUSTOMER CAMPAIGN ANALYSIS</a:t>
            </a:r>
          </a:p>
        </p:txBody>
      </p:sp>
      <p:sp>
        <p:nvSpPr>
          <p:cNvPr id="4" name="Rectangle 3">
            <a:extLst>
              <a:ext uri="{FF2B5EF4-FFF2-40B4-BE49-F238E27FC236}">
                <a16:creationId xmlns:a16="http://schemas.microsoft.com/office/drawing/2014/main" id="{AEE31B18-AA34-448D-8046-0EF5A32435C3}"/>
              </a:ext>
            </a:extLst>
          </p:cNvPr>
          <p:cNvSpPr>
            <a:spLocks noGrp="1"/>
          </p:cNvSpPr>
          <p:nvPr/>
        </p:nvSpPr>
        <p:spPr>
          <a:xfrm>
            <a:off x="11049000" y="6419850"/>
            <a:ext cx="533400" cy="228600"/>
          </a:xfrm>
          <a:prstGeom prst="rect">
            <a:avLst/>
          </a:prstGeom>
          <a:noFill/>
          <a:ln w="0">
            <a:noFill/>
          </a:ln>
        </p:spPr>
        <p:txBody>
          <a:bodyPr wrap="square" lIns="0" tIns="0" rIns="0" bIns="0" anchor="t">
            <a:noAutofit/>
          </a:bodyPr>
          <a:lstStyle/>
          <a:p>
            <a:pPr>
              <a:defRPr sz="1200" b="0">
                <a:solidFill>
                  <a:srgbClr val="566973"/>
                </a:solidFill>
                <a:latin typeface="Helvetica Neue"/>
                <a:ea typeface="Helvetica Neue"/>
                <a:cs typeface="Helvetica Neue"/>
              </a:defRPr>
            </a:pPr>
            <a:r>
              <a:rPr sz="1200" b="0">
                <a:solidFill>
                  <a:srgbClr val="566973"/>
                </a:solidFill>
                <a:latin typeface="Helvetica Neue"/>
                <a:ea typeface="Helvetica Neue"/>
                <a:cs typeface="Helvetica Neue"/>
              </a:rPr>
              <a:t>02</a:t>
            </a:r>
          </a:p>
        </p:txBody>
      </p:sp>
      <p:sp>
        <p:nvSpPr>
          <p:cNvPr id="5" name="Rectangle 4">
            <a:extLst>
              <a:ext uri="{FF2B5EF4-FFF2-40B4-BE49-F238E27FC236}">
                <a16:creationId xmlns:a16="http://schemas.microsoft.com/office/drawing/2014/main" id="{0E4AAAF7-ABE1-4448-B7C1-515A03A4C3D1}"/>
              </a:ext>
            </a:extLst>
          </p:cNvPr>
          <p:cNvSpPr>
            <a:spLocks noGrp="1"/>
          </p:cNvSpPr>
          <p:nvPr/>
        </p:nvSpPr>
        <p:spPr>
          <a:xfrm>
            <a:off x="609600" y="2000250"/>
            <a:ext cx="4191000" cy="876300"/>
          </a:xfrm>
          <a:prstGeom prst="rect">
            <a:avLst/>
          </a:prstGeom>
          <a:noFill/>
          <a:ln w="0">
            <a:noFill/>
          </a:ln>
        </p:spPr>
        <p:txBody>
          <a:bodyPr wrap="square" lIns="0" tIns="0" rIns="0" bIns="0" anchor="t">
            <a:noAutofit/>
          </a:bodyPr>
          <a:lstStyle/>
          <a:p>
            <a:pPr>
              <a:defRPr sz="5550" b="1">
                <a:solidFill>
                  <a:srgbClr val="267D88"/>
                </a:solidFill>
                <a:latin typeface="Helvetica Neue"/>
                <a:ea typeface="Helvetica Neue"/>
                <a:cs typeface="Helvetica Neue"/>
              </a:defRPr>
            </a:pPr>
            <a:r>
              <a:rPr sz="5550" b="1">
                <a:solidFill>
                  <a:srgbClr val="267D88"/>
                </a:solidFill>
                <a:latin typeface="Helvetica Neue"/>
                <a:ea typeface="Helvetica Neue"/>
                <a:cs typeface="Helvetica Neue"/>
              </a:rPr>
              <a:t>2,236</a:t>
            </a:r>
          </a:p>
        </p:txBody>
      </p:sp>
      <p:sp>
        <p:nvSpPr>
          <p:cNvPr id="6" name="Rectangle 5">
            <a:extLst>
              <a:ext uri="{FF2B5EF4-FFF2-40B4-BE49-F238E27FC236}">
                <a16:creationId xmlns:a16="http://schemas.microsoft.com/office/drawing/2014/main" id="{EA2A8CA6-A5E4-4BD8-9B0C-D38EEC64824A}"/>
              </a:ext>
            </a:extLst>
          </p:cNvPr>
          <p:cNvSpPr>
            <a:spLocks noGrp="1"/>
          </p:cNvSpPr>
          <p:nvPr/>
        </p:nvSpPr>
        <p:spPr>
          <a:xfrm>
            <a:off x="609600" y="2962275"/>
            <a:ext cx="4191000" cy="904875"/>
          </a:xfrm>
          <a:prstGeom prst="rect">
            <a:avLst/>
          </a:prstGeom>
          <a:noFill/>
          <a:ln w="0">
            <a:noFill/>
          </a:ln>
        </p:spPr>
        <p:txBody>
          <a:bodyPr wrap="square" lIns="0" tIns="0" rIns="0" bIns="0" anchor="t">
            <a:noAutofit/>
          </a:bodyPr>
          <a:lstStyle/>
          <a:p>
            <a:pPr>
              <a:defRPr sz="2025" b="0">
                <a:solidFill>
                  <a:srgbClr val="152F3C"/>
                </a:solidFill>
                <a:latin typeface="Helvetica Neue"/>
                <a:ea typeface="Helvetica Neue"/>
                <a:cs typeface="Helvetica Neue"/>
              </a:defRPr>
            </a:pPr>
            <a:r>
              <a:rPr sz="2025" b="0">
                <a:solidFill>
                  <a:srgbClr val="152F3C"/>
                </a:solidFill>
                <a:latin typeface="Helvetica Neue"/>
                <a:ea typeface="Helvetica Neue"/>
                <a:cs typeface="Helvetica Neue"/>
              </a:rPr>
              <a:t>Eligible customers</a:t>
            </a:r>
          </a:p>
        </p:txBody>
      </p:sp>
      <p:sp>
        <p:nvSpPr>
          <p:cNvPr id="7" name="Rectangle 6">
            <a:extLst>
              <a:ext uri="{FF2B5EF4-FFF2-40B4-BE49-F238E27FC236}">
                <a16:creationId xmlns:a16="http://schemas.microsoft.com/office/drawing/2014/main" id="{07C19758-7D31-46E8-B0DC-B55F84C0ED29}"/>
              </a:ext>
            </a:extLst>
          </p:cNvPr>
          <p:cNvSpPr>
            <a:spLocks noGrp="1"/>
          </p:cNvSpPr>
          <p:nvPr/>
        </p:nvSpPr>
        <p:spPr>
          <a:xfrm>
            <a:off x="6191250" y="2000250"/>
            <a:ext cx="4762500" cy="876300"/>
          </a:xfrm>
          <a:prstGeom prst="rect">
            <a:avLst/>
          </a:prstGeom>
          <a:noFill/>
          <a:ln w="0">
            <a:noFill/>
          </a:ln>
        </p:spPr>
        <p:txBody>
          <a:bodyPr wrap="square" lIns="0" tIns="0" rIns="0" bIns="0" anchor="t">
            <a:noAutofit/>
          </a:bodyPr>
          <a:lstStyle/>
          <a:p>
            <a:pPr>
              <a:defRPr sz="5550" b="1">
                <a:solidFill>
                  <a:srgbClr val="267D88"/>
                </a:solidFill>
                <a:latin typeface="Helvetica Neue"/>
                <a:ea typeface="Helvetica Neue"/>
                <a:cs typeface="Helvetica Neue"/>
              </a:defRPr>
            </a:pPr>
            <a:r>
              <a:rPr sz="5550" b="1">
                <a:solidFill>
                  <a:srgbClr val="267D88"/>
                </a:solidFill>
                <a:latin typeface="Helvetica Neue"/>
                <a:ea typeface="Helvetica Neue"/>
                <a:cs typeface="Helvetica Neue"/>
              </a:rPr>
              <a:t>334</a:t>
            </a:r>
          </a:p>
        </p:txBody>
      </p:sp>
      <p:sp>
        <p:nvSpPr>
          <p:cNvPr id="8" name="Rectangle 7">
            <a:extLst>
              <a:ext uri="{FF2B5EF4-FFF2-40B4-BE49-F238E27FC236}">
                <a16:creationId xmlns:a16="http://schemas.microsoft.com/office/drawing/2014/main" id="{6B7882BC-4373-40FD-AB6C-AE0BC5D4E3FF}"/>
              </a:ext>
            </a:extLst>
          </p:cNvPr>
          <p:cNvSpPr>
            <a:spLocks noGrp="1"/>
          </p:cNvSpPr>
          <p:nvPr/>
        </p:nvSpPr>
        <p:spPr>
          <a:xfrm>
            <a:off x="6191250" y="2962275"/>
            <a:ext cx="4762500" cy="904875"/>
          </a:xfrm>
          <a:prstGeom prst="rect">
            <a:avLst/>
          </a:prstGeom>
          <a:noFill/>
          <a:ln w="0">
            <a:noFill/>
          </a:ln>
        </p:spPr>
        <p:txBody>
          <a:bodyPr wrap="square" lIns="0" tIns="0" rIns="0" bIns="0" anchor="t">
            <a:noAutofit/>
          </a:bodyPr>
          <a:lstStyle/>
          <a:p>
            <a:pPr>
              <a:defRPr sz="2025" b="0">
                <a:solidFill>
                  <a:srgbClr val="152F3C"/>
                </a:solidFill>
                <a:latin typeface="Helvetica Neue"/>
                <a:ea typeface="Helvetica Neue"/>
                <a:cs typeface="Helvetica Neue"/>
              </a:defRPr>
            </a:pPr>
            <a:r>
              <a:rPr sz="2025" b="0">
                <a:solidFill>
                  <a:srgbClr val="152F3C"/>
                </a:solidFill>
                <a:latin typeface="Helvetica Neue"/>
                <a:ea typeface="Helvetica Neue"/>
                <a:cs typeface="Helvetica Neue"/>
              </a:rPr>
              <a:t>Recorded responders</a:t>
            </a:r>
          </a:p>
        </p:txBody>
      </p:sp>
      <p:sp>
        <p:nvSpPr>
          <p:cNvPr id="9" name="Rectangle 8">
            <a:extLst>
              <a:ext uri="{FF2B5EF4-FFF2-40B4-BE49-F238E27FC236}">
                <a16:creationId xmlns:a16="http://schemas.microsoft.com/office/drawing/2014/main" id="{E11293D3-FE6E-47A9-B292-803E24D12F05}"/>
              </a:ext>
            </a:extLst>
          </p:cNvPr>
          <p:cNvSpPr>
            <a:spLocks noGrp="1"/>
          </p:cNvSpPr>
          <p:nvPr/>
        </p:nvSpPr>
        <p:spPr>
          <a:xfrm>
            <a:off x="609600" y="4667250"/>
            <a:ext cx="10763250" cy="809625"/>
          </a:xfrm>
          <a:prstGeom prst="rect">
            <a:avLst/>
          </a:prstGeom>
          <a:noFill/>
          <a:ln w="0">
            <a:noFill/>
          </a:ln>
        </p:spPr>
        <p:txBody>
          <a:bodyPr wrap="square" lIns="0" tIns="0" rIns="0" bIns="0" anchor="t">
            <a:noAutofit/>
          </a:bodyPr>
          <a:lstStyle/>
          <a:p>
            <a:pPr>
              <a:defRPr sz="2400" b="0">
                <a:solidFill>
                  <a:srgbClr val="152F3C"/>
                </a:solidFill>
                <a:latin typeface="Helvetica Neue"/>
                <a:ea typeface="Helvetica Neue"/>
                <a:cs typeface="Helvetica Neue"/>
              </a:defRPr>
            </a:pPr>
            <a:r>
              <a:rPr sz="2400" b="0">
                <a:solidFill>
                  <a:srgbClr val="152F3C"/>
                </a:solidFill>
                <a:latin typeface="Helvetica Neue"/>
                <a:ea typeface="Helvetica Neue"/>
                <a:cs typeface="Helvetica Neue"/>
              </a:rPr>
              <a:t>29 source fields describe spending, purchases and household context.</a:t>
            </a:r>
          </a:p>
        </p:txBody>
      </p:sp>
      <p:sp>
        <p:nvSpPr>
          <p:cNvPr id="10" name="Rectangle 9">
            <a:extLst>
              <a:ext uri="{FF2B5EF4-FFF2-40B4-BE49-F238E27FC236}">
                <a16:creationId xmlns:a16="http://schemas.microsoft.com/office/drawing/2014/main" id="{8671830B-8673-4FE8-AB8C-5EF01259F3AB}"/>
              </a:ext>
            </a:extLst>
          </p:cNvPr>
          <p:cNvSpPr>
            <a:spLocks noGrp="1"/>
          </p:cNvSpPr>
          <p:nvPr/>
        </p:nvSpPr>
        <p:spPr>
          <a:xfrm>
            <a:off x="609600" y="5705475"/>
            <a:ext cx="10972800" cy="590550"/>
          </a:xfrm>
          <a:prstGeom prst="rect">
            <a:avLst/>
          </a:prstGeom>
          <a:noFill/>
          <a:ln w="0">
            <a:noFill/>
          </a:ln>
        </p:spPr>
        <p:txBody>
          <a:bodyPr wrap="square" lIns="0" tIns="0" rIns="0" bIns="0" anchor="t">
            <a:noAutofit/>
          </a:bodyPr>
          <a:lstStyle/>
          <a:p>
            <a:pPr>
              <a:defRPr sz="1800" b="0">
                <a:solidFill>
                  <a:srgbClr val="566973"/>
                </a:solidFill>
                <a:latin typeface="Helvetica Neue"/>
                <a:ea typeface="Helvetica Neue"/>
                <a:cs typeface="Helvetica Neue"/>
              </a:defRPr>
            </a:pPr>
            <a:r>
              <a:rPr sz="1800" b="0">
                <a:solidFill>
                  <a:srgbClr val="566973"/>
                </a:solidFill>
                <a:latin typeface="Helvetica Neue"/>
                <a:ea typeface="Helvetica Neue"/>
                <a:cs typeface="Helvetica Neue"/>
              </a:rPr>
              <a:t>Public Kaggle dataset. Campaign timing and currency remain unverified.</a:t>
            </a:r>
          </a:p>
        </p:txBody>
      </p:sp>
    </p:spTree>
    <p:extLst>
      <p:ext uri="{BB962C8B-B14F-4D97-AF65-F5344CB8AC3E}">
        <p14:creationId xmlns:p14="http://schemas.microsoft.com/office/powerpoint/2010/main" val="14685196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6A9AD3B-4F4A-4863-9C86-85E5905E9E12}"/>
              </a:ext>
            </a:extLst>
          </p:cNvPr>
          <p:cNvSpPr>
            <a:spLocks noGrp="1"/>
          </p:cNvSpPr>
          <p:nvPr/>
        </p:nvSpPr>
        <p:spPr>
          <a:xfrm>
            <a:off x="609600" y="304800"/>
            <a:ext cx="10477500" cy="266700"/>
          </a:xfrm>
          <a:prstGeom prst="rect">
            <a:avLst/>
          </a:prstGeom>
          <a:noFill/>
          <a:ln w="0">
            <a:noFill/>
          </a:ln>
        </p:spPr>
        <p:txBody>
          <a:bodyPr wrap="square" lIns="0" tIns="0" rIns="0" bIns="0" anchor="t">
            <a:noAutofit/>
          </a:bodyPr>
          <a:lstStyle/>
          <a:p>
            <a:pPr>
              <a:defRPr sz="1350" b="1">
                <a:solidFill>
                  <a:srgbClr val="267D88"/>
                </a:solidFill>
                <a:latin typeface="Helvetica Neue"/>
                <a:ea typeface="Helvetica Neue"/>
                <a:cs typeface="Helvetica Neue"/>
              </a:defRPr>
            </a:pPr>
            <a:r>
              <a:rPr sz="1350" b="1">
                <a:solidFill>
                  <a:srgbClr val="267D88"/>
                </a:solidFill>
                <a:latin typeface="Helvetica Neue"/>
                <a:ea typeface="Helvetica Neue"/>
                <a:cs typeface="Helvetica Neue"/>
              </a:rPr>
              <a:t>03 / BUSINESS PERSPECTIVE</a:t>
            </a:r>
          </a:p>
        </p:txBody>
      </p:sp>
      <p:sp>
        <p:nvSpPr>
          <p:cNvPr id="2" name="Rectangle 1">
            <a:extLst>
              <a:ext uri="{FF2B5EF4-FFF2-40B4-BE49-F238E27FC236}">
                <a16:creationId xmlns:a16="http://schemas.microsoft.com/office/drawing/2014/main" id="{9626114C-81D1-40DA-A23D-70F7E098424A}"/>
              </a:ext>
            </a:extLst>
          </p:cNvPr>
          <p:cNvSpPr>
            <a:spLocks noGrp="1"/>
          </p:cNvSpPr>
          <p:nvPr/>
        </p:nvSpPr>
        <p:spPr>
          <a:xfrm>
            <a:off x="609600" y="742950"/>
            <a:ext cx="10972800" cy="1028700"/>
          </a:xfrm>
          <a:prstGeom prst="rect">
            <a:avLst/>
          </a:prstGeom>
          <a:noFill/>
          <a:ln w="0">
            <a:noFill/>
          </a:ln>
        </p:spPr>
        <p:txBody>
          <a:bodyPr wrap="square" lIns="0" tIns="0" rIns="0" bIns="0" anchor="t">
            <a:noAutofit/>
          </a:bodyPr>
          <a:lstStyle/>
          <a:p>
            <a:pPr>
              <a:defRPr sz="3300" b="1">
                <a:solidFill>
                  <a:srgbClr val="152F3C"/>
                </a:solidFill>
                <a:latin typeface="Helvetica Neue"/>
                <a:ea typeface="Helvetica Neue"/>
                <a:cs typeface="Helvetica Neue"/>
              </a:defRPr>
            </a:pPr>
            <a:r>
              <a:rPr sz="3300" b="1">
                <a:solidFill>
                  <a:srgbClr val="152F3C"/>
                </a:solidFill>
                <a:latin typeface="Helvetica Neue"/>
                <a:ea typeface="Helvetica Neue"/>
                <a:cs typeface="Helvetica Neue"/>
              </a:rPr>
              <a:t>Evaluation separates fitting from assessment</a:t>
            </a:r>
          </a:p>
        </p:txBody>
      </p:sp>
      <p:sp>
        <p:nvSpPr>
          <p:cNvPr id="3" name="Rectangle 2">
            <a:extLst>
              <a:ext uri="{FF2B5EF4-FFF2-40B4-BE49-F238E27FC236}">
                <a16:creationId xmlns:a16="http://schemas.microsoft.com/office/drawing/2014/main" id="{58254F6F-B5AA-45C2-8306-579BBCB71782}"/>
              </a:ext>
            </a:extLst>
          </p:cNvPr>
          <p:cNvSpPr>
            <a:spLocks noGrp="1"/>
          </p:cNvSpPr>
          <p:nvPr/>
        </p:nvSpPr>
        <p:spPr>
          <a:xfrm>
            <a:off x="609600" y="6419850"/>
            <a:ext cx="7048500" cy="228600"/>
          </a:xfrm>
          <a:prstGeom prst="rect">
            <a:avLst/>
          </a:prstGeom>
          <a:noFill/>
          <a:ln w="0">
            <a:noFill/>
          </a:ln>
        </p:spPr>
        <p:txBody>
          <a:bodyPr wrap="square" lIns="0" tIns="0" rIns="0" bIns="0" anchor="t">
            <a:noAutofit/>
          </a:bodyPr>
          <a:lstStyle/>
          <a:p>
            <a:pPr>
              <a:defRPr sz="1125" b="0">
                <a:solidFill>
                  <a:srgbClr val="566973"/>
                </a:solidFill>
                <a:latin typeface="Helvetica Neue"/>
                <a:ea typeface="Helvetica Neue"/>
                <a:cs typeface="Helvetica Neue"/>
              </a:defRPr>
            </a:pPr>
            <a:r>
              <a:rPr sz="1125" b="0">
                <a:solidFill>
                  <a:srgbClr val="566973"/>
                </a:solidFill>
                <a:latin typeface="Helvetica Neue"/>
                <a:ea typeface="Helvetica Neue"/>
                <a:cs typeface="Helvetica Neue"/>
              </a:rPr>
              <a:t>CUSTOMER CAMPAIGN ANALYSIS</a:t>
            </a:r>
          </a:p>
        </p:txBody>
      </p:sp>
      <p:sp>
        <p:nvSpPr>
          <p:cNvPr id="4" name="Rectangle 3">
            <a:extLst>
              <a:ext uri="{FF2B5EF4-FFF2-40B4-BE49-F238E27FC236}">
                <a16:creationId xmlns:a16="http://schemas.microsoft.com/office/drawing/2014/main" id="{D13380C4-AE08-49FD-A309-9B69034EA9B9}"/>
              </a:ext>
            </a:extLst>
          </p:cNvPr>
          <p:cNvSpPr>
            <a:spLocks noGrp="1"/>
          </p:cNvSpPr>
          <p:nvPr/>
        </p:nvSpPr>
        <p:spPr>
          <a:xfrm>
            <a:off x="11049000" y="6419850"/>
            <a:ext cx="533400" cy="228600"/>
          </a:xfrm>
          <a:prstGeom prst="rect">
            <a:avLst/>
          </a:prstGeom>
          <a:noFill/>
          <a:ln w="0">
            <a:noFill/>
          </a:ln>
        </p:spPr>
        <p:txBody>
          <a:bodyPr wrap="square" lIns="0" tIns="0" rIns="0" bIns="0" anchor="t">
            <a:noAutofit/>
          </a:bodyPr>
          <a:lstStyle/>
          <a:p>
            <a:pPr>
              <a:defRPr sz="1200" b="0">
                <a:solidFill>
                  <a:srgbClr val="566973"/>
                </a:solidFill>
                <a:latin typeface="Helvetica Neue"/>
                <a:ea typeface="Helvetica Neue"/>
                <a:cs typeface="Helvetica Neue"/>
              </a:defRPr>
            </a:pPr>
            <a:r>
              <a:rPr sz="1200" b="0">
                <a:solidFill>
                  <a:srgbClr val="566973"/>
                </a:solidFill>
                <a:latin typeface="Helvetica Neue"/>
                <a:ea typeface="Helvetica Neue"/>
                <a:cs typeface="Helvetica Neue"/>
              </a:rPr>
              <a:t>03</a:t>
            </a:r>
          </a:p>
        </p:txBody>
      </p:sp>
      <p:sp>
        <p:nvSpPr>
          <p:cNvPr id="5" name="Rectangle 4">
            <a:extLst>
              <a:ext uri="{FF2B5EF4-FFF2-40B4-BE49-F238E27FC236}">
                <a16:creationId xmlns:a16="http://schemas.microsoft.com/office/drawing/2014/main" id="{4B3C7A58-CF39-40EA-B38D-BC1D16E03725}"/>
              </a:ext>
            </a:extLst>
          </p:cNvPr>
          <p:cNvSpPr>
            <a:spLocks noGrp="1"/>
          </p:cNvSpPr>
          <p:nvPr/>
        </p:nvSpPr>
        <p:spPr>
          <a:xfrm>
            <a:off x="609600" y="1905000"/>
            <a:ext cx="590550" cy="400050"/>
          </a:xfrm>
          <a:prstGeom prst="rect">
            <a:avLst/>
          </a:prstGeom>
          <a:noFill/>
          <a:ln w="0">
            <a:noFill/>
          </a:ln>
        </p:spPr>
        <p:txBody>
          <a:bodyPr wrap="square" lIns="0" tIns="0" rIns="0" bIns="0" anchor="t">
            <a:noAutofit/>
          </a:bodyPr>
          <a:lstStyle/>
          <a:p>
            <a:pPr>
              <a:defRPr sz="2400" b="1">
                <a:solidFill>
                  <a:srgbClr val="267D88"/>
                </a:solidFill>
                <a:latin typeface="Helvetica Neue"/>
                <a:ea typeface="Helvetica Neue"/>
                <a:cs typeface="Helvetica Neue"/>
              </a:defRPr>
            </a:pPr>
            <a:r>
              <a:rPr sz="2400" b="1">
                <a:solidFill>
                  <a:srgbClr val="267D88"/>
                </a:solidFill>
                <a:latin typeface="Helvetica Neue"/>
                <a:ea typeface="Helvetica Neue"/>
                <a:cs typeface="Helvetica Neue"/>
              </a:rPr>
              <a:t>01</a:t>
            </a:r>
          </a:p>
        </p:txBody>
      </p:sp>
      <p:sp>
        <p:nvSpPr>
          <p:cNvPr id="6" name="Rectangle 5">
            <a:extLst>
              <a:ext uri="{FF2B5EF4-FFF2-40B4-BE49-F238E27FC236}">
                <a16:creationId xmlns:a16="http://schemas.microsoft.com/office/drawing/2014/main" id="{A8EEC64B-0E23-4478-8B0A-70C58EFCED6B}"/>
              </a:ext>
            </a:extLst>
          </p:cNvPr>
          <p:cNvSpPr>
            <a:spLocks noGrp="1"/>
          </p:cNvSpPr>
          <p:nvPr/>
        </p:nvSpPr>
        <p:spPr>
          <a:xfrm>
            <a:off x="1419225" y="1905000"/>
            <a:ext cx="10163175" cy="981075"/>
          </a:xfrm>
          <a:prstGeom prst="rect">
            <a:avLst/>
          </a:prstGeom>
          <a:noFill/>
          <a:ln w="0">
            <a:noFill/>
          </a:ln>
        </p:spPr>
        <p:txBody>
          <a:bodyPr wrap="square" lIns="0" tIns="0" rIns="0" bIns="0" anchor="t">
            <a:noAutofit/>
          </a:bodyPr>
          <a:lstStyle/>
          <a:p>
            <a:pPr>
              <a:defRPr sz="2175" b="0">
                <a:solidFill>
                  <a:srgbClr val="152F3C"/>
                </a:solidFill>
                <a:latin typeface="Helvetica Neue"/>
                <a:ea typeface="Helvetica Neue"/>
                <a:cs typeface="Helvetica Neue"/>
              </a:defRPr>
            </a:pPr>
            <a:r>
              <a:rPr sz="2175" b="0">
                <a:solidFill>
                  <a:srgbClr val="152F3C"/>
                </a:solidFill>
                <a:latin typeface="Helvetica Neue"/>
                <a:ea typeface="Helvetica Neue"/>
                <a:cs typeface="Helvetica Neue"/>
              </a:rPr>
              <a:t>Four model families competed under the same search budget</a:t>
            </a:r>
          </a:p>
        </p:txBody>
      </p:sp>
      <p:sp>
        <p:nvSpPr>
          <p:cNvPr id="7" name="Rectangle 6">
            <a:extLst>
              <a:ext uri="{FF2B5EF4-FFF2-40B4-BE49-F238E27FC236}">
                <a16:creationId xmlns:a16="http://schemas.microsoft.com/office/drawing/2014/main" id="{EAEE5BF6-EF8F-43A8-A011-E16CEDF36FE6}"/>
              </a:ext>
            </a:extLst>
          </p:cNvPr>
          <p:cNvSpPr>
            <a:spLocks noGrp="1"/>
          </p:cNvSpPr>
          <p:nvPr/>
        </p:nvSpPr>
        <p:spPr>
          <a:xfrm>
            <a:off x="609600" y="3000375"/>
            <a:ext cx="590550" cy="400050"/>
          </a:xfrm>
          <a:prstGeom prst="rect">
            <a:avLst/>
          </a:prstGeom>
          <a:noFill/>
          <a:ln w="0">
            <a:noFill/>
          </a:ln>
        </p:spPr>
        <p:txBody>
          <a:bodyPr wrap="square" lIns="0" tIns="0" rIns="0" bIns="0" anchor="t">
            <a:noAutofit/>
          </a:bodyPr>
          <a:lstStyle/>
          <a:p>
            <a:pPr>
              <a:defRPr sz="2400" b="1">
                <a:solidFill>
                  <a:srgbClr val="267D88"/>
                </a:solidFill>
                <a:latin typeface="Helvetica Neue"/>
                <a:ea typeface="Helvetica Neue"/>
                <a:cs typeface="Helvetica Neue"/>
              </a:defRPr>
            </a:pPr>
            <a:r>
              <a:rPr sz="2400" b="1">
                <a:solidFill>
                  <a:srgbClr val="267D88"/>
                </a:solidFill>
                <a:latin typeface="Helvetica Neue"/>
                <a:ea typeface="Helvetica Neue"/>
                <a:cs typeface="Helvetica Neue"/>
              </a:rPr>
              <a:t>02</a:t>
            </a:r>
          </a:p>
        </p:txBody>
      </p:sp>
      <p:sp>
        <p:nvSpPr>
          <p:cNvPr id="8" name="Rectangle 7">
            <a:extLst>
              <a:ext uri="{FF2B5EF4-FFF2-40B4-BE49-F238E27FC236}">
                <a16:creationId xmlns:a16="http://schemas.microsoft.com/office/drawing/2014/main" id="{8D465DBD-A1A6-43EB-8B17-2A13B2B75ACD}"/>
              </a:ext>
            </a:extLst>
          </p:cNvPr>
          <p:cNvSpPr>
            <a:spLocks noGrp="1"/>
          </p:cNvSpPr>
          <p:nvPr/>
        </p:nvSpPr>
        <p:spPr>
          <a:xfrm>
            <a:off x="1419225" y="3000375"/>
            <a:ext cx="10163175" cy="981075"/>
          </a:xfrm>
          <a:prstGeom prst="rect">
            <a:avLst/>
          </a:prstGeom>
          <a:noFill/>
          <a:ln w="0">
            <a:noFill/>
          </a:ln>
        </p:spPr>
        <p:txBody>
          <a:bodyPr wrap="square" lIns="0" tIns="0" rIns="0" bIns="0" anchor="t">
            <a:noAutofit/>
          </a:bodyPr>
          <a:lstStyle/>
          <a:p>
            <a:pPr>
              <a:defRPr sz="2175" b="0">
                <a:solidFill>
                  <a:srgbClr val="152F3C"/>
                </a:solidFill>
                <a:latin typeface="Helvetica Neue"/>
                <a:ea typeface="Helvetica Neue"/>
                <a:cs typeface="Helvetica Neue"/>
              </a:defRPr>
            </a:pPr>
            <a:r>
              <a:rPr sz="2175" b="0">
                <a:solidFill>
                  <a:srgbClr val="152F3C"/>
                </a:solidFill>
                <a:latin typeface="Helvetica Neue"/>
                <a:ea typeface="Helvetica Neue"/>
                <a:cs typeface="Helvetica Neue"/>
              </a:rPr>
              <a:t>Five evaluation rounds kept matching customer profiles together</a:t>
            </a:r>
          </a:p>
        </p:txBody>
      </p:sp>
      <p:sp>
        <p:nvSpPr>
          <p:cNvPr id="9" name="Rectangle 8">
            <a:extLst>
              <a:ext uri="{FF2B5EF4-FFF2-40B4-BE49-F238E27FC236}">
                <a16:creationId xmlns:a16="http://schemas.microsoft.com/office/drawing/2014/main" id="{0E96E3E1-1938-432B-B27C-37083A42E399}"/>
              </a:ext>
            </a:extLst>
          </p:cNvPr>
          <p:cNvSpPr>
            <a:spLocks noGrp="1"/>
          </p:cNvSpPr>
          <p:nvPr/>
        </p:nvSpPr>
        <p:spPr>
          <a:xfrm>
            <a:off x="609600" y="4095750"/>
            <a:ext cx="590550" cy="400050"/>
          </a:xfrm>
          <a:prstGeom prst="rect">
            <a:avLst/>
          </a:prstGeom>
          <a:noFill/>
          <a:ln w="0">
            <a:noFill/>
          </a:ln>
        </p:spPr>
        <p:txBody>
          <a:bodyPr wrap="square" lIns="0" tIns="0" rIns="0" bIns="0" anchor="t">
            <a:noAutofit/>
          </a:bodyPr>
          <a:lstStyle/>
          <a:p>
            <a:pPr>
              <a:defRPr sz="2400" b="1">
                <a:solidFill>
                  <a:srgbClr val="267D88"/>
                </a:solidFill>
                <a:latin typeface="Helvetica Neue"/>
                <a:ea typeface="Helvetica Neue"/>
                <a:cs typeface="Helvetica Neue"/>
              </a:defRPr>
            </a:pPr>
            <a:r>
              <a:rPr sz="2400" b="1">
                <a:solidFill>
                  <a:srgbClr val="267D88"/>
                </a:solidFill>
                <a:latin typeface="Helvetica Neue"/>
                <a:ea typeface="Helvetica Neue"/>
                <a:cs typeface="Helvetica Neue"/>
              </a:rPr>
              <a:t>03</a:t>
            </a:r>
          </a:p>
        </p:txBody>
      </p:sp>
      <p:sp>
        <p:nvSpPr>
          <p:cNvPr id="10" name="Rectangle 9">
            <a:extLst>
              <a:ext uri="{FF2B5EF4-FFF2-40B4-BE49-F238E27FC236}">
                <a16:creationId xmlns:a16="http://schemas.microsoft.com/office/drawing/2014/main" id="{8A88F2C9-F340-482F-847C-48ABA2C9CDC0}"/>
              </a:ext>
            </a:extLst>
          </p:cNvPr>
          <p:cNvSpPr>
            <a:spLocks noGrp="1"/>
          </p:cNvSpPr>
          <p:nvPr/>
        </p:nvSpPr>
        <p:spPr>
          <a:xfrm>
            <a:off x="1419225" y="4095750"/>
            <a:ext cx="10163175" cy="981075"/>
          </a:xfrm>
          <a:prstGeom prst="rect">
            <a:avLst/>
          </a:prstGeom>
          <a:noFill/>
          <a:ln w="0">
            <a:noFill/>
          </a:ln>
        </p:spPr>
        <p:txBody>
          <a:bodyPr wrap="square" lIns="0" tIns="0" rIns="0" bIns="0" anchor="t">
            <a:noAutofit/>
          </a:bodyPr>
          <a:lstStyle/>
          <a:p>
            <a:pPr>
              <a:defRPr sz="2175" b="0">
                <a:solidFill>
                  <a:srgbClr val="152F3C"/>
                </a:solidFill>
                <a:latin typeface="Helvetica Neue"/>
                <a:ea typeface="Helvetica Neue"/>
                <a:cs typeface="Helvetica Neue"/>
              </a:defRPr>
            </a:pPr>
            <a:r>
              <a:rPr sz="2175" b="0">
                <a:solidFill>
                  <a:srgbClr val="152F3C"/>
                </a:solidFill>
                <a:latin typeface="Helvetica Neue"/>
                <a:ea typeface="Helvetica Neue"/>
                <a:cs typeface="Helvetica Neue"/>
              </a:rPr>
              <a:t>Each round froze its model and contact rules before assessment</a:t>
            </a:r>
          </a:p>
        </p:txBody>
      </p:sp>
      <p:sp>
        <p:nvSpPr>
          <p:cNvPr id="11" name="Rectangle 10">
            <a:extLst>
              <a:ext uri="{FF2B5EF4-FFF2-40B4-BE49-F238E27FC236}">
                <a16:creationId xmlns:a16="http://schemas.microsoft.com/office/drawing/2014/main" id="{41835A8D-888D-4D9D-B229-907F30476DC6}"/>
              </a:ext>
            </a:extLst>
          </p:cNvPr>
          <p:cNvSpPr>
            <a:spLocks noGrp="1"/>
          </p:cNvSpPr>
          <p:nvPr/>
        </p:nvSpPr>
        <p:spPr>
          <a:xfrm>
            <a:off x="609600" y="5638800"/>
            <a:ext cx="10972800" cy="590550"/>
          </a:xfrm>
          <a:prstGeom prst="rect">
            <a:avLst/>
          </a:prstGeom>
          <a:noFill/>
          <a:ln w="0">
            <a:noFill/>
          </a:ln>
        </p:spPr>
        <p:txBody>
          <a:bodyPr wrap="square" lIns="0" tIns="0" rIns="0" bIns="0" anchor="t">
            <a:noAutofit/>
          </a:bodyPr>
          <a:lstStyle/>
          <a:p>
            <a:pPr>
              <a:defRPr sz="1800" b="0">
                <a:solidFill>
                  <a:srgbClr val="566973"/>
                </a:solidFill>
                <a:latin typeface="Helvetica Neue"/>
                <a:ea typeface="Helvetica Neue"/>
                <a:cs typeface="Helvetica Neue"/>
              </a:defRPr>
            </a:pPr>
            <a:r>
              <a:rPr sz="1800" b="0">
                <a:solidFill>
                  <a:srgbClr val="566973"/>
                </a:solidFill>
                <a:latin typeface="Helvetica Neue"/>
                <a:ea typeface="Helvetica Neue"/>
                <a:cs typeface="Helvetica Neue"/>
              </a:rPr>
              <a:t>Separate development selection produced the saved SVM candidate.</a:t>
            </a:r>
          </a:p>
        </p:txBody>
      </p:sp>
    </p:spTree>
    <p:extLst>
      <p:ext uri="{BB962C8B-B14F-4D97-AF65-F5344CB8AC3E}">
        <p14:creationId xmlns:p14="http://schemas.microsoft.com/office/powerpoint/2010/main" val="19290320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1D2758C-51BB-4087-9885-2E9EE42EDF12}"/>
              </a:ext>
            </a:extLst>
          </p:cNvPr>
          <p:cNvSpPr>
            <a:spLocks noGrp="1"/>
          </p:cNvSpPr>
          <p:nvPr/>
        </p:nvSpPr>
        <p:spPr>
          <a:xfrm>
            <a:off x="609600" y="304800"/>
            <a:ext cx="10477500" cy="266700"/>
          </a:xfrm>
          <a:prstGeom prst="rect">
            <a:avLst/>
          </a:prstGeom>
          <a:noFill/>
          <a:ln w="0">
            <a:noFill/>
          </a:ln>
        </p:spPr>
        <p:txBody>
          <a:bodyPr wrap="square" lIns="0" tIns="0" rIns="0" bIns="0" anchor="t">
            <a:noAutofit/>
          </a:bodyPr>
          <a:lstStyle/>
          <a:p>
            <a:pPr>
              <a:defRPr sz="1350" b="1">
                <a:solidFill>
                  <a:srgbClr val="267D88"/>
                </a:solidFill>
                <a:latin typeface="Helvetica Neue"/>
                <a:ea typeface="Helvetica Neue"/>
                <a:cs typeface="Helvetica Neue"/>
              </a:defRPr>
            </a:pPr>
            <a:r>
              <a:rPr sz="1350" b="1">
                <a:solidFill>
                  <a:srgbClr val="267D88"/>
                </a:solidFill>
                <a:latin typeface="Helvetica Neue"/>
                <a:ea typeface="Helvetica Neue"/>
                <a:cs typeface="Helvetica Neue"/>
              </a:rPr>
              <a:t>04 / BUSINESS PERSPECTIVE</a:t>
            </a:r>
          </a:p>
        </p:txBody>
      </p:sp>
      <p:sp>
        <p:nvSpPr>
          <p:cNvPr id="2" name="Rectangle 1">
            <a:extLst>
              <a:ext uri="{FF2B5EF4-FFF2-40B4-BE49-F238E27FC236}">
                <a16:creationId xmlns:a16="http://schemas.microsoft.com/office/drawing/2014/main" id="{565ADF21-71B4-4987-AA17-8301FA2150F2}"/>
              </a:ext>
            </a:extLst>
          </p:cNvPr>
          <p:cNvSpPr>
            <a:spLocks noGrp="1"/>
          </p:cNvSpPr>
          <p:nvPr/>
        </p:nvSpPr>
        <p:spPr>
          <a:xfrm>
            <a:off x="609600" y="742950"/>
            <a:ext cx="10972800" cy="1028700"/>
          </a:xfrm>
          <a:prstGeom prst="rect">
            <a:avLst/>
          </a:prstGeom>
          <a:noFill/>
          <a:ln w="0">
            <a:noFill/>
          </a:ln>
        </p:spPr>
        <p:txBody>
          <a:bodyPr wrap="square" lIns="0" tIns="0" rIns="0" bIns="0" anchor="t">
            <a:noAutofit/>
          </a:bodyPr>
          <a:lstStyle/>
          <a:p>
            <a:pPr>
              <a:defRPr sz="3300" b="1">
                <a:solidFill>
                  <a:srgbClr val="152F3C"/>
                </a:solidFill>
                <a:latin typeface="Helvetica Neue"/>
                <a:ea typeface="Helvetica Neue"/>
                <a:cs typeface="Helvetica Neue"/>
              </a:defRPr>
            </a:pPr>
            <a:r>
              <a:rPr sz="3300" b="1">
                <a:solidFill>
                  <a:srgbClr val="152F3C"/>
                </a:solidFill>
                <a:latin typeface="Helvetica Neue"/>
                <a:ea typeface="Helvetica Neue"/>
                <a:cs typeface="Helvetica Neue"/>
              </a:rPr>
              <a:t>The policy selects 16.3% of customers</a:t>
            </a:r>
          </a:p>
        </p:txBody>
      </p:sp>
      <p:sp>
        <p:nvSpPr>
          <p:cNvPr id="3" name="Rectangle 2">
            <a:extLst>
              <a:ext uri="{FF2B5EF4-FFF2-40B4-BE49-F238E27FC236}">
                <a16:creationId xmlns:a16="http://schemas.microsoft.com/office/drawing/2014/main" id="{38EBB131-11DB-4504-A54E-BEF45124A7E0}"/>
              </a:ext>
            </a:extLst>
          </p:cNvPr>
          <p:cNvSpPr>
            <a:spLocks noGrp="1"/>
          </p:cNvSpPr>
          <p:nvPr/>
        </p:nvSpPr>
        <p:spPr>
          <a:xfrm>
            <a:off x="609600" y="6419850"/>
            <a:ext cx="7048500" cy="228600"/>
          </a:xfrm>
          <a:prstGeom prst="rect">
            <a:avLst/>
          </a:prstGeom>
          <a:noFill/>
          <a:ln w="0">
            <a:noFill/>
          </a:ln>
        </p:spPr>
        <p:txBody>
          <a:bodyPr wrap="square" lIns="0" tIns="0" rIns="0" bIns="0" anchor="t">
            <a:noAutofit/>
          </a:bodyPr>
          <a:lstStyle/>
          <a:p>
            <a:pPr>
              <a:defRPr sz="1125" b="0">
                <a:solidFill>
                  <a:srgbClr val="566973"/>
                </a:solidFill>
                <a:latin typeface="Helvetica Neue"/>
                <a:ea typeface="Helvetica Neue"/>
                <a:cs typeface="Helvetica Neue"/>
              </a:defRPr>
            </a:pPr>
            <a:r>
              <a:rPr sz="1125" b="0">
                <a:solidFill>
                  <a:srgbClr val="566973"/>
                </a:solidFill>
                <a:latin typeface="Helvetica Neue"/>
                <a:ea typeface="Helvetica Neue"/>
                <a:cs typeface="Helvetica Neue"/>
              </a:rPr>
              <a:t>CUSTOMER CAMPAIGN ANALYSIS</a:t>
            </a:r>
          </a:p>
        </p:txBody>
      </p:sp>
      <p:sp>
        <p:nvSpPr>
          <p:cNvPr id="4" name="Rectangle 3">
            <a:extLst>
              <a:ext uri="{FF2B5EF4-FFF2-40B4-BE49-F238E27FC236}">
                <a16:creationId xmlns:a16="http://schemas.microsoft.com/office/drawing/2014/main" id="{7716199D-8D26-4D46-88D8-0BC47817DFD1}"/>
              </a:ext>
            </a:extLst>
          </p:cNvPr>
          <p:cNvSpPr>
            <a:spLocks noGrp="1"/>
          </p:cNvSpPr>
          <p:nvPr/>
        </p:nvSpPr>
        <p:spPr>
          <a:xfrm>
            <a:off x="11049000" y="6419850"/>
            <a:ext cx="533400" cy="228600"/>
          </a:xfrm>
          <a:prstGeom prst="rect">
            <a:avLst/>
          </a:prstGeom>
          <a:noFill/>
          <a:ln w="0">
            <a:noFill/>
          </a:ln>
        </p:spPr>
        <p:txBody>
          <a:bodyPr wrap="square" lIns="0" tIns="0" rIns="0" bIns="0" anchor="t">
            <a:noAutofit/>
          </a:bodyPr>
          <a:lstStyle/>
          <a:p>
            <a:pPr>
              <a:defRPr sz="1200" b="0">
                <a:solidFill>
                  <a:srgbClr val="566973"/>
                </a:solidFill>
                <a:latin typeface="Helvetica Neue"/>
                <a:ea typeface="Helvetica Neue"/>
                <a:cs typeface="Helvetica Neue"/>
              </a:defRPr>
            </a:pPr>
            <a:r>
              <a:rPr sz="1200" b="0">
                <a:solidFill>
                  <a:srgbClr val="566973"/>
                </a:solidFill>
                <a:latin typeface="Helvetica Neue"/>
                <a:ea typeface="Helvetica Neue"/>
                <a:cs typeface="Helvetica Neue"/>
              </a:rPr>
              <a:t>04</a:t>
            </a:r>
          </a:p>
        </p:txBody>
      </p:sp>
      <p:graphicFrame>
        <p:nvGraphicFramePr>
          <p:cNvPr id="14" name="Chart"/>
          <p:cNvGraphicFramePr/>
          <p:nvPr/>
        </p:nvGraphicFramePr>
        <p:xfrm>
          <a:off x="609600" y="1933575"/>
          <a:ext cx="10715625" cy="2095500"/>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5">
            <a:extLst>
              <a:ext uri="{FF2B5EF4-FFF2-40B4-BE49-F238E27FC236}">
                <a16:creationId xmlns:a16="http://schemas.microsoft.com/office/drawing/2014/main" id="{2A0D3E1C-B157-4EFC-953F-BF6E19CC7D12}"/>
              </a:ext>
            </a:extLst>
          </p:cNvPr>
          <p:cNvSpPr>
            <a:spLocks noGrp="1"/>
          </p:cNvSpPr>
          <p:nvPr/>
        </p:nvSpPr>
        <p:spPr>
          <a:xfrm>
            <a:off x="609600" y="4419600"/>
            <a:ext cx="4667250" cy="857250"/>
          </a:xfrm>
          <a:prstGeom prst="rect">
            <a:avLst/>
          </a:prstGeom>
          <a:noFill/>
          <a:ln w="0">
            <a:noFill/>
          </a:ln>
        </p:spPr>
        <p:txBody>
          <a:bodyPr wrap="square" lIns="0" tIns="0" rIns="0" bIns="0" anchor="t">
            <a:noAutofit/>
          </a:bodyPr>
          <a:lstStyle/>
          <a:p>
            <a:pPr>
              <a:defRPr sz="5400" b="1">
                <a:solidFill>
                  <a:srgbClr val="267D88"/>
                </a:solidFill>
                <a:latin typeface="Helvetica Neue"/>
                <a:ea typeface="Helvetica Neue"/>
                <a:cs typeface="Helvetica Neue"/>
              </a:defRPr>
            </a:pPr>
            <a:r>
              <a:rPr sz="5400" b="1">
                <a:solidFill>
                  <a:srgbClr val="267D88"/>
                </a:solidFill>
                <a:latin typeface="Helvetica Neue"/>
                <a:ea typeface="Helvetica Neue"/>
                <a:cs typeface="Helvetica Neue"/>
              </a:rPr>
              <a:t>52.3%</a:t>
            </a:r>
          </a:p>
        </p:txBody>
      </p:sp>
      <p:sp>
        <p:nvSpPr>
          <p:cNvPr id="7" name="Rectangle 6">
            <a:extLst>
              <a:ext uri="{FF2B5EF4-FFF2-40B4-BE49-F238E27FC236}">
                <a16:creationId xmlns:a16="http://schemas.microsoft.com/office/drawing/2014/main" id="{B9167181-04B2-4881-A73F-6E6C27F15E22}"/>
              </a:ext>
            </a:extLst>
          </p:cNvPr>
          <p:cNvSpPr>
            <a:spLocks noGrp="1"/>
          </p:cNvSpPr>
          <p:nvPr/>
        </p:nvSpPr>
        <p:spPr>
          <a:xfrm>
            <a:off x="609600" y="5238750"/>
            <a:ext cx="4762500" cy="838200"/>
          </a:xfrm>
          <a:prstGeom prst="rect">
            <a:avLst/>
          </a:prstGeom>
          <a:noFill/>
          <a:ln w="0">
            <a:noFill/>
          </a:ln>
        </p:spPr>
        <p:txBody>
          <a:bodyPr wrap="square" lIns="0" tIns="0" rIns="0" bIns="0" anchor="t">
            <a:noAutofit/>
          </a:bodyPr>
          <a:lstStyle/>
          <a:p>
            <a:pPr>
              <a:defRPr sz="2100" b="0">
                <a:solidFill>
                  <a:srgbClr val="152F3C"/>
                </a:solidFill>
                <a:latin typeface="Helvetica Neue"/>
                <a:ea typeface="Helvetica Neue"/>
                <a:cs typeface="Helvetica Neue"/>
              </a:defRPr>
            </a:pPr>
            <a:r>
              <a:rPr sz="2100" b="0">
                <a:solidFill>
                  <a:srgbClr val="152F3C"/>
                </a:solidFill>
                <a:latin typeface="Helvetica Neue"/>
                <a:ea typeface="Helvetica Neue"/>
                <a:cs typeface="Helvetica Neue"/>
              </a:rPr>
              <a:t>Response concentration</a:t>
            </a:r>
          </a:p>
          <a:p>
            <a:pPr>
              <a:defRPr sz="2100" b="0">
                <a:solidFill>
                  <a:srgbClr val="152F3C"/>
                </a:solidFill>
                <a:latin typeface="Helvetica Neue"/>
                <a:ea typeface="Helvetica Neue"/>
                <a:cs typeface="Helvetica Neue"/>
              </a:defRPr>
            </a:pPr>
            <a:r>
              <a:rPr sz="2100" b="0">
                <a:solidFill>
                  <a:srgbClr val="152F3C"/>
                </a:solidFill>
                <a:latin typeface="Helvetica Neue"/>
                <a:ea typeface="Helvetica Neue"/>
                <a:cs typeface="Helvetica Neue"/>
              </a:rPr>
              <a:t>in the selected list</a:t>
            </a:r>
          </a:p>
        </p:txBody>
      </p:sp>
      <p:sp>
        <p:nvSpPr>
          <p:cNvPr id="8" name="Rectangle 7">
            <a:extLst>
              <a:ext uri="{FF2B5EF4-FFF2-40B4-BE49-F238E27FC236}">
                <a16:creationId xmlns:a16="http://schemas.microsoft.com/office/drawing/2014/main" id="{890A61DA-F77B-4F09-9D51-B71154CCA89B}"/>
              </a:ext>
            </a:extLst>
          </p:cNvPr>
          <p:cNvSpPr>
            <a:spLocks noGrp="1"/>
          </p:cNvSpPr>
          <p:nvPr/>
        </p:nvSpPr>
        <p:spPr>
          <a:xfrm>
            <a:off x="6591300" y="4419600"/>
            <a:ext cx="4476750" cy="857250"/>
          </a:xfrm>
          <a:prstGeom prst="rect">
            <a:avLst/>
          </a:prstGeom>
          <a:noFill/>
          <a:ln w="0">
            <a:noFill/>
          </a:ln>
        </p:spPr>
        <p:txBody>
          <a:bodyPr wrap="square" lIns="0" tIns="0" rIns="0" bIns="0" anchor="t">
            <a:noAutofit/>
          </a:bodyPr>
          <a:lstStyle/>
          <a:p>
            <a:pPr>
              <a:defRPr sz="5400" b="1">
                <a:solidFill>
                  <a:srgbClr val="267D88"/>
                </a:solidFill>
                <a:latin typeface="Helvetica Neue"/>
                <a:ea typeface="Helvetica Neue"/>
                <a:cs typeface="Helvetica Neue"/>
              </a:defRPr>
            </a:pPr>
            <a:r>
              <a:rPr sz="5400" b="1">
                <a:solidFill>
                  <a:srgbClr val="267D88"/>
                </a:solidFill>
                <a:latin typeface="Helvetica Neue"/>
                <a:ea typeface="Helvetica Neue"/>
                <a:cs typeface="Helvetica Neue"/>
              </a:rPr>
              <a:t>57.2%</a:t>
            </a:r>
          </a:p>
        </p:txBody>
      </p:sp>
      <p:sp>
        <p:nvSpPr>
          <p:cNvPr id="9" name="Rectangle 8">
            <a:extLst>
              <a:ext uri="{FF2B5EF4-FFF2-40B4-BE49-F238E27FC236}">
                <a16:creationId xmlns:a16="http://schemas.microsoft.com/office/drawing/2014/main" id="{6816379B-49D0-436F-986C-954FB96BCD79}"/>
              </a:ext>
            </a:extLst>
          </p:cNvPr>
          <p:cNvSpPr>
            <a:spLocks noGrp="1"/>
          </p:cNvSpPr>
          <p:nvPr/>
        </p:nvSpPr>
        <p:spPr>
          <a:xfrm>
            <a:off x="6591300" y="5238750"/>
            <a:ext cx="4953000" cy="838200"/>
          </a:xfrm>
          <a:prstGeom prst="rect">
            <a:avLst/>
          </a:prstGeom>
          <a:noFill/>
          <a:ln w="0">
            <a:noFill/>
          </a:ln>
        </p:spPr>
        <p:txBody>
          <a:bodyPr wrap="square" lIns="0" tIns="0" rIns="0" bIns="0" anchor="t">
            <a:noAutofit/>
          </a:bodyPr>
          <a:lstStyle/>
          <a:p>
            <a:pPr>
              <a:defRPr sz="2100" b="0">
                <a:solidFill>
                  <a:srgbClr val="152F3C"/>
                </a:solidFill>
                <a:latin typeface="Helvetica Neue"/>
                <a:ea typeface="Helvetica Neue"/>
                <a:cs typeface="Helvetica Neue"/>
              </a:defRPr>
            </a:pPr>
            <a:r>
              <a:rPr sz="2100" b="0">
                <a:solidFill>
                  <a:srgbClr val="152F3C"/>
                </a:solidFill>
                <a:latin typeface="Helvetica Neue"/>
                <a:ea typeface="Helvetica Neue"/>
                <a:cs typeface="Helvetica Neue"/>
              </a:rPr>
              <a:t>Recorded responders captured</a:t>
            </a:r>
          </a:p>
          <a:p>
            <a:pPr>
              <a:defRPr sz="2100" b="0">
                <a:solidFill>
                  <a:srgbClr val="152F3C"/>
                </a:solidFill>
                <a:latin typeface="Helvetica Neue"/>
                <a:ea typeface="Helvetica Neue"/>
                <a:cs typeface="Helvetica Neue"/>
              </a:defRPr>
            </a:pPr>
            <a:r>
              <a:rPr sz="2100" b="0">
                <a:solidFill>
                  <a:srgbClr val="152F3C"/>
                </a:solidFill>
                <a:latin typeface="Helvetica Neue"/>
                <a:ea typeface="Helvetica Neue"/>
                <a:cs typeface="Helvetica Neue"/>
              </a:rPr>
              <a:t>143 responders remain outside the list</a:t>
            </a:r>
          </a:p>
        </p:txBody>
      </p:sp>
    </p:spTree>
    <p:extLst>
      <p:ext uri="{BB962C8B-B14F-4D97-AF65-F5344CB8AC3E}">
        <p14:creationId xmlns:p14="http://schemas.microsoft.com/office/powerpoint/2010/main" val="10767152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76E9BEF-503C-4D76-8044-578B95BFD763}"/>
              </a:ext>
            </a:extLst>
          </p:cNvPr>
          <p:cNvSpPr>
            <a:spLocks noGrp="1"/>
          </p:cNvSpPr>
          <p:nvPr/>
        </p:nvSpPr>
        <p:spPr>
          <a:xfrm>
            <a:off x="609600" y="304800"/>
            <a:ext cx="10477500" cy="266700"/>
          </a:xfrm>
          <a:prstGeom prst="rect">
            <a:avLst/>
          </a:prstGeom>
          <a:noFill/>
          <a:ln w="0">
            <a:noFill/>
          </a:ln>
        </p:spPr>
        <p:txBody>
          <a:bodyPr wrap="square" lIns="0" tIns="0" rIns="0" bIns="0" anchor="t">
            <a:noAutofit/>
          </a:bodyPr>
          <a:lstStyle/>
          <a:p>
            <a:pPr>
              <a:defRPr sz="1350" b="1">
                <a:solidFill>
                  <a:srgbClr val="267D88"/>
                </a:solidFill>
                <a:latin typeface="Helvetica Neue"/>
                <a:ea typeface="Helvetica Neue"/>
                <a:cs typeface="Helvetica Neue"/>
              </a:defRPr>
            </a:pPr>
            <a:r>
              <a:rPr sz="1350" b="1">
                <a:solidFill>
                  <a:srgbClr val="267D88"/>
                </a:solidFill>
                <a:latin typeface="Helvetica Neue"/>
                <a:ea typeface="Helvetica Neue"/>
                <a:cs typeface="Helvetica Neue"/>
              </a:rPr>
              <a:t>05 / BUSINESS PERSPECTIVE</a:t>
            </a:r>
          </a:p>
        </p:txBody>
      </p:sp>
      <p:sp>
        <p:nvSpPr>
          <p:cNvPr id="2" name="Rectangle 1">
            <a:extLst>
              <a:ext uri="{FF2B5EF4-FFF2-40B4-BE49-F238E27FC236}">
                <a16:creationId xmlns:a16="http://schemas.microsoft.com/office/drawing/2014/main" id="{8BAE60FA-814F-4182-9F2E-D45577ABD96D}"/>
              </a:ext>
            </a:extLst>
          </p:cNvPr>
          <p:cNvSpPr>
            <a:spLocks noGrp="1"/>
          </p:cNvSpPr>
          <p:nvPr/>
        </p:nvSpPr>
        <p:spPr>
          <a:xfrm>
            <a:off x="609600" y="742950"/>
            <a:ext cx="10972800" cy="1028700"/>
          </a:xfrm>
          <a:prstGeom prst="rect">
            <a:avLst/>
          </a:prstGeom>
          <a:noFill/>
          <a:ln w="0">
            <a:noFill/>
          </a:ln>
        </p:spPr>
        <p:txBody>
          <a:bodyPr wrap="square" lIns="0" tIns="0" rIns="0" bIns="0" anchor="t">
            <a:noAutofit/>
          </a:bodyPr>
          <a:lstStyle/>
          <a:p>
            <a:pPr>
              <a:defRPr sz="3300" b="1">
                <a:solidFill>
                  <a:srgbClr val="152F3C"/>
                </a:solidFill>
                <a:latin typeface="Helvetica Neue"/>
                <a:ea typeface="Helvetica Neue"/>
                <a:cs typeface="Helvetica Neue"/>
              </a:defRPr>
            </a:pPr>
            <a:r>
              <a:rPr sz="3300" b="1">
                <a:solidFill>
                  <a:srgbClr val="152F3C"/>
                </a:solidFill>
                <a:latin typeface="Helvetica Neue"/>
                <a:ea typeface="Helvetica Neue"/>
                <a:cs typeface="Helvetica Neue"/>
              </a:rPr>
              <a:t>Assumed economics favour selective contact</a:t>
            </a:r>
          </a:p>
        </p:txBody>
      </p:sp>
      <p:sp>
        <p:nvSpPr>
          <p:cNvPr id="3" name="Rectangle 2">
            <a:extLst>
              <a:ext uri="{FF2B5EF4-FFF2-40B4-BE49-F238E27FC236}">
                <a16:creationId xmlns:a16="http://schemas.microsoft.com/office/drawing/2014/main" id="{68545BB4-6B25-4FA1-A2E9-82F619A1D71E}"/>
              </a:ext>
            </a:extLst>
          </p:cNvPr>
          <p:cNvSpPr>
            <a:spLocks noGrp="1"/>
          </p:cNvSpPr>
          <p:nvPr/>
        </p:nvSpPr>
        <p:spPr>
          <a:xfrm>
            <a:off x="609600" y="6419850"/>
            <a:ext cx="7048500" cy="228600"/>
          </a:xfrm>
          <a:prstGeom prst="rect">
            <a:avLst/>
          </a:prstGeom>
          <a:noFill/>
          <a:ln w="0">
            <a:noFill/>
          </a:ln>
        </p:spPr>
        <p:txBody>
          <a:bodyPr wrap="square" lIns="0" tIns="0" rIns="0" bIns="0" anchor="t">
            <a:noAutofit/>
          </a:bodyPr>
          <a:lstStyle/>
          <a:p>
            <a:pPr>
              <a:defRPr sz="1125" b="0">
                <a:solidFill>
                  <a:srgbClr val="566973"/>
                </a:solidFill>
                <a:latin typeface="Helvetica Neue"/>
                <a:ea typeface="Helvetica Neue"/>
                <a:cs typeface="Helvetica Neue"/>
              </a:defRPr>
            </a:pPr>
            <a:r>
              <a:rPr sz="1125" b="0">
                <a:solidFill>
                  <a:srgbClr val="566973"/>
                </a:solidFill>
                <a:latin typeface="Helvetica Neue"/>
                <a:ea typeface="Helvetica Neue"/>
                <a:cs typeface="Helvetica Neue"/>
              </a:rPr>
              <a:t>CUSTOMER CAMPAIGN ANALYSIS</a:t>
            </a:r>
          </a:p>
        </p:txBody>
      </p:sp>
      <p:sp>
        <p:nvSpPr>
          <p:cNvPr id="4" name="Rectangle 3">
            <a:extLst>
              <a:ext uri="{FF2B5EF4-FFF2-40B4-BE49-F238E27FC236}">
                <a16:creationId xmlns:a16="http://schemas.microsoft.com/office/drawing/2014/main" id="{ED86A941-A857-4163-B9B7-EE4037309778}"/>
              </a:ext>
            </a:extLst>
          </p:cNvPr>
          <p:cNvSpPr>
            <a:spLocks noGrp="1"/>
          </p:cNvSpPr>
          <p:nvPr/>
        </p:nvSpPr>
        <p:spPr>
          <a:xfrm>
            <a:off x="11049000" y="6419850"/>
            <a:ext cx="533400" cy="228600"/>
          </a:xfrm>
          <a:prstGeom prst="rect">
            <a:avLst/>
          </a:prstGeom>
          <a:noFill/>
          <a:ln w="0">
            <a:noFill/>
          </a:ln>
        </p:spPr>
        <p:txBody>
          <a:bodyPr wrap="square" lIns="0" tIns="0" rIns="0" bIns="0" anchor="t">
            <a:noAutofit/>
          </a:bodyPr>
          <a:lstStyle/>
          <a:p>
            <a:pPr>
              <a:defRPr sz="1200" b="0">
                <a:solidFill>
                  <a:srgbClr val="566973"/>
                </a:solidFill>
                <a:latin typeface="Helvetica Neue"/>
                <a:ea typeface="Helvetica Neue"/>
                <a:cs typeface="Helvetica Neue"/>
              </a:defRPr>
            </a:pPr>
            <a:r>
              <a:rPr sz="1200" b="0">
                <a:solidFill>
                  <a:srgbClr val="566973"/>
                </a:solidFill>
                <a:latin typeface="Helvetica Neue"/>
                <a:ea typeface="Helvetica Neue"/>
                <a:cs typeface="Helvetica Neue"/>
              </a:rPr>
              <a:t>05</a:t>
            </a:r>
          </a:p>
        </p:txBody>
      </p:sp>
      <p:graphicFrame>
        <p:nvGraphicFramePr>
          <p:cNvPr id="12" name="Table 11"/>
          <p:cNvGraphicFramePr/>
          <p:nvPr/>
        </p:nvGraphicFramePr>
        <p:xfrm>
          <a:off x="609600" y="2095500"/>
          <a:ext cx="10972800" cy="2714625"/>
        </p:xfrm>
        <a:graphic>
          <a:graphicData uri="http://schemas.openxmlformats.org/drawingml/2006/table">
            <a:tbl>
              <a:tblPr/>
              <a:tblGrid>
                <a:gridCol w="3571875">
                  <a:extLst>
                    <a:ext uri="{9D8B030D-6E8A-4147-A177-3AD203B41FA5}">
                      <a16:colId xmlns:a16="http://schemas.microsoft.com/office/drawing/2014/main" val="20000"/>
                    </a:ext>
                  </a:extLst>
                </a:gridCol>
                <a:gridCol w="1952625">
                  <a:extLst>
                    <a:ext uri="{9D8B030D-6E8A-4147-A177-3AD203B41FA5}">
                      <a16:colId xmlns:a16="http://schemas.microsoft.com/office/drawing/2014/main" val="20001"/>
                    </a:ext>
                  </a:extLst>
                </a:gridCol>
                <a:gridCol w="2238375">
                  <a:extLst>
                    <a:ext uri="{9D8B030D-6E8A-4147-A177-3AD203B41FA5}">
                      <a16:colId xmlns:a16="http://schemas.microsoft.com/office/drawing/2014/main" val="20002"/>
                    </a:ext>
                  </a:extLst>
                </a:gridCol>
                <a:gridCol w="3209925">
                  <a:extLst>
                    <a:ext uri="{9D8B030D-6E8A-4147-A177-3AD203B41FA5}">
                      <a16:colId xmlns:a16="http://schemas.microsoft.com/office/drawing/2014/main" val="20003"/>
                    </a:ext>
                  </a:extLst>
                </a:gridCol>
              </a:tblGrid>
              <a:tr h="904875">
                <a:tc>
                  <a:txBody>
                    <a:bodyPr/>
                    <a:lstStyle/>
                    <a:p>
                      <a:r>
                        <a:rPr sz="2100" b="1">
                          <a:solidFill>
                            <a:srgbClr val="FFFFFF"/>
                          </a:solidFill>
                          <a:latin typeface="Helvetica Neue"/>
                          <a:ea typeface="Helvetica Neue"/>
                          <a:cs typeface="Helvetica Neue"/>
                        </a:rPr>
                        <a:t>Historical scenario</a:t>
                      </a:r>
                    </a:p>
                  </a:txBody>
                  <a:tcPr marL="152400" marR="152400" marT="133350" marB="133350">
                    <a:solidFill>
                      <a:srgbClr val="152F3C"/>
                    </a:solidFill>
                  </a:tcPr>
                </a:tc>
                <a:tc>
                  <a:txBody>
                    <a:bodyPr/>
                    <a:lstStyle/>
                    <a:p>
                      <a:r>
                        <a:rPr sz="2100" b="1">
                          <a:solidFill>
                            <a:srgbClr val="FFFFFF"/>
                          </a:solidFill>
                          <a:latin typeface="Helvetica Neue"/>
                          <a:ea typeface="Helvetica Neue"/>
                          <a:cs typeface="Helvetica Neue"/>
                        </a:rPr>
                        <a:t>Contacts</a:t>
                      </a:r>
                    </a:p>
                  </a:txBody>
                  <a:tcPr marL="152400" marR="152400" marT="133350" marB="133350">
                    <a:solidFill>
                      <a:srgbClr val="152F3C"/>
                    </a:solidFill>
                  </a:tcPr>
                </a:tc>
                <a:tc>
                  <a:txBody>
                    <a:bodyPr/>
                    <a:lstStyle/>
                    <a:p>
                      <a:r>
                        <a:rPr sz="2100" b="1">
                          <a:solidFill>
                            <a:srgbClr val="FFFFFF"/>
                          </a:solidFill>
                          <a:latin typeface="Helvetica Neue"/>
                          <a:ea typeface="Helvetica Neue"/>
                          <a:cs typeface="Helvetica Neue"/>
                        </a:rPr>
                        <a:t>Responders</a:t>
                      </a:r>
                    </a:p>
                  </a:txBody>
                  <a:tcPr marL="152400" marR="152400" marT="133350" marB="133350">
                    <a:solidFill>
                      <a:srgbClr val="152F3C"/>
                    </a:solidFill>
                  </a:tcPr>
                </a:tc>
                <a:tc>
                  <a:txBody>
                    <a:bodyPr/>
                    <a:lstStyle/>
                    <a:p>
                      <a:r>
                        <a:rPr sz="2100" b="1">
                          <a:solidFill>
                            <a:srgbClr val="FFFFFF"/>
                          </a:solidFill>
                          <a:latin typeface="Helvetica Neue"/>
                          <a:ea typeface="Helvetica Neue"/>
                          <a:cs typeface="Helvetica Neue"/>
                        </a:rPr>
                        <a:t>Assumed net value</a:t>
                      </a:r>
                    </a:p>
                  </a:txBody>
                  <a:tcPr marL="152400" marR="152400" marT="133350" marB="133350">
                    <a:solidFill>
                      <a:srgbClr val="152F3C"/>
                    </a:solidFill>
                  </a:tcPr>
                </a:tc>
                <a:extLst>
                  <a:ext uri="{0D108BD9-81ED-4DB2-BD59-A6C34878D82A}">
                    <a16:rowId xmlns:a16="http://schemas.microsoft.com/office/drawing/2014/main" val="10000"/>
                  </a:ext>
                </a:extLst>
              </a:tr>
              <a:tr h="904875">
                <a:tc>
                  <a:txBody>
                    <a:bodyPr/>
                    <a:lstStyle/>
                    <a:p>
                      <a:r>
                        <a:rPr sz="2100">
                          <a:solidFill>
                            <a:srgbClr val="152F3C"/>
                          </a:solidFill>
                          <a:latin typeface="Helvetica Neue"/>
                          <a:ea typeface="Helvetica Neue"/>
                          <a:cs typeface="Helvetica Neue"/>
                        </a:rPr>
                        <a:t>Contact everyone</a:t>
                      </a:r>
                    </a:p>
                  </a:txBody>
                  <a:tcPr marL="152400" marR="152400" marT="133350" marB="133350">
                    <a:solidFill>
                      <a:srgbClr val="F7F5F0"/>
                    </a:solidFill>
                  </a:tcPr>
                </a:tc>
                <a:tc>
                  <a:txBody>
                    <a:bodyPr/>
                    <a:lstStyle/>
                    <a:p>
                      <a:r>
                        <a:rPr sz="2100">
                          <a:solidFill>
                            <a:srgbClr val="152F3C"/>
                          </a:solidFill>
                          <a:latin typeface="Helvetica Neue"/>
                          <a:ea typeface="Helvetica Neue"/>
                          <a:cs typeface="Helvetica Neue"/>
                        </a:rPr>
                        <a:t>2,236</a:t>
                      </a:r>
                    </a:p>
                  </a:txBody>
                  <a:tcPr marL="152400" marR="152400" marT="133350" marB="133350">
                    <a:solidFill>
                      <a:srgbClr val="F7F5F0"/>
                    </a:solidFill>
                  </a:tcPr>
                </a:tc>
                <a:tc>
                  <a:txBody>
                    <a:bodyPr/>
                    <a:lstStyle/>
                    <a:p>
                      <a:r>
                        <a:rPr sz="2100">
                          <a:solidFill>
                            <a:srgbClr val="152F3C"/>
                          </a:solidFill>
                          <a:latin typeface="Helvetica Neue"/>
                          <a:ea typeface="Helvetica Neue"/>
                          <a:cs typeface="Helvetica Neue"/>
                        </a:rPr>
                        <a:t>334</a:t>
                      </a:r>
                    </a:p>
                  </a:txBody>
                  <a:tcPr marL="152400" marR="152400" marT="133350" marB="133350">
                    <a:solidFill>
                      <a:srgbClr val="F7F5F0"/>
                    </a:solidFill>
                  </a:tcPr>
                </a:tc>
                <a:tc>
                  <a:txBody>
                    <a:bodyPr/>
                    <a:lstStyle/>
                    <a:p>
                      <a:r>
                        <a:rPr sz="2100">
                          <a:solidFill>
                            <a:srgbClr val="152F3C"/>
                          </a:solidFill>
                          <a:latin typeface="Helvetica Neue"/>
                          <a:ea typeface="Helvetica Neue"/>
                          <a:cs typeface="Helvetica Neue"/>
                        </a:rPr>
                        <a:t>−3,034</a:t>
                      </a:r>
                    </a:p>
                  </a:txBody>
                  <a:tcPr marL="152400" marR="152400" marT="133350" marB="133350">
                    <a:solidFill>
                      <a:srgbClr val="F7F5F0"/>
                    </a:solidFill>
                  </a:tcPr>
                </a:tc>
                <a:extLst>
                  <a:ext uri="{0D108BD9-81ED-4DB2-BD59-A6C34878D82A}">
                    <a16:rowId xmlns:a16="http://schemas.microsoft.com/office/drawing/2014/main" val="10001"/>
                  </a:ext>
                </a:extLst>
              </a:tr>
              <a:tr h="904875">
                <a:tc>
                  <a:txBody>
                    <a:bodyPr/>
                    <a:lstStyle/>
                    <a:p>
                      <a:r>
                        <a:rPr sz="2100">
                          <a:solidFill>
                            <a:srgbClr val="152F3C"/>
                          </a:solidFill>
                          <a:latin typeface="Helvetica Neue"/>
                          <a:ea typeface="Helvetica Neue"/>
                          <a:cs typeface="Helvetica Neue"/>
                        </a:rPr>
                        <a:t>Selected policy</a:t>
                      </a:r>
                    </a:p>
                  </a:txBody>
                  <a:tcPr marL="152400" marR="152400" marT="133350" marB="133350">
                    <a:solidFill>
                      <a:srgbClr val="EAF0ED"/>
                    </a:solidFill>
                  </a:tcPr>
                </a:tc>
                <a:tc>
                  <a:txBody>
                    <a:bodyPr/>
                    <a:lstStyle/>
                    <a:p>
                      <a:r>
                        <a:rPr sz="2100">
                          <a:solidFill>
                            <a:srgbClr val="152F3C"/>
                          </a:solidFill>
                          <a:latin typeface="Helvetica Neue"/>
                          <a:ea typeface="Helvetica Neue"/>
                          <a:cs typeface="Helvetica Neue"/>
                        </a:rPr>
                        <a:t>365</a:t>
                      </a:r>
                    </a:p>
                  </a:txBody>
                  <a:tcPr marL="152400" marR="152400" marT="133350" marB="133350">
                    <a:solidFill>
                      <a:srgbClr val="EAF0ED"/>
                    </a:solidFill>
                  </a:tcPr>
                </a:tc>
                <a:tc>
                  <a:txBody>
                    <a:bodyPr/>
                    <a:lstStyle/>
                    <a:p>
                      <a:r>
                        <a:rPr sz="2100">
                          <a:solidFill>
                            <a:srgbClr val="152F3C"/>
                          </a:solidFill>
                          <a:latin typeface="Helvetica Neue"/>
                          <a:ea typeface="Helvetica Neue"/>
                          <a:cs typeface="Helvetica Neue"/>
                        </a:rPr>
                        <a:t>191</a:t>
                      </a:r>
                    </a:p>
                  </a:txBody>
                  <a:tcPr marL="152400" marR="152400" marT="133350" marB="133350">
                    <a:solidFill>
                      <a:srgbClr val="EAF0ED"/>
                    </a:solidFill>
                  </a:tcPr>
                </a:tc>
                <a:tc>
                  <a:txBody>
                    <a:bodyPr/>
                    <a:lstStyle/>
                    <a:p>
                      <a:r>
                        <a:rPr sz="2100">
                          <a:solidFill>
                            <a:srgbClr val="152F3C"/>
                          </a:solidFill>
                          <a:latin typeface="Helvetica Neue"/>
                          <a:ea typeface="Helvetica Neue"/>
                          <a:cs typeface="Helvetica Neue"/>
                        </a:rPr>
                        <a:t>+1,006</a:t>
                      </a:r>
                    </a:p>
                  </a:txBody>
                  <a:tcPr marL="152400" marR="152400" marT="133350" marB="133350">
                    <a:solidFill>
                      <a:srgbClr val="EAF0ED"/>
                    </a:solidFill>
                  </a:tcPr>
                </a:tc>
                <a:extLst>
                  <a:ext uri="{0D108BD9-81ED-4DB2-BD59-A6C34878D82A}">
                    <a16:rowId xmlns:a16="http://schemas.microsoft.com/office/drawing/2014/main" val="10002"/>
                  </a:ext>
                </a:extLst>
              </a:tr>
            </a:tbl>
          </a:graphicData>
        </a:graphic>
      </p:graphicFrame>
      <p:sp>
        <p:nvSpPr>
          <p:cNvPr id="6" name="Rectangle 5">
            <a:extLst>
              <a:ext uri="{FF2B5EF4-FFF2-40B4-BE49-F238E27FC236}">
                <a16:creationId xmlns:a16="http://schemas.microsoft.com/office/drawing/2014/main" id="{2374A9A4-FA57-466C-B336-5D6B9DC0E2A0}"/>
              </a:ext>
            </a:extLst>
          </p:cNvPr>
          <p:cNvSpPr>
            <a:spLocks noGrp="1"/>
          </p:cNvSpPr>
          <p:nvPr/>
        </p:nvSpPr>
        <p:spPr>
          <a:xfrm>
            <a:off x="609600" y="5162550"/>
            <a:ext cx="10858500" cy="419100"/>
          </a:xfrm>
          <a:prstGeom prst="rect">
            <a:avLst/>
          </a:prstGeom>
          <a:noFill/>
          <a:ln w="0">
            <a:noFill/>
          </a:ln>
        </p:spPr>
        <p:txBody>
          <a:bodyPr wrap="square" lIns="0" tIns="0" rIns="0" bIns="0" anchor="t">
            <a:noAutofit/>
          </a:bodyPr>
          <a:lstStyle/>
          <a:p>
            <a:pPr>
              <a:defRPr sz="2175" b="1">
                <a:solidFill>
                  <a:srgbClr val="267D88"/>
                </a:solidFill>
                <a:latin typeface="Helvetica Neue"/>
                <a:ea typeface="Helvetica Neue"/>
                <a:cs typeface="Helvetica Neue"/>
              </a:defRPr>
            </a:pPr>
            <a:r>
              <a:rPr sz="2175" b="1">
                <a:solidFill>
                  <a:srgbClr val="267D88"/>
                </a:solidFill>
                <a:latin typeface="Helvetica Neue"/>
                <a:ea typeface="Helvetica Neue"/>
                <a:cs typeface="Helvetica Neue"/>
              </a:rPr>
              <a:t>Assumptions: 11 per responder and 3 per contact</a:t>
            </a:r>
          </a:p>
        </p:txBody>
      </p:sp>
      <p:sp>
        <p:nvSpPr>
          <p:cNvPr id="7" name="Rectangle 6">
            <a:extLst>
              <a:ext uri="{FF2B5EF4-FFF2-40B4-BE49-F238E27FC236}">
                <a16:creationId xmlns:a16="http://schemas.microsoft.com/office/drawing/2014/main" id="{F2EE704B-D3D6-4682-9581-95F8EFE8F323}"/>
              </a:ext>
            </a:extLst>
          </p:cNvPr>
          <p:cNvSpPr>
            <a:spLocks noGrp="1"/>
          </p:cNvSpPr>
          <p:nvPr/>
        </p:nvSpPr>
        <p:spPr>
          <a:xfrm>
            <a:off x="609600" y="5734050"/>
            <a:ext cx="10972800" cy="590550"/>
          </a:xfrm>
          <a:prstGeom prst="rect">
            <a:avLst/>
          </a:prstGeom>
          <a:noFill/>
          <a:ln w="0">
            <a:noFill/>
          </a:ln>
        </p:spPr>
        <p:txBody>
          <a:bodyPr wrap="square" lIns="0" tIns="0" rIns="0" bIns="0" anchor="t">
            <a:noAutofit/>
          </a:bodyPr>
          <a:lstStyle/>
          <a:p>
            <a:pPr>
              <a:defRPr sz="1800" b="0">
                <a:solidFill>
                  <a:srgbClr val="B85831"/>
                </a:solidFill>
                <a:latin typeface="Helvetica Neue"/>
                <a:ea typeface="Helvetica Neue"/>
                <a:cs typeface="Helvetica Neue"/>
              </a:defRPr>
            </a:pPr>
            <a:r>
              <a:rPr sz="1800" b="0">
                <a:solidFill>
                  <a:srgbClr val="B85831"/>
                </a:solidFill>
                <a:latin typeface="Helvetica Neue"/>
                <a:ea typeface="Helvetica Neue"/>
                <a:cs typeface="Helvetica Neue"/>
              </a:rPr>
              <a:t>Unspecified units. Incremental profit remains unmeasured.</a:t>
            </a:r>
          </a:p>
        </p:txBody>
      </p:sp>
    </p:spTree>
    <p:extLst>
      <p:ext uri="{BB962C8B-B14F-4D97-AF65-F5344CB8AC3E}">
        <p14:creationId xmlns:p14="http://schemas.microsoft.com/office/powerpoint/2010/main" val="9080446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E52CD78-C613-4680-ADB3-BE252BD46E7F}"/>
              </a:ext>
            </a:extLst>
          </p:cNvPr>
          <p:cNvSpPr>
            <a:spLocks noGrp="1"/>
          </p:cNvSpPr>
          <p:nvPr/>
        </p:nvSpPr>
        <p:spPr>
          <a:xfrm>
            <a:off x="609600" y="304800"/>
            <a:ext cx="10477500" cy="266700"/>
          </a:xfrm>
          <a:prstGeom prst="rect">
            <a:avLst/>
          </a:prstGeom>
          <a:noFill/>
          <a:ln w="0">
            <a:noFill/>
          </a:ln>
        </p:spPr>
        <p:txBody>
          <a:bodyPr wrap="square" lIns="0" tIns="0" rIns="0" bIns="0" anchor="t">
            <a:noAutofit/>
          </a:bodyPr>
          <a:lstStyle/>
          <a:p>
            <a:pPr>
              <a:defRPr sz="1350" b="1">
                <a:solidFill>
                  <a:srgbClr val="267D88"/>
                </a:solidFill>
                <a:latin typeface="Helvetica Neue"/>
                <a:ea typeface="Helvetica Neue"/>
                <a:cs typeface="Helvetica Neue"/>
              </a:defRPr>
            </a:pPr>
            <a:r>
              <a:rPr sz="1350" b="1">
                <a:solidFill>
                  <a:srgbClr val="267D88"/>
                </a:solidFill>
                <a:latin typeface="Helvetica Neue"/>
                <a:ea typeface="Helvetica Neue"/>
                <a:cs typeface="Helvetica Neue"/>
              </a:rPr>
              <a:t>06 / BUSINESS PERSPECTIVE</a:t>
            </a:r>
          </a:p>
        </p:txBody>
      </p:sp>
      <p:sp>
        <p:nvSpPr>
          <p:cNvPr id="2" name="Rectangle 1">
            <a:extLst>
              <a:ext uri="{FF2B5EF4-FFF2-40B4-BE49-F238E27FC236}">
                <a16:creationId xmlns:a16="http://schemas.microsoft.com/office/drawing/2014/main" id="{5E6EF0B9-F3DE-4715-9384-6DED90867232}"/>
              </a:ext>
            </a:extLst>
          </p:cNvPr>
          <p:cNvSpPr>
            <a:spLocks noGrp="1"/>
          </p:cNvSpPr>
          <p:nvPr/>
        </p:nvSpPr>
        <p:spPr>
          <a:xfrm>
            <a:off x="609600" y="742950"/>
            <a:ext cx="10972800" cy="1028700"/>
          </a:xfrm>
          <a:prstGeom prst="rect">
            <a:avLst/>
          </a:prstGeom>
          <a:noFill/>
          <a:ln w="0">
            <a:noFill/>
          </a:ln>
        </p:spPr>
        <p:txBody>
          <a:bodyPr wrap="square" lIns="0" tIns="0" rIns="0" bIns="0" anchor="t">
            <a:noAutofit/>
          </a:bodyPr>
          <a:lstStyle/>
          <a:p>
            <a:pPr>
              <a:defRPr sz="3300" b="1">
                <a:solidFill>
                  <a:srgbClr val="152F3C"/>
                </a:solidFill>
                <a:latin typeface="Helvetica Neue"/>
                <a:ea typeface="Helvetica Neue"/>
                <a:cs typeface="Helvetica Neue"/>
              </a:defRPr>
            </a:pPr>
            <a:r>
              <a:rPr sz="3300" b="1">
                <a:solidFill>
                  <a:srgbClr val="152F3C"/>
                </a:solidFill>
                <a:latin typeface="Helvetica Neue"/>
                <a:ea typeface="Helvetica Neue"/>
                <a:cs typeface="Helvetica Neue"/>
              </a:rPr>
              <a:t>More balanced access has a measurable tradeoff</a:t>
            </a:r>
          </a:p>
        </p:txBody>
      </p:sp>
      <p:sp>
        <p:nvSpPr>
          <p:cNvPr id="3" name="Rectangle 2">
            <a:extLst>
              <a:ext uri="{FF2B5EF4-FFF2-40B4-BE49-F238E27FC236}">
                <a16:creationId xmlns:a16="http://schemas.microsoft.com/office/drawing/2014/main" id="{3DA33447-56F5-4C38-8B25-8E890D3CB9CE}"/>
              </a:ext>
            </a:extLst>
          </p:cNvPr>
          <p:cNvSpPr>
            <a:spLocks noGrp="1"/>
          </p:cNvSpPr>
          <p:nvPr/>
        </p:nvSpPr>
        <p:spPr>
          <a:xfrm>
            <a:off x="609600" y="6419850"/>
            <a:ext cx="7048500" cy="228600"/>
          </a:xfrm>
          <a:prstGeom prst="rect">
            <a:avLst/>
          </a:prstGeom>
          <a:noFill/>
          <a:ln w="0">
            <a:noFill/>
          </a:ln>
        </p:spPr>
        <p:txBody>
          <a:bodyPr wrap="square" lIns="0" tIns="0" rIns="0" bIns="0" anchor="t">
            <a:noAutofit/>
          </a:bodyPr>
          <a:lstStyle/>
          <a:p>
            <a:pPr>
              <a:defRPr sz="1125" b="0">
                <a:solidFill>
                  <a:srgbClr val="566973"/>
                </a:solidFill>
                <a:latin typeface="Helvetica Neue"/>
                <a:ea typeface="Helvetica Neue"/>
                <a:cs typeface="Helvetica Neue"/>
              </a:defRPr>
            </a:pPr>
            <a:r>
              <a:rPr sz="1125" b="0">
                <a:solidFill>
                  <a:srgbClr val="566973"/>
                </a:solidFill>
                <a:latin typeface="Helvetica Neue"/>
                <a:ea typeface="Helvetica Neue"/>
                <a:cs typeface="Helvetica Neue"/>
              </a:rPr>
              <a:t>CUSTOMER CAMPAIGN ANALYSIS</a:t>
            </a:r>
          </a:p>
        </p:txBody>
      </p:sp>
      <p:sp>
        <p:nvSpPr>
          <p:cNvPr id="4" name="Rectangle 3">
            <a:extLst>
              <a:ext uri="{FF2B5EF4-FFF2-40B4-BE49-F238E27FC236}">
                <a16:creationId xmlns:a16="http://schemas.microsoft.com/office/drawing/2014/main" id="{B93CBBFB-FC3C-4960-911B-F8BADB6FC0D5}"/>
              </a:ext>
            </a:extLst>
          </p:cNvPr>
          <p:cNvSpPr>
            <a:spLocks noGrp="1"/>
          </p:cNvSpPr>
          <p:nvPr/>
        </p:nvSpPr>
        <p:spPr>
          <a:xfrm>
            <a:off x="11049000" y="6419850"/>
            <a:ext cx="533400" cy="228600"/>
          </a:xfrm>
          <a:prstGeom prst="rect">
            <a:avLst/>
          </a:prstGeom>
          <a:noFill/>
          <a:ln w="0">
            <a:noFill/>
          </a:ln>
        </p:spPr>
        <p:txBody>
          <a:bodyPr wrap="square" lIns="0" tIns="0" rIns="0" bIns="0" anchor="t">
            <a:noAutofit/>
          </a:bodyPr>
          <a:lstStyle/>
          <a:p>
            <a:pPr>
              <a:defRPr sz="1200" b="0">
                <a:solidFill>
                  <a:srgbClr val="566973"/>
                </a:solidFill>
                <a:latin typeface="Helvetica Neue"/>
                <a:ea typeface="Helvetica Neue"/>
                <a:cs typeface="Helvetica Neue"/>
              </a:defRPr>
            </a:pPr>
            <a:r>
              <a:rPr sz="1200" b="0">
                <a:solidFill>
                  <a:srgbClr val="566973"/>
                </a:solidFill>
                <a:latin typeface="Helvetica Neue"/>
                <a:ea typeface="Helvetica Neue"/>
                <a:cs typeface="Helvetica Neue"/>
              </a:rPr>
              <a:t>06</a:t>
            </a:r>
          </a:p>
        </p:txBody>
      </p:sp>
      <p:graphicFrame>
        <p:nvGraphicFramePr>
          <p:cNvPr id="11" name="Table 10"/>
          <p:cNvGraphicFramePr/>
          <p:nvPr/>
        </p:nvGraphicFramePr>
        <p:xfrm>
          <a:off x="609600" y="1971675"/>
          <a:ext cx="10972800" cy="3257552"/>
        </p:xfrm>
        <a:graphic>
          <a:graphicData uri="http://schemas.openxmlformats.org/drawingml/2006/table">
            <a:tbl>
              <a:tblPr/>
              <a:tblGrid>
                <a:gridCol w="5238750">
                  <a:extLst>
                    <a:ext uri="{9D8B030D-6E8A-4147-A177-3AD203B41FA5}">
                      <a16:colId xmlns:a16="http://schemas.microsoft.com/office/drawing/2014/main" val="20000"/>
                    </a:ext>
                  </a:extLst>
                </a:gridCol>
                <a:gridCol w="2867025">
                  <a:extLst>
                    <a:ext uri="{9D8B030D-6E8A-4147-A177-3AD203B41FA5}">
                      <a16:colId xmlns:a16="http://schemas.microsoft.com/office/drawing/2014/main" val="20001"/>
                    </a:ext>
                  </a:extLst>
                </a:gridCol>
                <a:gridCol w="2867025">
                  <a:extLst>
                    <a:ext uri="{9D8B030D-6E8A-4147-A177-3AD203B41FA5}">
                      <a16:colId xmlns:a16="http://schemas.microsoft.com/office/drawing/2014/main" val="20002"/>
                    </a:ext>
                  </a:extLst>
                </a:gridCol>
              </a:tblGrid>
              <a:tr h="814388">
                <a:tc>
                  <a:txBody>
                    <a:bodyPr/>
                    <a:lstStyle/>
                    <a:p>
                      <a:r>
                        <a:rPr sz="2025" b="1">
                          <a:solidFill>
                            <a:srgbClr val="FFFFFF"/>
                          </a:solidFill>
                          <a:latin typeface="Helvetica Neue"/>
                          <a:ea typeface="Helvetica Neue"/>
                          <a:cs typeface="Helvetica Neue"/>
                        </a:rPr>
                        <a:t>Measure</a:t>
                      </a:r>
                    </a:p>
                  </a:txBody>
                  <a:tcPr marL="152400" marR="152400" marT="133350" marB="133350">
                    <a:solidFill>
                      <a:srgbClr val="152F3C"/>
                    </a:solidFill>
                  </a:tcPr>
                </a:tc>
                <a:tc>
                  <a:txBody>
                    <a:bodyPr/>
                    <a:lstStyle/>
                    <a:p>
                      <a:r>
                        <a:rPr sz="2025" b="1">
                          <a:solidFill>
                            <a:srgbClr val="FFFFFF"/>
                          </a:solidFill>
                          <a:latin typeface="Helvetica Neue"/>
                          <a:ea typeface="Helvetica Neue"/>
                          <a:cs typeface="Helvetica Neue"/>
                        </a:rPr>
                        <a:t>Global threshold</a:t>
                      </a:r>
                    </a:p>
                  </a:txBody>
                  <a:tcPr marL="152400" marR="152400" marT="133350" marB="133350">
                    <a:solidFill>
                      <a:srgbClr val="152F3C"/>
                    </a:solidFill>
                  </a:tcPr>
                </a:tc>
                <a:tc>
                  <a:txBody>
                    <a:bodyPr/>
                    <a:lstStyle/>
                    <a:p>
                      <a:r>
                        <a:rPr sz="2025" b="1">
                          <a:solidFill>
                            <a:srgbClr val="FFFFFF"/>
                          </a:solidFill>
                          <a:latin typeface="Helvetica Neue"/>
                          <a:ea typeface="Helvetica Neue"/>
                          <a:cs typeface="Helvetica Neue"/>
                        </a:rPr>
                        <a:t>Adjusted policy</a:t>
                      </a:r>
                    </a:p>
                  </a:txBody>
                  <a:tcPr marL="152400" marR="152400" marT="133350" marB="133350">
                    <a:solidFill>
                      <a:srgbClr val="152F3C"/>
                    </a:solidFill>
                  </a:tcPr>
                </a:tc>
                <a:extLst>
                  <a:ext uri="{0D108BD9-81ED-4DB2-BD59-A6C34878D82A}">
                    <a16:rowId xmlns:a16="http://schemas.microsoft.com/office/drawing/2014/main" val="10000"/>
                  </a:ext>
                </a:extLst>
              </a:tr>
              <a:tr h="814388">
                <a:tc>
                  <a:txBody>
                    <a:bodyPr/>
                    <a:lstStyle/>
                    <a:p>
                      <a:r>
                        <a:rPr sz="2025">
                          <a:solidFill>
                            <a:srgbClr val="152F3C"/>
                          </a:solidFill>
                          <a:latin typeface="Helvetica Neue"/>
                          <a:ea typeface="Helvetica Neue"/>
                          <a:cs typeface="Helvetica Neue"/>
                        </a:rPr>
                        <a:t>Children-at-home selection ratio</a:t>
                      </a:r>
                    </a:p>
                  </a:txBody>
                  <a:tcPr marL="152400" marR="152400" marT="133350" marB="133350">
                    <a:solidFill>
                      <a:srgbClr val="F7F5F0"/>
                    </a:solidFill>
                  </a:tcPr>
                </a:tc>
                <a:tc>
                  <a:txBody>
                    <a:bodyPr/>
                    <a:lstStyle/>
                    <a:p>
                      <a:r>
                        <a:rPr sz="2025">
                          <a:solidFill>
                            <a:srgbClr val="152F3C"/>
                          </a:solidFill>
                          <a:latin typeface="Helvetica Neue"/>
                          <a:ea typeface="Helvetica Neue"/>
                          <a:cs typeface="Helvetica Neue"/>
                        </a:rPr>
                        <a:t>0.342</a:t>
                      </a:r>
                    </a:p>
                  </a:txBody>
                  <a:tcPr marL="152400" marR="152400" marT="133350" marB="133350">
                    <a:solidFill>
                      <a:srgbClr val="F7F5F0"/>
                    </a:solidFill>
                  </a:tcPr>
                </a:tc>
                <a:tc>
                  <a:txBody>
                    <a:bodyPr/>
                    <a:lstStyle/>
                    <a:p>
                      <a:r>
                        <a:rPr sz="2025">
                          <a:solidFill>
                            <a:srgbClr val="152F3C"/>
                          </a:solidFill>
                          <a:latin typeface="Helvetica Neue"/>
                          <a:ea typeface="Helvetica Neue"/>
                          <a:cs typeface="Helvetica Neue"/>
                        </a:rPr>
                        <a:t>0.803</a:t>
                      </a:r>
                    </a:p>
                  </a:txBody>
                  <a:tcPr marL="152400" marR="152400" marT="133350" marB="133350">
                    <a:solidFill>
                      <a:srgbClr val="F7F5F0"/>
                    </a:solidFill>
                  </a:tcPr>
                </a:tc>
                <a:extLst>
                  <a:ext uri="{0D108BD9-81ED-4DB2-BD59-A6C34878D82A}">
                    <a16:rowId xmlns:a16="http://schemas.microsoft.com/office/drawing/2014/main" val="10001"/>
                  </a:ext>
                </a:extLst>
              </a:tr>
              <a:tr h="814388">
                <a:tc>
                  <a:txBody>
                    <a:bodyPr/>
                    <a:lstStyle/>
                    <a:p>
                      <a:r>
                        <a:rPr sz="2025">
                          <a:solidFill>
                            <a:srgbClr val="152F3C"/>
                          </a:solidFill>
                          <a:latin typeface="Helvetica Neue"/>
                          <a:ea typeface="Helvetica Neue"/>
                          <a:cs typeface="Helvetica Neue"/>
                        </a:rPr>
                        <a:t>Recorded responders selected</a:t>
                      </a:r>
                    </a:p>
                  </a:txBody>
                  <a:tcPr marL="152400" marR="152400" marT="133350" marB="133350">
                    <a:solidFill>
                      <a:srgbClr val="EAF0ED"/>
                    </a:solidFill>
                  </a:tcPr>
                </a:tc>
                <a:tc>
                  <a:txBody>
                    <a:bodyPr/>
                    <a:lstStyle/>
                    <a:p>
                      <a:r>
                        <a:rPr sz="2025">
                          <a:solidFill>
                            <a:srgbClr val="152F3C"/>
                          </a:solidFill>
                          <a:latin typeface="Helvetica Neue"/>
                          <a:ea typeface="Helvetica Neue"/>
                          <a:cs typeface="Helvetica Neue"/>
                        </a:rPr>
                        <a:t>198</a:t>
                      </a:r>
                    </a:p>
                  </a:txBody>
                  <a:tcPr marL="152400" marR="152400" marT="133350" marB="133350">
                    <a:solidFill>
                      <a:srgbClr val="EAF0ED"/>
                    </a:solidFill>
                  </a:tcPr>
                </a:tc>
                <a:tc>
                  <a:txBody>
                    <a:bodyPr/>
                    <a:lstStyle/>
                    <a:p>
                      <a:r>
                        <a:rPr sz="2025">
                          <a:solidFill>
                            <a:srgbClr val="152F3C"/>
                          </a:solidFill>
                          <a:latin typeface="Helvetica Neue"/>
                          <a:ea typeface="Helvetica Neue"/>
                          <a:cs typeface="Helvetica Neue"/>
                        </a:rPr>
                        <a:t>191</a:t>
                      </a:r>
                    </a:p>
                  </a:txBody>
                  <a:tcPr marL="152400" marR="152400" marT="133350" marB="133350">
                    <a:solidFill>
                      <a:srgbClr val="EAF0ED"/>
                    </a:solidFill>
                  </a:tcPr>
                </a:tc>
                <a:extLst>
                  <a:ext uri="{0D108BD9-81ED-4DB2-BD59-A6C34878D82A}">
                    <a16:rowId xmlns:a16="http://schemas.microsoft.com/office/drawing/2014/main" val="10002"/>
                  </a:ext>
                </a:extLst>
              </a:tr>
              <a:tr h="814388">
                <a:tc>
                  <a:txBody>
                    <a:bodyPr/>
                    <a:lstStyle/>
                    <a:p>
                      <a:r>
                        <a:rPr sz="2025">
                          <a:solidFill>
                            <a:srgbClr val="152F3C"/>
                          </a:solidFill>
                          <a:latin typeface="Helvetica Neue"/>
                          <a:ea typeface="Helvetica Neue"/>
                          <a:cs typeface="Helvetica Neue"/>
                        </a:rPr>
                        <a:t>Assumed net value</a:t>
                      </a:r>
                    </a:p>
                  </a:txBody>
                  <a:tcPr marL="152400" marR="152400" marT="133350" marB="133350">
                    <a:solidFill>
                      <a:srgbClr val="F7F5F0"/>
                    </a:solidFill>
                  </a:tcPr>
                </a:tc>
                <a:tc>
                  <a:txBody>
                    <a:bodyPr/>
                    <a:lstStyle/>
                    <a:p>
                      <a:r>
                        <a:rPr sz="2025">
                          <a:solidFill>
                            <a:srgbClr val="152F3C"/>
                          </a:solidFill>
                          <a:latin typeface="Helvetica Neue"/>
                          <a:ea typeface="Helvetica Neue"/>
                          <a:cs typeface="Helvetica Neue"/>
                        </a:rPr>
                        <a:t>1,191</a:t>
                      </a:r>
                    </a:p>
                  </a:txBody>
                  <a:tcPr marL="152400" marR="152400" marT="133350" marB="133350">
                    <a:solidFill>
                      <a:srgbClr val="F7F5F0"/>
                    </a:solidFill>
                  </a:tcPr>
                </a:tc>
                <a:tc>
                  <a:txBody>
                    <a:bodyPr/>
                    <a:lstStyle/>
                    <a:p>
                      <a:r>
                        <a:rPr sz="2025">
                          <a:solidFill>
                            <a:srgbClr val="152F3C"/>
                          </a:solidFill>
                          <a:latin typeface="Helvetica Neue"/>
                          <a:ea typeface="Helvetica Neue"/>
                          <a:cs typeface="Helvetica Neue"/>
                        </a:rPr>
                        <a:t>1,006</a:t>
                      </a:r>
                    </a:p>
                  </a:txBody>
                  <a:tcPr marL="152400" marR="152400" marT="133350" marB="133350">
                    <a:solidFill>
                      <a:srgbClr val="F7F5F0"/>
                    </a:solidFill>
                  </a:tcPr>
                </a:tc>
                <a:extLst>
                  <a:ext uri="{0D108BD9-81ED-4DB2-BD59-A6C34878D82A}">
                    <a16:rowId xmlns:a16="http://schemas.microsoft.com/office/drawing/2014/main" val="10003"/>
                  </a:ext>
                </a:extLst>
              </a:tr>
            </a:tbl>
          </a:graphicData>
        </a:graphic>
      </p:graphicFrame>
      <p:sp>
        <p:nvSpPr>
          <p:cNvPr id="6" name="Rectangle 5">
            <a:extLst>
              <a:ext uri="{FF2B5EF4-FFF2-40B4-BE49-F238E27FC236}">
                <a16:creationId xmlns:a16="http://schemas.microsoft.com/office/drawing/2014/main" id="{658DC6FB-5258-475F-B758-E2C97034D504}"/>
              </a:ext>
            </a:extLst>
          </p:cNvPr>
          <p:cNvSpPr>
            <a:spLocks noGrp="1"/>
          </p:cNvSpPr>
          <p:nvPr/>
        </p:nvSpPr>
        <p:spPr>
          <a:xfrm>
            <a:off x="609600" y="5505450"/>
            <a:ext cx="10972800" cy="590550"/>
          </a:xfrm>
          <a:prstGeom prst="rect">
            <a:avLst/>
          </a:prstGeom>
          <a:noFill/>
          <a:ln w="0">
            <a:noFill/>
          </a:ln>
        </p:spPr>
        <p:txBody>
          <a:bodyPr wrap="square" lIns="0" tIns="0" rIns="0" bIns="0" anchor="t">
            <a:noAutofit/>
          </a:bodyPr>
          <a:lstStyle/>
          <a:p>
            <a:pPr>
              <a:defRPr sz="1800" b="0">
                <a:solidFill>
                  <a:srgbClr val="566973"/>
                </a:solidFill>
                <a:latin typeface="Helvetica Neue"/>
                <a:ea typeface="Helvetica Neue"/>
                <a:cs typeface="Helvetica Neue"/>
              </a:defRPr>
            </a:pPr>
            <a:r>
              <a:rPr sz="1800" b="0">
                <a:solidFill>
                  <a:srgbClr val="566973"/>
                </a:solidFill>
                <a:latin typeface="Helvetica Neue"/>
                <a:ea typeface="Helvetica Neue"/>
                <a:cs typeface="Helvetica Neue"/>
              </a:rPr>
              <a:t>Ratio = lower ÷ higher contact rate across the two groups. Other disparities remain.</a:t>
            </a:r>
          </a:p>
        </p:txBody>
      </p:sp>
    </p:spTree>
    <p:extLst>
      <p:ext uri="{BB962C8B-B14F-4D97-AF65-F5344CB8AC3E}">
        <p14:creationId xmlns:p14="http://schemas.microsoft.com/office/powerpoint/2010/main" val="13723451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F7EEDA-B798-41A1-BCCA-11EECDB79170}"/>
              </a:ext>
            </a:extLst>
          </p:cNvPr>
          <p:cNvSpPr>
            <a:spLocks noGrp="1"/>
          </p:cNvSpPr>
          <p:nvPr/>
        </p:nvSpPr>
        <p:spPr>
          <a:xfrm>
            <a:off x="609600" y="304800"/>
            <a:ext cx="10477500" cy="266700"/>
          </a:xfrm>
          <a:prstGeom prst="rect">
            <a:avLst/>
          </a:prstGeom>
          <a:noFill/>
          <a:ln w="0">
            <a:noFill/>
          </a:ln>
        </p:spPr>
        <p:txBody>
          <a:bodyPr wrap="square" lIns="0" tIns="0" rIns="0" bIns="0" anchor="t">
            <a:noAutofit/>
          </a:bodyPr>
          <a:lstStyle/>
          <a:p>
            <a:pPr>
              <a:defRPr sz="1350" b="1">
                <a:solidFill>
                  <a:srgbClr val="267D88"/>
                </a:solidFill>
                <a:latin typeface="Helvetica Neue"/>
                <a:ea typeface="Helvetica Neue"/>
                <a:cs typeface="Helvetica Neue"/>
              </a:defRPr>
            </a:pPr>
            <a:r>
              <a:rPr sz="1350" b="1">
                <a:solidFill>
                  <a:srgbClr val="267D88"/>
                </a:solidFill>
                <a:latin typeface="Helvetica Neue"/>
                <a:ea typeface="Helvetica Neue"/>
                <a:cs typeface="Helvetica Neue"/>
              </a:rPr>
              <a:t>07 / BUSINESS PERSPECTIVE</a:t>
            </a:r>
          </a:p>
        </p:txBody>
      </p:sp>
      <p:sp>
        <p:nvSpPr>
          <p:cNvPr id="2" name="Rectangle 1">
            <a:extLst>
              <a:ext uri="{FF2B5EF4-FFF2-40B4-BE49-F238E27FC236}">
                <a16:creationId xmlns:a16="http://schemas.microsoft.com/office/drawing/2014/main" id="{A8EFACB5-FD65-4729-BAC8-5CFDCC055DFB}"/>
              </a:ext>
            </a:extLst>
          </p:cNvPr>
          <p:cNvSpPr>
            <a:spLocks noGrp="1"/>
          </p:cNvSpPr>
          <p:nvPr/>
        </p:nvSpPr>
        <p:spPr>
          <a:xfrm>
            <a:off x="609600" y="742950"/>
            <a:ext cx="10972800" cy="1028700"/>
          </a:xfrm>
          <a:prstGeom prst="rect">
            <a:avLst/>
          </a:prstGeom>
          <a:noFill/>
          <a:ln w="0">
            <a:noFill/>
          </a:ln>
        </p:spPr>
        <p:txBody>
          <a:bodyPr wrap="square" lIns="0" tIns="0" rIns="0" bIns="0" anchor="t">
            <a:noAutofit/>
          </a:bodyPr>
          <a:lstStyle/>
          <a:p>
            <a:pPr>
              <a:defRPr sz="3300" b="1">
                <a:solidFill>
                  <a:srgbClr val="152F3C"/>
                </a:solidFill>
                <a:latin typeface="Helvetica Neue"/>
                <a:ea typeface="Helvetica Neue"/>
                <a:cs typeface="Helvetica Neue"/>
              </a:defRPr>
            </a:pPr>
            <a:r>
              <a:rPr sz="3300" b="1">
                <a:solidFill>
                  <a:srgbClr val="152F3C"/>
                </a:solidFill>
                <a:latin typeface="Helvetica Neue"/>
                <a:ea typeface="Helvetica Neue"/>
                <a:cs typeface="Helvetica Neue"/>
              </a:rPr>
              <a:t>Two customer groups suggest offer experiments</a:t>
            </a:r>
          </a:p>
        </p:txBody>
      </p:sp>
      <p:sp>
        <p:nvSpPr>
          <p:cNvPr id="3" name="Rectangle 2">
            <a:extLst>
              <a:ext uri="{FF2B5EF4-FFF2-40B4-BE49-F238E27FC236}">
                <a16:creationId xmlns:a16="http://schemas.microsoft.com/office/drawing/2014/main" id="{3CF66B5C-BE4E-4208-8483-753348B0045A}"/>
              </a:ext>
            </a:extLst>
          </p:cNvPr>
          <p:cNvSpPr>
            <a:spLocks noGrp="1"/>
          </p:cNvSpPr>
          <p:nvPr/>
        </p:nvSpPr>
        <p:spPr>
          <a:xfrm>
            <a:off x="609600" y="6419850"/>
            <a:ext cx="7048500" cy="228600"/>
          </a:xfrm>
          <a:prstGeom prst="rect">
            <a:avLst/>
          </a:prstGeom>
          <a:noFill/>
          <a:ln w="0">
            <a:noFill/>
          </a:ln>
        </p:spPr>
        <p:txBody>
          <a:bodyPr wrap="square" lIns="0" tIns="0" rIns="0" bIns="0" anchor="t">
            <a:noAutofit/>
          </a:bodyPr>
          <a:lstStyle/>
          <a:p>
            <a:pPr>
              <a:defRPr sz="1125" b="0">
                <a:solidFill>
                  <a:srgbClr val="566973"/>
                </a:solidFill>
                <a:latin typeface="Helvetica Neue"/>
                <a:ea typeface="Helvetica Neue"/>
                <a:cs typeface="Helvetica Neue"/>
              </a:defRPr>
            </a:pPr>
            <a:r>
              <a:rPr sz="1125" b="0">
                <a:solidFill>
                  <a:srgbClr val="566973"/>
                </a:solidFill>
                <a:latin typeface="Helvetica Neue"/>
                <a:ea typeface="Helvetica Neue"/>
                <a:cs typeface="Helvetica Neue"/>
              </a:rPr>
              <a:t>CUSTOMER CAMPAIGN ANALYSIS</a:t>
            </a:r>
          </a:p>
        </p:txBody>
      </p:sp>
      <p:sp>
        <p:nvSpPr>
          <p:cNvPr id="4" name="Rectangle 3">
            <a:extLst>
              <a:ext uri="{FF2B5EF4-FFF2-40B4-BE49-F238E27FC236}">
                <a16:creationId xmlns:a16="http://schemas.microsoft.com/office/drawing/2014/main" id="{9EFC90E2-D2A2-42DC-9B88-17AA916115AF}"/>
              </a:ext>
            </a:extLst>
          </p:cNvPr>
          <p:cNvSpPr>
            <a:spLocks noGrp="1"/>
          </p:cNvSpPr>
          <p:nvPr/>
        </p:nvSpPr>
        <p:spPr>
          <a:xfrm>
            <a:off x="11049000" y="6419850"/>
            <a:ext cx="533400" cy="228600"/>
          </a:xfrm>
          <a:prstGeom prst="rect">
            <a:avLst/>
          </a:prstGeom>
          <a:noFill/>
          <a:ln w="0">
            <a:noFill/>
          </a:ln>
        </p:spPr>
        <p:txBody>
          <a:bodyPr wrap="square" lIns="0" tIns="0" rIns="0" bIns="0" anchor="t">
            <a:noAutofit/>
          </a:bodyPr>
          <a:lstStyle/>
          <a:p>
            <a:pPr>
              <a:defRPr sz="1200" b="0">
                <a:solidFill>
                  <a:srgbClr val="566973"/>
                </a:solidFill>
                <a:latin typeface="Helvetica Neue"/>
                <a:ea typeface="Helvetica Neue"/>
                <a:cs typeface="Helvetica Neue"/>
              </a:defRPr>
            </a:pPr>
            <a:r>
              <a:rPr sz="1200" b="0">
                <a:solidFill>
                  <a:srgbClr val="566973"/>
                </a:solidFill>
                <a:latin typeface="Helvetica Neue"/>
                <a:ea typeface="Helvetica Neue"/>
                <a:cs typeface="Helvetica Neue"/>
              </a:rPr>
              <a:t>07</a:t>
            </a:r>
          </a:p>
        </p:txBody>
      </p:sp>
      <p:graphicFrame>
        <p:nvGraphicFramePr>
          <p:cNvPr id="11" name="Table 10"/>
          <p:cNvGraphicFramePr/>
          <p:nvPr/>
        </p:nvGraphicFramePr>
        <p:xfrm>
          <a:off x="609600" y="2085975"/>
          <a:ext cx="10972800" cy="2762250"/>
        </p:xfrm>
        <a:graphic>
          <a:graphicData uri="http://schemas.openxmlformats.org/drawingml/2006/table">
            <a:tbl>
              <a:tblPr/>
              <a:tblGrid>
                <a:gridCol w="3619500">
                  <a:extLst>
                    <a:ext uri="{9D8B030D-6E8A-4147-A177-3AD203B41FA5}">
                      <a16:colId xmlns:a16="http://schemas.microsoft.com/office/drawing/2014/main" val="20000"/>
                    </a:ext>
                  </a:extLst>
                </a:gridCol>
                <a:gridCol w="1666875">
                  <a:extLst>
                    <a:ext uri="{9D8B030D-6E8A-4147-A177-3AD203B41FA5}">
                      <a16:colId xmlns:a16="http://schemas.microsoft.com/office/drawing/2014/main" val="20001"/>
                    </a:ext>
                  </a:extLst>
                </a:gridCol>
                <a:gridCol w="2238375">
                  <a:extLst>
                    <a:ext uri="{9D8B030D-6E8A-4147-A177-3AD203B41FA5}">
                      <a16:colId xmlns:a16="http://schemas.microsoft.com/office/drawing/2014/main" val="20002"/>
                    </a:ext>
                  </a:extLst>
                </a:gridCol>
                <a:gridCol w="3448050">
                  <a:extLst>
                    <a:ext uri="{9D8B030D-6E8A-4147-A177-3AD203B41FA5}">
                      <a16:colId xmlns:a16="http://schemas.microsoft.com/office/drawing/2014/main" val="20003"/>
                    </a:ext>
                  </a:extLst>
                </a:gridCol>
              </a:tblGrid>
              <a:tr h="920750">
                <a:tc>
                  <a:txBody>
                    <a:bodyPr/>
                    <a:lstStyle/>
                    <a:p>
                      <a:r>
                        <a:rPr sz="2025" b="1">
                          <a:solidFill>
                            <a:srgbClr val="FFFFFF"/>
                          </a:solidFill>
                          <a:latin typeface="Helvetica Neue"/>
                          <a:ea typeface="Helvetica Neue"/>
                          <a:cs typeface="Helvetica Neue"/>
                        </a:rPr>
                        <a:t>Observed group</a:t>
                      </a:r>
                    </a:p>
                  </a:txBody>
                  <a:tcPr marL="152400" marR="152400" marT="133350" marB="133350">
                    <a:solidFill>
                      <a:srgbClr val="152F3C"/>
                    </a:solidFill>
                  </a:tcPr>
                </a:tc>
                <a:tc>
                  <a:txBody>
                    <a:bodyPr/>
                    <a:lstStyle/>
                    <a:p>
                      <a:r>
                        <a:rPr sz="2025" b="1">
                          <a:solidFill>
                            <a:srgbClr val="FFFFFF"/>
                          </a:solidFill>
                          <a:latin typeface="Helvetica Neue"/>
                          <a:ea typeface="Helvetica Neue"/>
                          <a:cs typeface="Helvetica Neue"/>
                        </a:rPr>
                        <a:t>Customers</a:t>
                      </a:r>
                    </a:p>
                  </a:txBody>
                  <a:tcPr marL="152400" marR="152400" marT="133350" marB="133350">
                    <a:solidFill>
                      <a:srgbClr val="152F3C"/>
                    </a:solidFill>
                  </a:tcPr>
                </a:tc>
                <a:tc>
                  <a:txBody>
                    <a:bodyPr/>
                    <a:lstStyle/>
                    <a:p>
                      <a:r>
                        <a:rPr sz="2025" b="1">
                          <a:solidFill>
                            <a:srgbClr val="FFFFFF"/>
                          </a:solidFill>
                          <a:latin typeface="Helvetica Neue"/>
                          <a:ea typeface="Helvetica Neue"/>
                          <a:cs typeface="Helvetica Neue"/>
                        </a:rPr>
                        <a:t>Median spend</a:t>
                      </a:r>
                    </a:p>
                  </a:txBody>
                  <a:tcPr marL="152400" marR="152400" marT="133350" marB="133350">
                    <a:solidFill>
                      <a:srgbClr val="152F3C"/>
                    </a:solidFill>
                  </a:tcPr>
                </a:tc>
                <a:tc>
                  <a:txBody>
                    <a:bodyPr/>
                    <a:lstStyle/>
                    <a:p>
                      <a:r>
                        <a:rPr sz="2025" b="1">
                          <a:solidFill>
                            <a:srgbClr val="FFFFFF"/>
                          </a:solidFill>
                          <a:latin typeface="Helvetica Neue"/>
                          <a:ea typeface="Helvetica Neue"/>
                          <a:cs typeface="Helvetica Neue"/>
                        </a:rPr>
                        <a:t>Proposed test</a:t>
                      </a:r>
                    </a:p>
                  </a:txBody>
                  <a:tcPr marL="152400" marR="152400" marT="133350" marB="133350">
                    <a:solidFill>
                      <a:srgbClr val="152F3C"/>
                    </a:solidFill>
                  </a:tcPr>
                </a:tc>
                <a:extLst>
                  <a:ext uri="{0D108BD9-81ED-4DB2-BD59-A6C34878D82A}">
                    <a16:rowId xmlns:a16="http://schemas.microsoft.com/office/drawing/2014/main" val="10000"/>
                  </a:ext>
                </a:extLst>
              </a:tr>
              <a:tr h="920750">
                <a:tc>
                  <a:txBody>
                    <a:bodyPr/>
                    <a:lstStyle/>
                    <a:p>
                      <a:r>
                        <a:rPr sz="2025">
                          <a:solidFill>
                            <a:srgbClr val="152F3C"/>
                          </a:solidFill>
                          <a:latin typeface="Helvetica Neue"/>
                          <a:ea typeface="Helvetica Neue"/>
                          <a:cs typeface="Helvetica Neue"/>
                        </a:rPr>
                        <a:t>Higher recorded spend</a:t>
                      </a:r>
                    </a:p>
                  </a:txBody>
                  <a:tcPr marL="152400" marR="152400" marT="133350" marB="133350">
                    <a:solidFill>
                      <a:srgbClr val="F7F5F0"/>
                    </a:solidFill>
                  </a:tcPr>
                </a:tc>
                <a:tc>
                  <a:txBody>
                    <a:bodyPr/>
                    <a:lstStyle/>
                    <a:p>
                      <a:r>
                        <a:rPr sz="2025">
                          <a:solidFill>
                            <a:srgbClr val="152F3C"/>
                          </a:solidFill>
                          <a:latin typeface="Helvetica Neue"/>
                          <a:ea typeface="Helvetica Neue"/>
                          <a:cs typeface="Helvetica Neue"/>
                        </a:rPr>
                        <a:t>1,100</a:t>
                      </a:r>
                    </a:p>
                  </a:txBody>
                  <a:tcPr marL="152400" marR="152400" marT="133350" marB="133350">
                    <a:solidFill>
                      <a:srgbClr val="F7F5F0"/>
                    </a:solidFill>
                  </a:tcPr>
                </a:tc>
                <a:tc>
                  <a:txBody>
                    <a:bodyPr/>
                    <a:lstStyle/>
                    <a:p>
                      <a:r>
                        <a:rPr sz="2025">
                          <a:solidFill>
                            <a:srgbClr val="152F3C"/>
                          </a:solidFill>
                          <a:latin typeface="Helvetica Neue"/>
                          <a:ea typeface="Helvetica Neue"/>
                          <a:cs typeface="Helvetica Neue"/>
                        </a:rPr>
                        <a:t>1,056.5</a:t>
                      </a:r>
                    </a:p>
                  </a:txBody>
                  <a:tcPr marL="152400" marR="152400" marT="133350" marB="133350">
                    <a:solidFill>
                      <a:srgbClr val="F7F5F0"/>
                    </a:solidFill>
                  </a:tcPr>
                </a:tc>
                <a:tc>
                  <a:txBody>
                    <a:bodyPr/>
                    <a:lstStyle/>
                    <a:p>
                      <a:r>
                        <a:rPr sz="2025">
                          <a:solidFill>
                            <a:srgbClr val="152F3C"/>
                          </a:solidFill>
                          <a:latin typeface="Helvetica Neue"/>
                          <a:ea typeface="Helvetica Neue"/>
                          <a:cs typeface="Helvetica Neue"/>
                        </a:rPr>
                        <a:t>Broader assortments</a:t>
                      </a:r>
                    </a:p>
                  </a:txBody>
                  <a:tcPr marL="152400" marR="152400" marT="133350" marB="133350">
                    <a:solidFill>
                      <a:srgbClr val="F7F5F0"/>
                    </a:solidFill>
                  </a:tcPr>
                </a:tc>
                <a:extLst>
                  <a:ext uri="{0D108BD9-81ED-4DB2-BD59-A6C34878D82A}">
                    <a16:rowId xmlns:a16="http://schemas.microsoft.com/office/drawing/2014/main" val="10001"/>
                  </a:ext>
                </a:extLst>
              </a:tr>
              <a:tr h="920750">
                <a:tc>
                  <a:txBody>
                    <a:bodyPr/>
                    <a:lstStyle/>
                    <a:p>
                      <a:r>
                        <a:rPr sz="2025">
                          <a:solidFill>
                            <a:srgbClr val="152F3C"/>
                          </a:solidFill>
                          <a:latin typeface="Helvetica Neue"/>
                          <a:ea typeface="Helvetica Neue"/>
                          <a:cs typeface="Helvetica Neue"/>
                        </a:rPr>
                        <a:t>Lower recorded spend</a:t>
                      </a:r>
                    </a:p>
                  </a:txBody>
                  <a:tcPr marL="152400" marR="152400" marT="133350" marB="133350">
                    <a:solidFill>
                      <a:srgbClr val="EAF0ED"/>
                    </a:solidFill>
                  </a:tcPr>
                </a:tc>
                <a:tc>
                  <a:txBody>
                    <a:bodyPr/>
                    <a:lstStyle/>
                    <a:p>
                      <a:r>
                        <a:rPr sz="2025">
                          <a:solidFill>
                            <a:srgbClr val="152F3C"/>
                          </a:solidFill>
                          <a:latin typeface="Helvetica Neue"/>
                          <a:ea typeface="Helvetica Neue"/>
                          <a:cs typeface="Helvetica Neue"/>
                        </a:rPr>
                        <a:t>1,136</a:t>
                      </a:r>
                    </a:p>
                  </a:txBody>
                  <a:tcPr marL="152400" marR="152400" marT="133350" marB="133350">
                    <a:solidFill>
                      <a:srgbClr val="EAF0ED"/>
                    </a:solidFill>
                  </a:tcPr>
                </a:tc>
                <a:tc>
                  <a:txBody>
                    <a:bodyPr/>
                    <a:lstStyle/>
                    <a:p>
                      <a:r>
                        <a:rPr sz="2025">
                          <a:solidFill>
                            <a:srgbClr val="152F3C"/>
                          </a:solidFill>
                          <a:latin typeface="Helvetica Neue"/>
                          <a:ea typeface="Helvetica Neue"/>
                          <a:cs typeface="Helvetica Neue"/>
                        </a:rPr>
                        <a:t>70.0</a:t>
                      </a:r>
                    </a:p>
                  </a:txBody>
                  <a:tcPr marL="152400" marR="152400" marT="133350" marB="133350">
                    <a:solidFill>
                      <a:srgbClr val="EAF0ED"/>
                    </a:solidFill>
                  </a:tcPr>
                </a:tc>
                <a:tc>
                  <a:txBody>
                    <a:bodyPr/>
                    <a:lstStyle/>
                    <a:p>
                      <a:r>
                        <a:rPr sz="2025">
                          <a:solidFill>
                            <a:srgbClr val="152F3C"/>
                          </a:solidFill>
                          <a:latin typeface="Helvetica Neue"/>
                          <a:ea typeface="Helvetica Neue"/>
                          <a:cs typeface="Helvetica Neue"/>
                        </a:rPr>
                        <a:t>Clearer product information</a:t>
                      </a:r>
                    </a:p>
                  </a:txBody>
                  <a:tcPr marL="152400" marR="152400" marT="133350" marB="133350">
                    <a:solidFill>
                      <a:srgbClr val="EAF0ED"/>
                    </a:solidFill>
                  </a:tcPr>
                </a:tc>
                <a:extLst>
                  <a:ext uri="{0D108BD9-81ED-4DB2-BD59-A6C34878D82A}">
                    <a16:rowId xmlns:a16="http://schemas.microsoft.com/office/drawing/2014/main" val="10002"/>
                  </a:ext>
                </a:extLst>
              </a:tr>
            </a:tbl>
          </a:graphicData>
        </a:graphic>
      </p:graphicFrame>
      <p:sp>
        <p:nvSpPr>
          <p:cNvPr id="6" name="Rectangle 5">
            <a:extLst>
              <a:ext uri="{FF2B5EF4-FFF2-40B4-BE49-F238E27FC236}">
                <a16:creationId xmlns:a16="http://schemas.microsoft.com/office/drawing/2014/main" id="{34D86B34-2F46-44CC-81C2-2D2280F970D4}"/>
              </a:ext>
            </a:extLst>
          </p:cNvPr>
          <p:cNvSpPr>
            <a:spLocks noGrp="1"/>
          </p:cNvSpPr>
          <p:nvPr/>
        </p:nvSpPr>
        <p:spPr>
          <a:xfrm>
            <a:off x="609600" y="5391150"/>
            <a:ext cx="10972800" cy="590550"/>
          </a:xfrm>
          <a:prstGeom prst="rect">
            <a:avLst/>
          </a:prstGeom>
          <a:noFill/>
          <a:ln w="0">
            <a:noFill/>
          </a:ln>
        </p:spPr>
        <p:txBody>
          <a:bodyPr wrap="square" lIns="0" tIns="0" rIns="0" bIns="0" anchor="t">
            <a:noAutofit/>
          </a:bodyPr>
          <a:lstStyle/>
          <a:p>
            <a:pPr>
              <a:defRPr sz="1800" b="0">
                <a:solidFill>
                  <a:srgbClr val="566973"/>
                </a:solidFill>
                <a:latin typeface="Helvetica Neue"/>
                <a:ea typeface="Helvetica Neue"/>
                <a:cs typeface="Helvetica Neue"/>
              </a:defRPr>
            </a:pPr>
            <a:r>
              <a:rPr sz="1800" b="0">
                <a:solidFill>
                  <a:srgbClr val="566973"/>
                </a:solidFill>
                <a:latin typeface="Helvetica Neue"/>
                <a:ea typeface="Helvetica Neue"/>
                <a:cs typeface="Helvetica Neue"/>
              </a:rPr>
              <a:t>Recorded spending uses unspecified units. Groups overlap and actions remain hypotheses.</a:t>
            </a:r>
          </a:p>
        </p:txBody>
      </p:sp>
    </p:spTree>
    <p:extLst>
      <p:ext uri="{BB962C8B-B14F-4D97-AF65-F5344CB8AC3E}">
        <p14:creationId xmlns:p14="http://schemas.microsoft.com/office/powerpoint/2010/main" val="16505364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6C0D81D2-1CA3-404D-B3CE-999A808F29FD}"/>
              </a:ext>
            </a:extLst>
          </p:cNvPr>
          <p:cNvSpPr>
            <a:spLocks noGrp="1"/>
          </p:cNvSpPr>
          <p:nvPr/>
        </p:nvSpPr>
        <p:spPr>
          <a:xfrm>
            <a:off x="609600" y="304800"/>
            <a:ext cx="10477500" cy="266700"/>
          </a:xfrm>
          <a:prstGeom prst="rect">
            <a:avLst/>
          </a:prstGeom>
          <a:noFill/>
          <a:ln w="0">
            <a:noFill/>
          </a:ln>
        </p:spPr>
        <p:txBody>
          <a:bodyPr wrap="square" lIns="0" tIns="0" rIns="0" bIns="0" anchor="t">
            <a:noAutofit/>
          </a:bodyPr>
          <a:lstStyle/>
          <a:p>
            <a:pPr>
              <a:defRPr sz="1350" b="1">
                <a:solidFill>
                  <a:srgbClr val="267D88"/>
                </a:solidFill>
                <a:latin typeface="Helvetica Neue"/>
                <a:ea typeface="Helvetica Neue"/>
                <a:cs typeface="Helvetica Neue"/>
              </a:defRPr>
            </a:pPr>
            <a:r>
              <a:rPr sz="1350" b="1">
                <a:solidFill>
                  <a:srgbClr val="267D88"/>
                </a:solidFill>
                <a:latin typeface="Helvetica Neue"/>
                <a:ea typeface="Helvetica Neue"/>
                <a:cs typeface="Helvetica Neue"/>
              </a:rPr>
              <a:t>08 / BUSINESS PERSPECTIVE</a:t>
            </a:r>
          </a:p>
        </p:txBody>
      </p:sp>
      <p:sp>
        <p:nvSpPr>
          <p:cNvPr id="2" name="Rectangle 1">
            <a:extLst>
              <a:ext uri="{FF2B5EF4-FFF2-40B4-BE49-F238E27FC236}">
                <a16:creationId xmlns:a16="http://schemas.microsoft.com/office/drawing/2014/main" id="{CE20F9CB-B845-45AE-B529-B0AD65F3A0E1}"/>
              </a:ext>
            </a:extLst>
          </p:cNvPr>
          <p:cNvSpPr>
            <a:spLocks noGrp="1"/>
          </p:cNvSpPr>
          <p:nvPr/>
        </p:nvSpPr>
        <p:spPr>
          <a:xfrm>
            <a:off x="609600" y="742950"/>
            <a:ext cx="10972800" cy="1028700"/>
          </a:xfrm>
          <a:prstGeom prst="rect">
            <a:avLst/>
          </a:prstGeom>
          <a:noFill/>
          <a:ln w="0">
            <a:noFill/>
          </a:ln>
        </p:spPr>
        <p:txBody>
          <a:bodyPr wrap="square" lIns="0" tIns="0" rIns="0" bIns="0" anchor="t">
            <a:noAutofit/>
          </a:bodyPr>
          <a:lstStyle/>
          <a:p>
            <a:pPr>
              <a:defRPr sz="3300" b="1">
                <a:solidFill>
                  <a:srgbClr val="152F3C"/>
                </a:solidFill>
                <a:latin typeface="Helvetica Neue"/>
                <a:ea typeface="Helvetica Neue"/>
                <a:cs typeface="Helvetica Neue"/>
              </a:defRPr>
            </a:pPr>
            <a:r>
              <a:rPr sz="3300" b="1">
                <a:solidFill>
                  <a:srgbClr val="152F3C"/>
                </a:solidFill>
                <a:latin typeface="Helvetica Neue"/>
                <a:ea typeface="Helvetica Neue"/>
                <a:cs typeface="Helvetica Neue"/>
              </a:rPr>
              <a:t>Historical evidence leaves material questions</a:t>
            </a:r>
          </a:p>
        </p:txBody>
      </p:sp>
      <p:sp>
        <p:nvSpPr>
          <p:cNvPr id="3" name="Rectangle 2">
            <a:extLst>
              <a:ext uri="{FF2B5EF4-FFF2-40B4-BE49-F238E27FC236}">
                <a16:creationId xmlns:a16="http://schemas.microsoft.com/office/drawing/2014/main" id="{6050A747-5EAA-4BFA-BCD1-676959AAE322}"/>
              </a:ext>
            </a:extLst>
          </p:cNvPr>
          <p:cNvSpPr>
            <a:spLocks noGrp="1"/>
          </p:cNvSpPr>
          <p:nvPr/>
        </p:nvSpPr>
        <p:spPr>
          <a:xfrm>
            <a:off x="609600" y="6419850"/>
            <a:ext cx="7048500" cy="228600"/>
          </a:xfrm>
          <a:prstGeom prst="rect">
            <a:avLst/>
          </a:prstGeom>
          <a:noFill/>
          <a:ln w="0">
            <a:noFill/>
          </a:ln>
        </p:spPr>
        <p:txBody>
          <a:bodyPr wrap="square" lIns="0" tIns="0" rIns="0" bIns="0" anchor="t">
            <a:noAutofit/>
          </a:bodyPr>
          <a:lstStyle/>
          <a:p>
            <a:pPr>
              <a:defRPr sz="1125" b="0">
                <a:solidFill>
                  <a:srgbClr val="566973"/>
                </a:solidFill>
                <a:latin typeface="Helvetica Neue"/>
                <a:ea typeface="Helvetica Neue"/>
                <a:cs typeface="Helvetica Neue"/>
              </a:defRPr>
            </a:pPr>
            <a:r>
              <a:rPr sz="1125" b="0">
                <a:solidFill>
                  <a:srgbClr val="566973"/>
                </a:solidFill>
                <a:latin typeface="Helvetica Neue"/>
                <a:ea typeface="Helvetica Neue"/>
                <a:cs typeface="Helvetica Neue"/>
              </a:rPr>
              <a:t>CUSTOMER CAMPAIGN ANALYSIS</a:t>
            </a:r>
          </a:p>
        </p:txBody>
      </p:sp>
      <p:sp>
        <p:nvSpPr>
          <p:cNvPr id="4" name="Rectangle 3">
            <a:extLst>
              <a:ext uri="{FF2B5EF4-FFF2-40B4-BE49-F238E27FC236}">
                <a16:creationId xmlns:a16="http://schemas.microsoft.com/office/drawing/2014/main" id="{53D25F0B-4BC6-4DEA-99B4-73EBEF2F1C10}"/>
              </a:ext>
            </a:extLst>
          </p:cNvPr>
          <p:cNvSpPr>
            <a:spLocks noGrp="1"/>
          </p:cNvSpPr>
          <p:nvPr/>
        </p:nvSpPr>
        <p:spPr>
          <a:xfrm>
            <a:off x="11049000" y="6419850"/>
            <a:ext cx="533400" cy="228600"/>
          </a:xfrm>
          <a:prstGeom prst="rect">
            <a:avLst/>
          </a:prstGeom>
          <a:noFill/>
          <a:ln w="0">
            <a:noFill/>
          </a:ln>
        </p:spPr>
        <p:txBody>
          <a:bodyPr wrap="square" lIns="0" tIns="0" rIns="0" bIns="0" anchor="t">
            <a:noAutofit/>
          </a:bodyPr>
          <a:lstStyle/>
          <a:p>
            <a:pPr>
              <a:defRPr sz="1200" b="0">
                <a:solidFill>
                  <a:srgbClr val="566973"/>
                </a:solidFill>
                <a:latin typeface="Helvetica Neue"/>
                <a:ea typeface="Helvetica Neue"/>
                <a:cs typeface="Helvetica Neue"/>
              </a:defRPr>
            </a:pPr>
            <a:r>
              <a:rPr sz="1200" b="0">
                <a:solidFill>
                  <a:srgbClr val="566973"/>
                </a:solidFill>
                <a:latin typeface="Helvetica Neue"/>
                <a:ea typeface="Helvetica Neue"/>
                <a:cs typeface="Helvetica Neue"/>
              </a:rPr>
              <a:t>08</a:t>
            </a:r>
          </a:p>
        </p:txBody>
      </p:sp>
      <p:sp>
        <p:nvSpPr>
          <p:cNvPr id="5" name="Rectangle 4">
            <a:extLst>
              <a:ext uri="{FF2B5EF4-FFF2-40B4-BE49-F238E27FC236}">
                <a16:creationId xmlns:a16="http://schemas.microsoft.com/office/drawing/2014/main" id="{7833E41D-C990-447B-A482-776BC27637C7}"/>
              </a:ext>
            </a:extLst>
          </p:cNvPr>
          <p:cNvSpPr>
            <a:spLocks noGrp="1"/>
          </p:cNvSpPr>
          <p:nvPr/>
        </p:nvSpPr>
        <p:spPr>
          <a:xfrm>
            <a:off x="609600" y="1905000"/>
            <a:ext cx="590550" cy="400050"/>
          </a:xfrm>
          <a:prstGeom prst="rect">
            <a:avLst/>
          </a:prstGeom>
          <a:noFill/>
          <a:ln w="0">
            <a:noFill/>
          </a:ln>
        </p:spPr>
        <p:txBody>
          <a:bodyPr wrap="square" lIns="0" tIns="0" rIns="0" bIns="0" anchor="t">
            <a:noAutofit/>
          </a:bodyPr>
          <a:lstStyle/>
          <a:p>
            <a:pPr>
              <a:defRPr sz="2400" b="1">
                <a:solidFill>
                  <a:srgbClr val="267D88"/>
                </a:solidFill>
                <a:latin typeface="Helvetica Neue"/>
                <a:ea typeface="Helvetica Neue"/>
                <a:cs typeface="Helvetica Neue"/>
              </a:defRPr>
            </a:pPr>
            <a:r>
              <a:rPr sz="2400" b="1">
                <a:solidFill>
                  <a:srgbClr val="267D88"/>
                </a:solidFill>
                <a:latin typeface="Helvetica Neue"/>
                <a:ea typeface="Helvetica Neue"/>
                <a:cs typeface="Helvetica Neue"/>
              </a:rPr>
              <a:t>01</a:t>
            </a:r>
          </a:p>
        </p:txBody>
      </p:sp>
      <p:sp>
        <p:nvSpPr>
          <p:cNvPr id="6" name="Rectangle 5">
            <a:extLst>
              <a:ext uri="{FF2B5EF4-FFF2-40B4-BE49-F238E27FC236}">
                <a16:creationId xmlns:a16="http://schemas.microsoft.com/office/drawing/2014/main" id="{6A886036-6C78-48EB-B080-2006C26CA3BF}"/>
              </a:ext>
            </a:extLst>
          </p:cNvPr>
          <p:cNvSpPr>
            <a:spLocks noGrp="1"/>
          </p:cNvSpPr>
          <p:nvPr/>
        </p:nvSpPr>
        <p:spPr>
          <a:xfrm>
            <a:off x="1419225" y="1905000"/>
            <a:ext cx="10163175" cy="733425"/>
          </a:xfrm>
          <a:prstGeom prst="rect">
            <a:avLst/>
          </a:prstGeom>
          <a:noFill/>
          <a:ln w="0">
            <a:noFill/>
          </a:ln>
        </p:spPr>
        <p:txBody>
          <a:bodyPr wrap="square" lIns="0" tIns="0" rIns="0" bIns="0" anchor="t">
            <a:noAutofit/>
          </a:bodyPr>
          <a:lstStyle/>
          <a:p>
            <a:pPr>
              <a:defRPr sz="2175" b="0">
                <a:solidFill>
                  <a:srgbClr val="152F3C"/>
                </a:solidFill>
                <a:latin typeface="Helvetica Neue"/>
                <a:ea typeface="Helvetica Neue"/>
                <a:cs typeface="Helvetica Neue"/>
              </a:defRPr>
            </a:pPr>
            <a:r>
              <a:rPr sz="2175" b="0">
                <a:solidFill>
                  <a:srgbClr val="152F3C"/>
                </a:solidFill>
                <a:latin typeface="Helvetica Neue"/>
                <a:ea typeface="Helvetica Neue"/>
                <a:cs typeface="Helvetica Neue"/>
              </a:rPr>
              <a:t>Some features may not precede the campaign</a:t>
            </a:r>
          </a:p>
        </p:txBody>
      </p:sp>
      <p:sp>
        <p:nvSpPr>
          <p:cNvPr id="7" name="Rectangle 6">
            <a:extLst>
              <a:ext uri="{FF2B5EF4-FFF2-40B4-BE49-F238E27FC236}">
                <a16:creationId xmlns:a16="http://schemas.microsoft.com/office/drawing/2014/main" id="{03CB7167-3DEC-4306-AD28-6553B80A13EE}"/>
              </a:ext>
            </a:extLst>
          </p:cNvPr>
          <p:cNvSpPr>
            <a:spLocks noGrp="1"/>
          </p:cNvSpPr>
          <p:nvPr/>
        </p:nvSpPr>
        <p:spPr>
          <a:xfrm>
            <a:off x="609600" y="2752725"/>
            <a:ext cx="590550" cy="400050"/>
          </a:xfrm>
          <a:prstGeom prst="rect">
            <a:avLst/>
          </a:prstGeom>
          <a:noFill/>
          <a:ln w="0">
            <a:noFill/>
          </a:ln>
        </p:spPr>
        <p:txBody>
          <a:bodyPr wrap="square" lIns="0" tIns="0" rIns="0" bIns="0" anchor="t">
            <a:noAutofit/>
          </a:bodyPr>
          <a:lstStyle/>
          <a:p>
            <a:pPr>
              <a:defRPr sz="2400" b="1">
                <a:solidFill>
                  <a:srgbClr val="267D88"/>
                </a:solidFill>
                <a:latin typeface="Helvetica Neue"/>
                <a:ea typeface="Helvetica Neue"/>
                <a:cs typeface="Helvetica Neue"/>
              </a:defRPr>
            </a:pPr>
            <a:r>
              <a:rPr sz="2400" b="1">
                <a:solidFill>
                  <a:srgbClr val="267D88"/>
                </a:solidFill>
                <a:latin typeface="Helvetica Neue"/>
                <a:ea typeface="Helvetica Neue"/>
                <a:cs typeface="Helvetica Neue"/>
              </a:rPr>
              <a:t>02</a:t>
            </a:r>
          </a:p>
        </p:txBody>
      </p:sp>
      <p:sp>
        <p:nvSpPr>
          <p:cNvPr id="8" name="Rectangle 7">
            <a:extLst>
              <a:ext uri="{FF2B5EF4-FFF2-40B4-BE49-F238E27FC236}">
                <a16:creationId xmlns:a16="http://schemas.microsoft.com/office/drawing/2014/main" id="{58BAF22D-2999-4F6E-8427-0A10374478EE}"/>
              </a:ext>
            </a:extLst>
          </p:cNvPr>
          <p:cNvSpPr>
            <a:spLocks noGrp="1"/>
          </p:cNvSpPr>
          <p:nvPr/>
        </p:nvSpPr>
        <p:spPr>
          <a:xfrm>
            <a:off x="1419225" y="2752725"/>
            <a:ext cx="10163175" cy="733425"/>
          </a:xfrm>
          <a:prstGeom prst="rect">
            <a:avLst/>
          </a:prstGeom>
          <a:noFill/>
          <a:ln w="0">
            <a:noFill/>
          </a:ln>
        </p:spPr>
        <p:txBody>
          <a:bodyPr wrap="square" lIns="0" tIns="0" rIns="0" bIns="0" anchor="t">
            <a:noAutofit/>
          </a:bodyPr>
          <a:lstStyle/>
          <a:p>
            <a:pPr>
              <a:defRPr sz="2175" b="0">
                <a:solidFill>
                  <a:srgbClr val="152F3C"/>
                </a:solidFill>
                <a:latin typeface="Helvetica Neue"/>
                <a:ea typeface="Helvetica Neue"/>
                <a:cs typeface="Helvetica Neue"/>
              </a:defRPr>
            </a:pPr>
            <a:r>
              <a:rPr sz="2175" b="0">
                <a:solidFill>
                  <a:srgbClr val="152F3C"/>
                </a:solidFill>
                <a:latin typeface="Helvetica Neue"/>
                <a:ea typeface="Helvetica Neue"/>
                <a:cs typeface="Helvetica Neue"/>
              </a:rPr>
              <a:t>Current customers may behave differently</a:t>
            </a:r>
          </a:p>
        </p:txBody>
      </p:sp>
      <p:sp>
        <p:nvSpPr>
          <p:cNvPr id="9" name="Rectangle 8">
            <a:extLst>
              <a:ext uri="{FF2B5EF4-FFF2-40B4-BE49-F238E27FC236}">
                <a16:creationId xmlns:a16="http://schemas.microsoft.com/office/drawing/2014/main" id="{E7054313-E776-4BD8-A5E0-E355D230A649}"/>
              </a:ext>
            </a:extLst>
          </p:cNvPr>
          <p:cNvSpPr>
            <a:spLocks noGrp="1"/>
          </p:cNvSpPr>
          <p:nvPr/>
        </p:nvSpPr>
        <p:spPr>
          <a:xfrm>
            <a:off x="609600" y="3600450"/>
            <a:ext cx="590550" cy="400050"/>
          </a:xfrm>
          <a:prstGeom prst="rect">
            <a:avLst/>
          </a:prstGeom>
          <a:noFill/>
          <a:ln w="0">
            <a:noFill/>
          </a:ln>
        </p:spPr>
        <p:txBody>
          <a:bodyPr wrap="square" lIns="0" tIns="0" rIns="0" bIns="0" anchor="t">
            <a:noAutofit/>
          </a:bodyPr>
          <a:lstStyle/>
          <a:p>
            <a:pPr>
              <a:defRPr sz="2400" b="1">
                <a:solidFill>
                  <a:srgbClr val="267D88"/>
                </a:solidFill>
                <a:latin typeface="Helvetica Neue"/>
                <a:ea typeface="Helvetica Neue"/>
                <a:cs typeface="Helvetica Neue"/>
              </a:defRPr>
            </a:pPr>
            <a:r>
              <a:rPr sz="2400" b="1">
                <a:solidFill>
                  <a:srgbClr val="267D88"/>
                </a:solidFill>
                <a:latin typeface="Helvetica Neue"/>
                <a:ea typeface="Helvetica Neue"/>
                <a:cs typeface="Helvetica Neue"/>
              </a:rPr>
              <a:t>03</a:t>
            </a:r>
          </a:p>
        </p:txBody>
      </p:sp>
      <p:sp>
        <p:nvSpPr>
          <p:cNvPr id="10" name="Rectangle 9">
            <a:extLst>
              <a:ext uri="{FF2B5EF4-FFF2-40B4-BE49-F238E27FC236}">
                <a16:creationId xmlns:a16="http://schemas.microsoft.com/office/drawing/2014/main" id="{A80692C0-75E4-4AA8-8243-EFAD3A10002C}"/>
              </a:ext>
            </a:extLst>
          </p:cNvPr>
          <p:cNvSpPr>
            <a:spLocks noGrp="1"/>
          </p:cNvSpPr>
          <p:nvPr/>
        </p:nvSpPr>
        <p:spPr>
          <a:xfrm>
            <a:off x="1419225" y="3600450"/>
            <a:ext cx="10163175" cy="733425"/>
          </a:xfrm>
          <a:prstGeom prst="rect">
            <a:avLst/>
          </a:prstGeom>
          <a:noFill/>
          <a:ln w="0">
            <a:noFill/>
          </a:ln>
        </p:spPr>
        <p:txBody>
          <a:bodyPr wrap="square" lIns="0" tIns="0" rIns="0" bIns="0" anchor="t">
            <a:noAutofit/>
          </a:bodyPr>
          <a:lstStyle/>
          <a:p>
            <a:pPr>
              <a:defRPr sz="2175" b="0">
                <a:solidFill>
                  <a:srgbClr val="152F3C"/>
                </a:solidFill>
                <a:latin typeface="Helvetica Neue"/>
                <a:ea typeface="Helvetica Neue"/>
                <a:cs typeface="Helvetica Neue"/>
              </a:defRPr>
            </a:pPr>
            <a:r>
              <a:rPr sz="2175" b="0">
                <a:solidFill>
                  <a:srgbClr val="152F3C"/>
                </a:solidFill>
                <a:latin typeface="Helvetica Neue"/>
                <a:ea typeface="Helvetica Neue"/>
                <a:cs typeface="Helvetica Neue"/>
              </a:rPr>
              <a:t>Income and education disparities persist</a:t>
            </a:r>
          </a:p>
        </p:txBody>
      </p:sp>
      <p:sp>
        <p:nvSpPr>
          <p:cNvPr id="11" name="Rectangle 10">
            <a:extLst>
              <a:ext uri="{FF2B5EF4-FFF2-40B4-BE49-F238E27FC236}">
                <a16:creationId xmlns:a16="http://schemas.microsoft.com/office/drawing/2014/main" id="{F83C296A-E87C-4BEA-B0BA-DE4FCA24B8E1}"/>
              </a:ext>
            </a:extLst>
          </p:cNvPr>
          <p:cNvSpPr>
            <a:spLocks noGrp="1"/>
          </p:cNvSpPr>
          <p:nvPr/>
        </p:nvSpPr>
        <p:spPr>
          <a:xfrm>
            <a:off x="609600" y="4448175"/>
            <a:ext cx="590550" cy="400050"/>
          </a:xfrm>
          <a:prstGeom prst="rect">
            <a:avLst/>
          </a:prstGeom>
          <a:noFill/>
          <a:ln w="0">
            <a:noFill/>
          </a:ln>
        </p:spPr>
        <p:txBody>
          <a:bodyPr wrap="square" lIns="0" tIns="0" rIns="0" bIns="0" anchor="t">
            <a:noAutofit/>
          </a:bodyPr>
          <a:lstStyle/>
          <a:p>
            <a:pPr>
              <a:defRPr sz="2400" b="1">
                <a:solidFill>
                  <a:srgbClr val="267D88"/>
                </a:solidFill>
                <a:latin typeface="Helvetica Neue"/>
                <a:ea typeface="Helvetica Neue"/>
                <a:cs typeface="Helvetica Neue"/>
              </a:defRPr>
            </a:pPr>
            <a:r>
              <a:rPr sz="2400" b="1">
                <a:solidFill>
                  <a:srgbClr val="267D88"/>
                </a:solidFill>
                <a:latin typeface="Helvetica Neue"/>
                <a:ea typeface="Helvetica Neue"/>
                <a:cs typeface="Helvetica Neue"/>
              </a:rPr>
              <a:t>04</a:t>
            </a:r>
          </a:p>
        </p:txBody>
      </p:sp>
      <p:sp>
        <p:nvSpPr>
          <p:cNvPr id="12" name="Rectangle 11">
            <a:extLst>
              <a:ext uri="{FF2B5EF4-FFF2-40B4-BE49-F238E27FC236}">
                <a16:creationId xmlns:a16="http://schemas.microsoft.com/office/drawing/2014/main" id="{3094213D-F5C1-46FD-B88D-4FA9861656B2}"/>
              </a:ext>
            </a:extLst>
          </p:cNvPr>
          <p:cNvSpPr>
            <a:spLocks noGrp="1"/>
          </p:cNvSpPr>
          <p:nvPr/>
        </p:nvSpPr>
        <p:spPr>
          <a:xfrm>
            <a:off x="1419225" y="4448175"/>
            <a:ext cx="10163175" cy="733425"/>
          </a:xfrm>
          <a:prstGeom prst="rect">
            <a:avLst/>
          </a:prstGeom>
          <a:noFill/>
          <a:ln w="0">
            <a:noFill/>
          </a:ln>
        </p:spPr>
        <p:txBody>
          <a:bodyPr wrap="square" lIns="0" tIns="0" rIns="0" bIns="0" anchor="t">
            <a:noAutofit/>
          </a:bodyPr>
          <a:lstStyle/>
          <a:p>
            <a:pPr>
              <a:defRPr sz="2175" b="0">
                <a:solidFill>
                  <a:srgbClr val="152F3C"/>
                </a:solidFill>
                <a:latin typeface="Helvetica Neue"/>
                <a:ea typeface="Helvetica Neue"/>
                <a:cs typeface="Helvetica Neue"/>
              </a:defRPr>
            </a:pPr>
            <a:r>
              <a:rPr sz="2175" b="0">
                <a:solidFill>
                  <a:srgbClr val="152F3C"/>
                </a:solidFill>
                <a:latin typeface="Helvetica Neue"/>
                <a:ea typeface="Helvetica Neue"/>
                <a:cs typeface="Helvetica Neue"/>
              </a:rPr>
              <a:t>Gender and race are unavailable for auditing</a:t>
            </a:r>
          </a:p>
        </p:txBody>
      </p:sp>
      <p:sp>
        <p:nvSpPr>
          <p:cNvPr id="13" name="Rectangle 12">
            <a:extLst>
              <a:ext uri="{FF2B5EF4-FFF2-40B4-BE49-F238E27FC236}">
                <a16:creationId xmlns:a16="http://schemas.microsoft.com/office/drawing/2014/main" id="{D9995667-02B3-4447-AE27-E761D45A4F21}"/>
              </a:ext>
            </a:extLst>
          </p:cNvPr>
          <p:cNvSpPr>
            <a:spLocks noGrp="1"/>
          </p:cNvSpPr>
          <p:nvPr/>
        </p:nvSpPr>
        <p:spPr>
          <a:xfrm>
            <a:off x="609600" y="5772150"/>
            <a:ext cx="10972800" cy="590550"/>
          </a:xfrm>
          <a:prstGeom prst="rect">
            <a:avLst/>
          </a:prstGeom>
          <a:noFill/>
          <a:ln w="0">
            <a:noFill/>
          </a:ln>
        </p:spPr>
        <p:txBody>
          <a:bodyPr wrap="square" lIns="0" tIns="0" rIns="0" bIns="0" anchor="t">
            <a:noAutofit/>
          </a:bodyPr>
          <a:lstStyle/>
          <a:p>
            <a:pPr>
              <a:defRPr sz="1800" b="0">
                <a:solidFill>
                  <a:srgbClr val="B85831"/>
                </a:solidFill>
                <a:latin typeface="Helvetica Neue"/>
                <a:ea typeface="Helvetica Neue"/>
                <a:cs typeface="Helvetica Neue"/>
              </a:defRPr>
            </a:pPr>
            <a:r>
              <a:rPr sz="1800" b="0">
                <a:solidFill>
                  <a:srgbClr val="B85831"/>
                </a:solidFill>
                <a:latin typeface="Helvetica Neue"/>
                <a:ea typeface="Helvetica Neue"/>
                <a:cs typeface="Helvetica Neue"/>
              </a:rPr>
              <a:t>Real costs, consent and offer eligibility also require verification.</a:t>
            </a:r>
          </a:p>
        </p:txBody>
      </p:sp>
    </p:spTree>
    <p:extLst>
      <p:ext uri="{BB962C8B-B14F-4D97-AF65-F5344CB8AC3E}">
        <p14:creationId xmlns:p14="http://schemas.microsoft.com/office/powerpoint/2010/main" val="9799823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172D268-31C0-4259-87C5-0F84FE33A5A2}"/>
              </a:ext>
            </a:extLst>
          </p:cNvPr>
          <p:cNvSpPr>
            <a:spLocks noGrp="1"/>
          </p:cNvSpPr>
          <p:nvPr/>
        </p:nvSpPr>
        <p:spPr>
          <a:xfrm>
            <a:off x="609600" y="304800"/>
            <a:ext cx="10477500" cy="266700"/>
          </a:xfrm>
          <a:prstGeom prst="rect">
            <a:avLst/>
          </a:prstGeom>
          <a:noFill/>
          <a:ln w="0">
            <a:noFill/>
          </a:ln>
        </p:spPr>
        <p:txBody>
          <a:bodyPr wrap="square" lIns="0" tIns="0" rIns="0" bIns="0" anchor="t">
            <a:noAutofit/>
          </a:bodyPr>
          <a:lstStyle/>
          <a:p>
            <a:pPr>
              <a:defRPr sz="1350" b="1">
                <a:solidFill>
                  <a:srgbClr val="267D88"/>
                </a:solidFill>
                <a:latin typeface="Helvetica Neue"/>
                <a:ea typeface="Helvetica Neue"/>
                <a:cs typeface="Helvetica Neue"/>
              </a:defRPr>
            </a:pPr>
            <a:r>
              <a:rPr sz="1350" b="1">
                <a:solidFill>
                  <a:srgbClr val="267D88"/>
                </a:solidFill>
                <a:latin typeface="Helvetica Neue"/>
                <a:ea typeface="Helvetica Neue"/>
                <a:cs typeface="Helvetica Neue"/>
              </a:rPr>
              <a:t>09 / BUSINESS PERSPECTIVE</a:t>
            </a:r>
          </a:p>
        </p:txBody>
      </p:sp>
      <p:sp>
        <p:nvSpPr>
          <p:cNvPr id="2" name="Rectangle 1">
            <a:extLst>
              <a:ext uri="{FF2B5EF4-FFF2-40B4-BE49-F238E27FC236}">
                <a16:creationId xmlns:a16="http://schemas.microsoft.com/office/drawing/2014/main" id="{776CC95B-E9DD-4D59-9AC0-A92CC0EF96BB}"/>
              </a:ext>
            </a:extLst>
          </p:cNvPr>
          <p:cNvSpPr>
            <a:spLocks noGrp="1"/>
          </p:cNvSpPr>
          <p:nvPr/>
        </p:nvSpPr>
        <p:spPr>
          <a:xfrm>
            <a:off x="609600" y="742950"/>
            <a:ext cx="10972800" cy="1028700"/>
          </a:xfrm>
          <a:prstGeom prst="rect">
            <a:avLst/>
          </a:prstGeom>
          <a:noFill/>
          <a:ln w="0">
            <a:noFill/>
          </a:ln>
        </p:spPr>
        <p:txBody>
          <a:bodyPr wrap="square" lIns="0" tIns="0" rIns="0" bIns="0" anchor="t">
            <a:noAutofit/>
          </a:bodyPr>
          <a:lstStyle/>
          <a:p>
            <a:pPr>
              <a:defRPr sz="3300" b="1">
                <a:solidFill>
                  <a:srgbClr val="152F3C"/>
                </a:solidFill>
                <a:latin typeface="Helvetica Neue"/>
                <a:ea typeface="Helvetica Neue"/>
                <a:cs typeface="Helvetica Neue"/>
              </a:defRPr>
            </a:pPr>
            <a:r>
              <a:rPr sz="3300" b="1">
                <a:solidFill>
                  <a:srgbClr val="152F3C"/>
                </a:solidFill>
                <a:latin typeface="Helvetica Neue"/>
                <a:ea typeface="Helvetica Neue"/>
                <a:cs typeface="Helvetica Neue"/>
              </a:rPr>
              <a:t>A randomised pilot can measure incremental value</a:t>
            </a:r>
          </a:p>
        </p:txBody>
      </p:sp>
      <p:sp>
        <p:nvSpPr>
          <p:cNvPr id="3" name="Rectangle 2">
            <a:extLst>
              <a:ext uri="{FF2B5EF4-FFF2-40B4-BE49-F238E27FC236}">
                <a16:creationId xmlns:a16="http://schemas.microsoft.com/office/drawing/2014/main" id="{1F0BC0A3-C0A8-49CB-AC94-DF03756FDBA1}"/>
              </a:ext>
            </a:extLst>
          </p:cNvPr>
          <p:cNvSpPr>
            <a:spLocks noGrp="1"/>
          </p:cNvSpPr>
          <p:nvPr/>
        </p:nvSpPr>
        <p:spPr>
          <a:xfrm>
            <a:off x="609600" y="6419850"/>
            <a:ext cx="7048500" cy="228600"/>
          </a:xfrm>
          <a:prstGeom prst="rect">
            <a:avLst/>
          </a:prstGeom>
          <a:noFill/>
          <a:ln w="0">
            <a:noFill/>
          </a:ln>
        </p:spPr>
        <p:txBody>
          <a:bodyPr wrap="square" lIns="0" tIns="0" rIns="0" bIns="0" anchor="t">
            <a:noAutofit/>
          </a:bodyPr>
          <a:lstStyle/>
          <a:p>
            <a:pPr>
              <a:defRPr sz="1125" b="0">
                <a:solidFill>
                  <a:srgbClr val="566973"/>
                </a:solidFill>
                <a:latin typeface="Helvetica Neue"/>
                <a:ea typeface="Helvetica Neue"/>
                <a:cs typeface="Helvetica Neue"/>
              </a:defRPr>
            </a:pPr>
            <a:r>
              <a:rPr sz="1125" b="0">
                <a:solidFill>
                  <a:srgbClr val="566973"/>
                </a:solidFill>
                <a:latin typeface="Helvetica Neue"/>
                <a:ea typeface="Helvetica Neue"/>
                <a:cs typeface="Helvetica Neue"/>
              </a:rPr>
              <a:t>CUSTOMER CAMPAIGN ANALYSIS</a:t>
            </a:r>
          </a:p>
        </p:txBody>
      </p:sp>
      <p:sp>
        <p:nvSpPr>
          <p:cNvPr id="4" name="Rectangle 3">
            <a:extLst>
              <a:ext uri="{FF2B5EF4-FFF2-40B4-BE49-F238E27FC236}">
                <a16:creationId xmlns:a16="http://schemas.microsoft.com/office/drawing/2014/main" id="{F1C89B5E-EF2F-497B-92EC-EEC9D72206FF}"/>
              </a:ext>
            </a:extLst>
          </p:cNvPr>
          <p:cNvSpPr>
            <a:spLocks noGrp="1"/>
          </p:cNvSpPr>
          <p:nvPr/>
        </p:nvSpPr>
        <p:spPr>
          <a:xfrm>
            <a:off x="11049000" y="6419850"/>
            <a:ext cx="533400" cy="228600"/>
          </a:xfrm>
          <a:prstGeom prst="rect">
            <a:avLst/>
          </a:prstGeom>
          <a:noFill/>
          <a:ln w="0">
            <a:noFill/>
          </a:ln>
        </p:spPr>
        <p:txBody>
          <a:bodyPr wrap="square" lIns="0" tIns="0" rIns="0" bIns="0" anchor="t">
            <a:noAutofit/>
          </a:bodyPr>
          <a:lstStyle/>
          <a:p>
            <a:pPr>
              <a:defRPr sz="1200" b="0">
                <a:solidFill>
                  <a:srgbClr val="566973"/>
                </a:solidFill>
                <a:latin typeface="Helvetica Neue"/>
                <a:ea typeface="Helvetica Neue"/>
                <a:cs typeface="Helvetica Neue"/>
              </a:defRPr>
            </a:pPr>
            <a:r>
              <a:rPr sz="1200" b="0">
                <a:solidFill>
                  <a:srgbClr val="566973"/>
                </a:solidFill>
                <a:latin typeface="Helvetica Neue"/>
                <a:ea typeface="Helvetica Neue"/>
                <a:cs typeface="Helvetica Neue"/>
              </a:rPr>
              <a:t>09</a:t>
            </a:r>
          </a:p>
        </p:txBody>
      </p:sp>
      <p:graphicFrame>
        <p:nvGraphicFramePr>
          <p:cNvPr id="11" name="Table 10"/>
          <p:cNvGraphicFramePr/>
          <p:nvPr/>
        </p:nvGraphicFramePr>
        <p:xfrm>
          <a:off x="609600" y="2028825"/>
          <a:ext cx="10972800" cy="3067052"/>
        </p:xfrm>
        <a:graphic>
          <a:graphicData uri="http://schemas.openxmlformats.org/drawingml/2006/table">
            <a:tbl>
              <a:tblPr/>
              <a:tblGrid>
                <a:gridCol w="4286250">
                  <a:extLst>
                    <a:ext uri="{9D8B030D-6E8A-4147-A177-3AD203B41FA5}">
                      <a16:colId xmlns:a16="http://schemas.microsoft.com/office/drawing/2014/main" val="20000"/>
                    </a:ext>
                  </a:extLst>
                </a:gridCol>
                <a:gridCol w="6686550">
                  <a:extLst>
                    <a:ext uri="{9D8B030D-6E8A-4147-A177-3AD203B41FA5}">
                      <a16:colId xmlns:a16="http://schemas.microsoft.com/office/drawing/2014/main" val="20001"/>
                    </a:ext>
                  </a:extLst>
                </a:gridCol>
              </a:tblGrid>
              <a:tr h="766763">
                <a:tc>
                  <a:txBody>
                    <a:bodyPr/>
                    <a:lstStyle/>
                    <a:p>
                      <a:r>
                        <a:rPr sz="2100" b="1">
                          <a:solidFill>
                            <a:srgbClr val="FFFFFF"/>
                          </a:solidFill>
                          <a:latin typeface="Helvetica Neue"/>
                          <a:ea typeface="Helvetica Neue"/>
                          <a:cs typeface="Helvetica Neue"/>
                        </a:rPr>
                        <a:t>Proposed comparison</a:t>
                      </a:r>
                    </a:p>
                  </a:txBody>
                  <a:tcPr marL="152400" marR="152400" marT="133350" marB="133350">
                    <a:solidFill>
                      <a:srgbClr val="152F3C"/>
                    </a:solidFill>
                  </a:tcPr>
                </a:tc>
                <a:tc>
                  <a:txBody>
                    <a:bodyPr/>
                    <a:lstStyle/>
                    <a:p>
                      <a:r>
                        <a:rPr sz="2100" b="1">
                          <a:solidFill>
                            <a:srgbClr val="FFFFFF"/>
                          </a:solidFill>
                          <a:latin typeface="Helvetica Neue"/>
                          <a:ea typeface="Helvetica Neue"/>
                          <a:cs typeface="Helvetica Neue"/>
                        </a:rPr>
                        <a:t>Purpose</a:t>
                      </a:r>
                    </a:p>
                  </a:txBody>
                  <a:tcPr marL="152400" marR="152400" marT="133350" marB="133350">
                    <a:solidFill>
                      <a:srgbClr val="152F3C"/>
                    </a:solidFill>
                  </a:tcPr>
                </a:tc>
                <a:extLst>
                  <a:ext uri="{0D108BD9-81ED-4DB2-BD59-A6C34878D82A}">
                    <a16:rowId xmlns:a16="http://schemas.microsoft.com/office/drawing/2014/main" val="10000"/>
                  </a:ext>
                </a:extLst>
              </a:tr>
              <a:tr h="766763">
                <a:tc>
                  <a:txBody>
                    <a:bodyPr/>
                    <a:lstStyle/>
                    <a:p>
                      <a:r>
                        <a:rPr sz="2100">
                          <a:solidFill>
                            <a:srgbClr val="152F3C"/>
                          </a:solidFill>
                          <a:latin typeface="Helvetica Neue"/>
                          <a:ea typeface="Helvetica Neue"/>
                          <a:cs typeface="Helvetica Neue"/>
                        </a:rPr>
                        <a:t>Targeted outreach</a:t>
                      </a:r>
                    </a:p>
                  </a:txBody>
                  <a:tcPr marL="152400" marR="152400" marT="133350" marB="133350">
                    <a:solidFill>
                      <a:srgbClr val="F7F5F0"/>
                    </a:solidFill>
                  </a:tcPr>
                </a:tc>
                <a:tc>
                  <a:txBody>
                    <a:bodyPr/>
                    <a:lstStyle/>
                    <a:p>
                      <a:r>
                        <a:rPr sz="2100">
                          <a:solidFill>
                            <a:srgbClr val="152F3C"/>
                          </a:solidFill>
                          <a:latin typeface="Helvetica Neue"/>
                          <a:ea typeface="Helvetica Neue"/>
                          <a:cs typeface="Helvetica Neue"/>
                        </a:rPr>
                        <a:t>Assess the proposed contact policy</a:t>
                      </a:r>
                    </a:p>
                  </a:txBody>
                  <a:tcPr marL="152400" marR="152400" marT="133350" marB="133350">
                    <a:solidFill>
                      <a:srgbClr val="F7F5F0"/>
                    </a:solidFill>
                  </a:tcPr>
                </a:tc>
                <a:extLst>
                  <a:ext uri="{0D108BD9-81ED-4DB2-BD59-A6C34878D82A}">
                    <a16:rowId xmlns:a16="http://schemas.microsoft.com/office/drawing/2014/main" val="10001"/>
                  </a:ext>
                </a:extLst>
              </a:tr>
              <a:tr h="766763">
                <a:tc>
                  <a:txBody>
                    <a:bodyPr/>
                    <a:lstStyle/>
                    <a:p>
                      <a:r>
                        <a:rPr sz="2100">
                          <a:solidFill>
                            <a:srgbClr val="152F3C"/>
                          </a:solidFill>
                          <a:latin typeface="Helvetica Neue"/>
                          <a:ea typeface="Helvetica Neue"/>
                          <a:cs typeface="Helvetica Neue"/>
                        </a:rPr>
                        <a:t>Existing practice</a:t>
                      </a:r>
                    </a:p>
                  </a:txBody>
                  <a:tcPr marL="152400" marR="152400" marT="133350" marB="133350">
                    <a:solidFill>
                      <a:srgbClr val="EAF0ED"/>
                    </a:solidFill>
                  </a:tcPr>
                </a:tc>
                <a:tc>
                  <a:txBody>
                    <a:bodyPr/>
                    <a:lstStyle/>
                    <a:p>
                      <a:r>
                        <a:rPr sz="2100">
                          <a:solidFill>
                            <a:srgbClr val="152F3C"/>
                          </a:solidFill>
                          <a:latin typeface="Helvetica Neue"/>
                          <a:ea typeface="Helvetica Neue"/>
                          <a:cs typeface="Helvetica Neue"/>
                        </a:rPr>
                        <a:t>Compare outcomes at equal contact budgets</a:t>
                      </a:r>
                    </a:p>
                  </a:txBody>
                  <a:tcPr marL="152400" marR="152400" marT="133350" marB="133350">
                    <a:solidFill>
                      <a:srgbClr val="EAF0ED"/>
                    </a:solidFill>
                  </a:tcPr>
                </a:tc>
                <a:extLst>
                  <a:ext uri="{0D108BD9-81ED-4DB2-BD59-A6C34878D82A}">
                    <a16:rowId xmlns:a16="http://schemas.microsoft.com/office/drawing/2014/main" val="10002"/>
                  </a:ext>
                </a:extLst>
              </a:tr>
              <a:tr h="766763">
                <a:tc>
                  <a:txBody>
                    <a:bodyPr/>
                    <a:lstStyle/>
                    <a:p>
                      <a:r>
                        <a:rPr sz="2100">
                          <a:solidFill>
                            <a:srgbClr val="152F3C"/>
                          </a:solidFill>
                          <a:latin typeface="Helvetica Neue"/>
                          <a:ea typeface="Helvetica Neue"/>
                          <a:cs typeface="Helvetica Neue"/>
                        </a:rPr>
                        <a:t>Random no-contact group</a:t>
                      </a:r>
                    </a:p>
                  </a:txBody>
                  <a:tcPr marL="152400" marR="152400" marT="133350" marB="133350">
                    <a:solidFill>
                      <a:srgbClr val="F7F5F0"/>
                    </a:solidFill>
                  </a:tcPr>
                </a:tc>
                <a:tc>
                  <a:txBody>
                    <a:bodyPr/>
                    <a:lstStyle/>
                    <a:p>
                      <a:r>
                        <a:rPr sz="2100">
                          <a:solidFill>
                            <a:srgbClr val="152F3C"/>
                          </a:solidFill>
                          <a:latin typeface="Helvetica Neue"/>
                          <a:ea typeface="Helvetica Neue"/>
                          <a:cs typeface="Helvetica Neue"/>
                        </a:rPr>
                        <a:t>Estimate what happens without outreach</a:t>
                      </a:r>
                    </a:p>
                  </a:txBody>
                  <a:tcPr marL="152400" marR="152400" marT="133350" marB="133350">
                    <a:solidFill>
                      <a:srgbClr val="F7F5F0"/>
                    </a:solidFill>
                  </a:tcPr>
                </a:tc>
                <a:extLst>
                  <a:ext uri="{0D108BD9-81ED-4DB2-BD59-A6C34878D82A}">
                    <a16:rowId xmlns:a16="http://schemas.microsoft.com/office/drawing/2014/main" val="10003"/>
                  </a:ext>
                </a:extLst>
              </a:tr>
            </a:tbl>
          </a:graphicData>
        </a:graphic>
      </p:graphicFrame>
      <p:sp>
        <p:nvSpPr>
          <p:cNvPr id="6" name="Rectangle 5">
            <a:extLst>
              <a:ext uri="{FF2B5EF4-FFF2-40B4-BE49-F238E27FC236}">
                <a16:creationId xmlns:a16="http://schemas.microsoft.com/office/drawing/2014/main" id="{8935018F-61A6-4A57-B74E-743E17BC1811}"/>
              </a:ext>
            </a:extLst>
          </p:cNvPr>
          <p:cNvSpPr>
            <a:spLocks noGrp="1"/>
          </p:cNvSpPr>
          <p:nvPr/>
        </p:nvSpPr>
        <p:spPr>
          <a:xfrm>
            <a:off x="609600" y="5534025"/>
            <a:ext cx="10972800" cy="590550"/>
          </a:xfrm>
          <a:prstGeom prst="rect">
            <a:avLst/>
          </a:prstGeom>
          <a:noFill/>
          <a:ln w="0">
            <a:noFill/>
          </a:ln>
        </p:spPr>
        <p:txBody>
          <a:bodyPr wrap="square" lIns="0" tIns="0" rIns="0" bIns="0" anchor="t">
            <a:noAutofit/>
          </a:bodyPr>
          <a:lstStyle/>
          <a:p>
            <a:pPr>
              <a:defRPr sz="1800" b="0">
                <a:solidFill>
                  <a:srgbClr val="566973"/>
                </a:solidFill>
                <a:latin typeface="Helvetica Neue"/>
                <a:ea typeface="Helvetica Neue"/>
                <a:cs typeface="Helvetica Neue"/>
              </a:defRPr>
            </a:pPr>
            <a:r>
              <a:rPr sz="1800" b="0">
                <a:solidFill>
                  <a:srgbClr val="566973"/>
                </a:solidFill>
                <a:latin typeface="Helvetica Neue"/>
                <a:ea typeface="Helvetica Neue"/>
                <a:cs typeface="Helvetica Neue"/>
              </a:rPr>
              <a:t>Agree sample size and stopping rules. Measure contribution, complaints and group access.</a:t>
            </a:r>
          </a:p>
        </p:txBody>
      </p:sp>
    </p:spTree>
    <p:extLst>
      <p:ext uri="{BB962C8B-B14F-4D97-AF65-F5344CB8AC3E}">
        <p14:creationId xmlns:p14="http://schemas.microsoft.com/office/powerpoint/2010/main" val="10838221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91581585-CBDC-461C-ADBA-572D8F0759A7}"/>
              </a:ext>
            </a:extLst>
          </p:cNvPr>
          <p:cNvSpPr>
            <a:spLocks noGrp="1"/>
          </p:cNvSpPr>
          <p:nvPr/>
        </p:nvSpPr>
        <p:spPr>
          <a:xfrm>
            <a:off x="609600" y="304800"/>
            <a:ext cx="10477500" cy="266700"/>
          </a:xfrm>
          <a:prstGeom prst="rect">
            <a:avLst/>
          </a:prstGeom>
          <a:noFill/>
          <a:ln w="0">
            <a:noFill/>
          </a:ln>
        </p:spPr>
        <p:txBody>
          <a:bodyPr wrap="square" lIns="0" tIns="0" rIns="0" bIns="0" anchor="t">
            <a:noAutofit/>
          </a:bodyPr>
          <a:lstStyle/>
          <a:p>
            <a:pPr>
              <a:defRPr sz="1350" b="1">
                <a:solidFill>
                  <a:srgbClr val="267D88"/>
                </a:solidFill>
                <a:latin typeface="Helvetica Neue"/>
                <a:ea typeface="Helvetica Neue"/>
                <a:cs typeface="Helvetica Neue"/>
              </a:defRPr>
            </a:pPr>
            <a:r>
              <a:rPr sz="1350" b="1">
                <a:solidFill>
                  <a:srgbClr val="267D88"/>
                </a:solidFill>
                <a:latin typeface="Helvetica Neue"/>
                <a:ea typeface="Helvetica Neue"/>
                <a:cs typeface="Helvetica Neue"/>
              </a:rPr>
              <a:t>10 / BUSINESS PERSPECTIVE</a:t>
            </a:r>
          </a:p>
        </p:txBody>
      </p:sp>
      <p:sp>
        <p:nvSpPr>
          <p:cNvPr id="2" name="Rectangle 1">
            <a:extLst>
              <a:ext uri="{FF2B5EF4-FFF2-40B4-BE49-F238E27FC236}">
                <a16:creationId xmlns:a16="http://schemas.microsoft.com/office/drawing/2014/main" id="{E095F42F-FA95-420F-957E-6389F0463642}"/>
              </a:ext>
            </a:extLst>
          </p:cNvPr>
          <p:cNvSpPr>
            <a:spLocks noGrp="1"/>
          </p:cNvSpPr>
          <p:nvPr/>
        </p:nvSpPr>
        <p:spPr>
          <a:xfrm>
            <a:off x="609600" y="742950"/>
            <a:ext cx="10972800" cy="1028700"/>
          </a:xfrm>
          <a:prstGeom prst="rect">
            <a:avLst/>
          </a:prstGeom>
          <a:noFill/>
          <a:ln w="0">
            <a:noFill/>
          </a:ln>
        </p:spPr>
        <p:txBody>
          <a:bodyPr wrap="square" lIns="0" tIns="0" rIns="0" bIns="0" anchor="t">
            <a:noAutofit/>
          </a:bodyPr>
          <a:lstStyle/>
          <a:p>
            <a:pPr>
              <a:defRPr sz="3300" b="1">
                <a:solidFill>
                  <a:srgbClr val="152F3C"/>
                </a:solidFill>
                <a:latin typeface="Helvetica Neue"/>
                <a:ea typeface="Helvetica Neue"/>
                <a:cs typeface="Helvetica Neue"/>
              </a:defRPr>
            </a:pPr>
            <a:r>
              <a:rPr sz="3300" b="1">
                <a:solidFill>
                  <a:srgbClr val="152F3C"/>
                </a:solidFill>
                <a:latin typeface="Helvetica Neue"/>
                <a:ea typeface="Helvetica Neue"/>
                <a:cs typeface="Helvetica Neue"/>
              </a:rPr>
              <a:t>The recommendation is pilot preparation</a:t>
            </a:r>
          </a:p>
        </p:txBody>
      </p:sp>
      <p:sp>
        <p:nvSpPr>
          <p:cNvPr id="3" name="Rectangle 2">
            <a:extLst>
              <a:ext uri="{FF2B5EF4-FFF2-40B4-BE49-F238E27FC236}">
                <a16:creationId xmlns:a16="http://schemas.microsoft.com/office/drawing/2014/main" id="{74B33A73-7311-43DF-A9E8-53B0F1B51BEF}"/>
              </a:ext>
            </a:extLst>
          </p:cNvPr>
          <p:cNvSpPr>
            <a:spLocks noGrp="1"/>
          </p:cNvSpPr>
          <p:nvPr/>
        </p:nvSpPr>
        <p:spPr>
          <a:xfrm>
            <a:off x="609600" y="6419850"/>
            <a:ext cx="7048500" cy="228600"/>
          </a:xfrm>
          <a:prstGeom prst="rect">
            <a:avLst/>
          </a:prstGeom>
          <a:noFill/>
          <a:ln w="0">
            <a:noFill/>
          </a:ln>
        </p:spPr>
        <p:txBody>
          <a:bodyPr wrap="square" lIns="0" tIns="0" rIns="0" bIns="0" anchor="t">
            <a:noAutofit/>
          </a:bodyPr>
          <a:lstStyle/>
          <a:p>
            <a:pPr>
              <a:defRPr sz="1125" b="0">
                <a:solidFill>
                  <a:srgbClr val="566973"/>
                </a:solidFill>
                <a:latin typeface="Helvetica Neue"/>
                <a:ea typeface="Helvetica Neue"/>
                <a:cs typeface="Helvetica Neue"/>
              </a:defRPr>
            </a:pPr>
            <a:r>
              <a:rPr sz="1125" b="0">
                <a:solidFill>
                  <a:srgbClr val="566973"/>
                </a:solidFill>
                <a:latin typeface="Helvetica Neue"/>
                <a:ea typeface="Helvetica Neue"/>
                <a:cs typeface="Helvetica Neue"/>
              </a:rPr>
              <a:t>CUSTOMER CAMPAIGN ANALYSIS</a:t>
            </a:r>
          </a:p>
        </p:txBody>
      </p:sp>
      <p:sp>
        <p:nvSpPr>
          <p:cNvPr id="4" name="Rectangle 3">
            <a:extLst>
              <a:ext uri="{FF2B5EF4-FFF2-40B4-BE49-F238E27FC236}">
                <a16:creationId xmlns:a16="http://schemas.microsoft.com/office/drawing/2014/main" id="{E85C522B-6379-45BC-B2E1-096A8E946326}"/>
              </a:ext>
            </a:extLst>
          </p:cNvPr>
          <p:cNvSpPr>
            <a:spLocks noGrp="1"/>
          </p:cNvSpPr>
          <p:nvPr/>
        </p:nvSpPr>
        <p:spPr>
          <a:xfrm>
            <a:off x="11049000" y="6419850"/>
            <a:ext cx="533400" cy="228600"/>
          </a:xfrm>
          <a:prstGeom prst="rect">
            <a:avLst/>
          </a:prstGeom>
          <a:noFill/>
          <a:ln w="0">
            <a:noFill/>
          </a:ln>
        </p:spPr>
        <p:txBody>
          <a:bodyPr wrap="square" lIns="0" tIns="0" rIns="0" bIns="0" anchor="t">
            <a:noAutofit/>
          </a:bodyPr>
          <a:lstStyle/>
          <a:p>
            <a:pPr>
              <a:defRPr sz="1200" b="0">
                <a:solidFill>
                  <a:srgbClr val="566973"/>
                </a:solidFill>
                <a:latin typeface="Helvetica Neue"/>
                <a:ea typeface="Helvetica Neue"/>
                <a:cs typeface="Helvetica Neue"/>
              </a:defRPr>
            </a:pPr>
            <a:r>
              <a:rPr sz="1200" b="0">
                <a:solidFill>
                  <a:srgbClr val="566973"/>
                </a:solidFill>
                <a:latin typeface="Helvetica Neue"/>
                <a:ea typeface="Helvetica Neue"/>
                <a:cs typeface="Helvetica Neue"/>
              </a:rPr>
              <a:t>10</a:t>
            </a:r>
          </a:p>
        </p:txBody>
      </p:sp>
      <p:sp>
        <p:nvSpPr>
          <p:cNvPr id="5" name="Rectangle 4">
            <a:extLst>
              <a:ext uri="{FF2B5EF4-FFF2-40B4-BE49-F238E27FC236}">
                <a16:creationId xmlns:a16="http://schemas.microsoft.com/office/drawing/2014/main" id="{C73D005F-C3D0-4EE0-8903-F0493F2F9FE9}"/>
              </a:ext>
            </a:extLst>
          </p:cNvPr>
          <p:cNvSpPr>
            <a:spLocks noGrp="1"/>
          </p:cNvSpPr>
          <p:nvPr/>
        </p:nvSpPr>
        <p:spPr>
          <a:xfrm>
            <a:off x="609600" y="2009775"/>
            <a:ext cx="10763250" cy="809625"/>
          </a:xfrm>
          <a:prstGeom prst="rect">
            <a:avLst/>
          </a:prstGeom>
          <a:noFill/>
          <a:ln w="0">
            <a:noFill/>
          </a:ln>
        </p:spPr>
        <p:txBody>
          <a:bodyPr wrap="square" lIns="0" tIns="0" rIns="0" bIns="0" anchor="t">
            <a:noAutofit/>
          </a:bodyPr>
          <a:lstStyle/>
          <a:p>
            <a:pPr>
              <a:defRPr sz="4875" b="1">
                <a:solidFill>
                  <a:srgbClr val="267D88"/>
                </a:solidFill>
                <a:latin typeface="Helvetica Neue"/>
                <a:ea typeface="Helvetica Neue"/>
                <a:cs typeface="Helvetica Neue"/>
              </a:defRPr>
            </a:pPr>
            <a:r>
              <a:rPr sz="4875" b="1">
                <a:solidFill>
                  <a:srgbClr val="267D88"/>
                </a:solidFill>
                <a:latin typeface="Helvetica Neue"/>
                <a:ea typeface="Helvetica Neue"/>
                <a:cs typeface="Helvetica Neue"/>
              </a:rPr>
              <a:t>Pilot preparation</a:t>
            </a:r>
          </a:p>
        </p:txBody>
      </p:sp>
      <p:sp>
        <p:nvSpPr>
          <p:cNvPr id="6" name="Rectangle 5">
            <a:extLst>
              <a:ext uri="{FF2B5EF4-FFF2-40B4-BE49-F238E27FC236}">
                <a16:creationId xmlns:a16="http://schemas.microsoft.com/office/drawing/2014/main" id="{B7F35A8E-05F7-4DA3-BCC3-A390644A9895}"/>
              </a:ext>
            </a:extLst>
          </p:cNvPr>
          <p:cNvSpPr>
            <a:spLocks noGrp="1"/>
          </p:cNvSpPr>
          <p:nvPr/>
        </p:nvSpPr>
        <p:spPr>
          <a:xfrm>
            <a:off x="609600" y="3171825"/>
            <a:ext cx="590550" cy="400050"/>
          </a:xfrm>
          <a:prstGeom prst="rect">
            <a:avLst/>
          </a:prstGeom>
          <a:noFill/>
          <a:ln w="0">
            <a:noFill/>
          </a:ln>
        </p:spPr>
        <p:txBody>
          <a:bodyPr wrap="square" lIns="0" tIns="0" rIns="0" bIns="0" anchor="t">
            <a:noAutofit/>
          </a:bodyPr>
          <a:lstStyle/>
          <a:p>
            <a:pPr>
              <a:defRPr sz="2400" b="1">
                <a:solidFill>
                  <a:srgbClr val="267D88"/>
                </a:solidFill>
                <a:latin typeface="Helvetica Neue"/>
                <a:ea typeface="Helvetica Neue"/>
                <a:cs typeface="Helvetica Neue"/>
              </a:defRPr>
            </a:pPr>
            <a:r>
              <a:rPr sz="2400" b="1">
                <a:solidFill>
                  <a:srgbClr val="267D88"/>
                </a:solidFill>
                <a:latin typeface="Helvetica Neue"/>
                <a:ea typeface="Helvetica Neue"/>
                <a:cs typeface="Helvetica Neue"/>
              </a:rPr>
              <a:t>01</a:t>
            </a:r>
          </a:p>
        </p:txBody>
      </p:sp>
      <p:sp>
        <p:nvSpPr>
          <p:cNvPr id="7" name="Rectangle 6">
            <a:extLst>
              <a:ext uri="{FF2B5EF4-FFF2-40B4-BE49-F238E27FC236}">
                <a16:creationId xmlns:a16="http://schemas.microsoft.com/office/drawing/2014/main" id="{1DE25C1E-470E-4F19-8DCD-23B7D0630250}"/>
              </a:ext>
            </a:extLst>
          </p:cNvPr>
          <p:cNvSpPr>
            <a:spLocks noGrp="1"/>
          </p:cNvSpPr>
          <p:nvPr/>
        </p:nvSpPr>
        <p:spPr>
          <a:xfrm>
            <a:off x="1419225" y="3171825"/>
            <a:ext cx="10163175" cy="685800"/>
          </a:xfrm>
          <a:prstGeom prst="rect">
            <a:avLst/>
          </a:prstGeom>
          <a:noFill/>
          <a:ln w="0">
            <a:noFill/>
          </a:ln>
        </p:spPr>
        <p:txBody>
          <a:bodyPr wrap="square" lIns="0" tIns="0" rIns="0" bIns="0" anchor="t">
            <a:noAutofit/>
          </a:bodyPr>
          <a:lstStyle/>
          <a:p>
            <a:pPr>
              <a:defRPr sz="2175" b="0">
                <a:solidFill>
                  <a:srgbClr val="152F3C"/>
                </a:solidFill>
                <a:latin typeface="Helvetica Neue"/>
                <a:ea typeface="Helvetica Neue"/>
                <a:cs typeface="Helvetica Neue"/>
              </a:defRPr>
            </a:pPr>
            <a:r>
              <a:rPr sz="2175" b="0">
                <a:solidFill>
                  <a:srgbClr val="152F3C"/>
                </a:solidFill>
                <a:latin typeface="Helvetica Neue"/>
                <a:ea typeface="Helvetica Neue"/>
                <a:cs typeface="Helvetica Neue"/>
              </a:rPr>
              <a:t>Confirm campaign-time data and financial assumptions</a:t>
            </a:r>
          </a:p>
        </p:txBody>
      </p:sp>
      <p:sp>
        <p:nvSpPr>
          <p:cNvPr id="8" name="Rectangle 7">
            <a:extLst>
              <a:ext uri="{FF2B5EF4-FFF2-40B4-BE49-F238E27FC236}">
                <a16:creationId xmlns:a16="http://schemas.microsoft.com/office/drawing/2014/main" id="{7C3849BE-12CA-48FF-A7CA-2FD4AE1ED6B5}"/>
              </a:ext>
            </a:extLst>
          </p:cNvPr>
          <p:cNvSpPr>
            <a:spLocks noGrp="1"/>
          </p:cNvSpPr>
          <p:nvPr/>
        </p:nvSpPr>
        <p:spPr>
          <a:xfrm>
            <a:off x="609600" y="3971925"/>
            <a:ext cx="590550" cy="400050"/>
          </a:xfrm>
          <a:prstGeom prst="rect">
            <a:avLst/>
          </a:prstGeom>
          <a:noFill/>
          <a:ln w="0">
            <a:noFill/>
          </a:ln>
        </p:spPr>
        <p:txBody>
          <a:bodyPr wrap="square" lIns="0" tIns="0" rIns="0" bIns="0" anchor="t">
            <a:noAutofit/>
          </a:bodyPr>
          <a:lstStyle/>
          <a:p>
            <a:pPr>
              <a:defRPr sz="2400" b="1">
                <a:solidFill>
                  <a:srgbClr val="267D88"/>
                </a:solidFill>
                <a:latin typeface="Helvetica Neue"/>
                <a:ea typeface="Helvetica Neue"/>
                <a:cs typeface="Helvetica Neue"/>
              </a:defRPr>
            </a:pPr>
            <a:r>
              <a:rPr sz="2400" b="1">
                <a:solidFill>
                  <a:srgbClr val="267D88"/>
                </a:solidFill>
                <a:latin typeface="Helvetica Neue"/>
                <a:ea typeface="Helvetica Neue"/>
                <a:cs typeface="Helvetica Neue"/>
              </a:rPr>
              <a:t>02</a:t>
            </a:r>
          </a:p>
        </p:txBody>
      </p:sp>
      <p:sp>
        <p:nvSpPr>
          <p:cNvPr id="9" name="Rectangle 8">
            <a:extLst>
              <a:ext uri="{FF2B5EF4-FFF2-40B4-BE49-F238E27FC236}">
                <a16:creationId xmlns:a16="http://schemas.microsoft.com/office/drawing/2014/main" id="{7001C6E3-934D-469E-88EA-340613E858A9}"/>
              </a:ext>
            </a:extLst>
          </p:cNvPr>
          <p:cNvSpPr>
            <a:spLocks noGrp="1"/>
          </p:cNvSpPr>
          <p:nvPr/>
        </p:nvSpPr>
        <p:spPr>
          <a:xfrm>
            <a:off x="1419225" y="3971925"/>
            <a:ext cx="10163175" cy="685800"/>
          </a:xfrm>
          <a:prstGeom prst="rect">
            <a:avLst/>
          </a:prstGeom>
          <a:noFill/>
          <a:ln w="0">
            <a:noFill/>
          </a:ln>
        </p:spPr>
        <p:txBody>
          <a:bodyPr wrap="square" lIns="0" tIns="0" rIns="0" bIns="0" anchor="t">
            <a:noAutofit/>
          </a:bodyPr>
          <a:lstStyle/>
          <a:p>
            <a:pPr>
              <a:defRPr sz="2175" b="0">
                <a:solidFill>
                  <a:srgbClr val="152F3C"/>
                </a:solidFill>
                <a:latin typeface="Helvetica Neue"/>
                <a:ea typeface="Helvetica Neue"/>
                <a:cs typeface="Helvetica Neue"/>
              </a:defRPr>
            </a:pPr>
            <a:r>
              <a:rPr sz="2175" b="0">
                <a:solidFill>
                  <a:srgbClr val="152F3C"/>
                </a:solidFill>
                <a:latin typeface="Helvetica Neue"/>
                <a:ea typeface="Helvetica Neue"/>
                <a:cs typeface="Helvetica Neue"/>
              </a:rPr>
              <a:t>Agree acceptable access and complaint outcomes</a:t>
            </a:r>
          </a:p>
        </p:txBody>
      </p:sp>
      <p:sp>
        <p:nvSpPr>
          <p:cNvPr id="10" name="Rectangle 9">
            <a:extLst>
              <a:ext uri="{FF2B5EF4-FFF2-40B4-BE49-F238E27FC236}">
                <a16:creationId xmlns:a16="http://schemas.microsoft.com/office/drawing/2014/main" id="{F930E643-5A2B-4859-A6BF-EECC8F7968D7}"/>
              </a:ext>
            </a:extLst>
          </p:cNvPr>
          <p:cNvSpPr>
            <a:spLocks noGrp="1"/>
          </p:cNvSpPr>
          <p:nvPr/>
        </p:nvSpPr>
        <p:spPr>
          <a:xfrm>
            <a:off x="609600" y="4772025"/>
            <a:ext cx="590550" cy="400050"/>
          </a:xfrm>
          <a:prstGeom prst="rect">
            <a:avLst/>
          </a:prstGeom>
          <a:noFill/>
          <a:ln w="0">
            <a:noFill/>
          </a:ln>
        </p:spPr>
        <p:txBody>
          <a:bodyPr wrap="square" lIns="0" tIns="0" rIns="0" bIns="0" anchor="t">
            <a:noAutofit/>
          </a:bodyPr>
          <a:lstStyle/>
          <a:p>
            <a:pPr>
              <a:defRPr sz="2400" b="1">
                <a:solidFill>
                  <a:srgbClr val="267D88"/>
                </a:solidFill>
                <a:latin typeface="Helvetica Neue"/>
                <a:ea typeface="Helvetica Neue"/>
                <a:cs typeface="Helvetica Neue"/>
              </a:defRPr>
            </a:pPr>
            <a:r>
              <a:rPr sz="2400" b="1">
                <a:solidFill>
                  <a:srgbClr val="267D88"/>
                </a:solidFill>
                <a:latin typeface="Helvetica Neue"/>
                <a:ea typeface="Helvetica Neue"/>
                <a:cs typeface="Helvetica Neue"/>
              </a:rPr>
              <a:t>03</a:t>
            </a:r>
          </a:p>
        </p:txBody>
      </p:sp>
      <p:sp>
        <p:nvSpPr>
          <p:cNvPr id="11" name="Rectangle 10">
            <a:extLst>
              <a:ext uri="{FF2B5EF4-FFF2-40B4-BE49-F238E27FC236}">
                <a16:creationId xmlns:a16="http://schemas.microsoft.com/office/drawing/2014/main" id="{6D7DDB73-872E-4CDE-BC16-C2250132B01D}"/>
              </a:ext>
            </a:extLst>
          </p:cNvPr>
          <p:cNvSpPr>
            <a:spLocks noGrp="1"/>
          </p:cNvSpPr>
          <p:nvPr/>
        </p:nvSpPr>
        <p:spPr>
          <a:xfrm>
            <a:off x="1419225" y="4772025"/>
            <a:ext cx="10163175" cy="685800"/>
          </a:xfrm>
          <a:prstGeom prst="rect">
            <a:avLst/>
          </a:prstGeom>
          <a:noFill/>
          <a:ln w="0">
            <a:noFill/>
          </a:ln>
        </p:spPr>
        <p:txBody>
          <a:bodyPr wrap="square" lIns="0" tIns="0" rIns="0" bIns="0" anchor="t">
            <a:noAutofit/>
          </a:bodyPr>
          <a:lstStyle/>
          <a:p>
            <a:pPr>
              <a:defRPr sz="2175" b="0">
                <a:solidFill>
                  <a:srgbClr val="152F3C"/>
                </a:solidFill>
                <a:latin typeface="Helvetica Neue"/>
                <a:ea typeface="Helvetica Neue"/>
                <a:cs typeface="Helvetica Neue"/>
              </a:defRPr>
            </a:pPr>
            <a:r>
              <a:rPr sz="2175" b="0">
                <a:solidFill>
                  <a:srgbClr val="152F3C"/>
                </a:solidFill>
                <a:latin typeface="Helvetica Neue"/>
                <a:ea typeface="Helvetica Neue"/>
                <a:cs typeface="Helvetica Neue"/>
              </a:rPr>
              <a:t>Prepare the limited randomised pilot</a:t>
            </a:r>
          </a:p>
        </p:txBody>
      </p:sp>
      <p:sp>
        <p:nvSpPr>
          <p:cNvPr id="12" name="Rectangle 11">
            <a:extLst>
              <a:ext uri="{FF2B5EF4-FFF2-40B4-BE49-F238E27FC236}">
                <a16:creationId xmlns:a16="http://schemas.microsoft.com/office/drawing/2014/main" id="{CDAA361F-0D58-43EA-8F70-9CCD3527B9D6}"/>
              </a:ext>
            </a:extLst>
          </p:cNvPr>
          <p:cNvSpPr>
            <a:spLocks noGrp="1"/>
          </p:cNvSpPr>
          <p:nvPr/>
        </p:nvSpPr>
        <p:spPr>
          <a:xfrm>
            <a:off x="609600" y="5857875"/>
            <a:ext cx="10972800" cy="590550"/>
          </a:xfrm>
          <a:prstGeom prst="rect">
            <a:avLst/>
          </a:prstGeom>
          <a:noFill/>
          <a:ln w="0">
            <a:noFill/>
          </a:ln>
        </p:spPr>
        <p:txBody>
          <a:bodyPr wrap="square" lIns="0" tIns="0" rIns="0" bIns="0" anchor="t">
            <a:noAutofit/>
          </a:bodyPr>
          <a:lstStyle/>
          <a:p>
            <a:pPr>
              <a:defRPr sz="1800" b="0">
                <a:solidFill>
                  <a:srgbClr val="566973"/>
                </a:solidFill>
                <a:latin typeface="Helvetica Neue"/>
                <a:ea typeface="Helvetica Neue"/>
                <a:cs typeface="Helvetica Neue"/>
              </a:defRPr>
            </a:pPr>
            <a:r>
              <a:rPr sz="1800" b="0">
                <a:solidFill>
                  <a:srgbClr val="566973"/>
                </a:solidFill>
                <a:latin typeface="Helvetica Neue"/>
                <a:ea typeface="Helvetica Neue"/>
                <a:cs typeface="Helvetica Neue"/>
              </a:rPr>
              <a:t>Expansion depends on measured incremental value and acceptable group outcomes.</a:t>
            </a:r>
          </a:p>
        </p:txBody>
      </p:sp>
    </p:spTree>
    <p:extLst>
      <p:ext uri="{BB962C8B-B14F-4D97-AF65-F5344CB8AC3E}">
        <p14:creationId xmlns:p14="http://schemas.microsoft.com/office/powerpoint/2010/main" val="153298003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1757</Words>
  <Application>Microsoft Macintosh PowerPoint</Application>
  <DocSecurity>0</DocSecurity>
  <PresentationFormat>Widescreen</PresentationFormat>
  <Paragraphs>189</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Calibri</vt:lpstr>
      <vt:lpstr>Helvetica Neue</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Charles Leo Ng</cp:lastModifiedBy>
  <cp:revision>1</cp:revision>
  <dcterms:created xsi:type="dcterms:W3CDTF">2026-09-20T10:09:35Z</dcterms:created>
  <dcterms:modified xsi:type="dcterms:W3CDTF">2026-09-22T13:00:19Z</dcterms:modified>
</cp:coreProperties>
</file>